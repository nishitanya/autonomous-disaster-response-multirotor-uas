
<file path=[Content_Types].xml><?xml version="1.0" encoding="utf-8"?>
<Types xmlns="http://schemas.openxmlformats.org/package/2006/content-types">
  <Default Extension="glb" ContentType="model/gltf.binary"/>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Lst>
  <p:notesMasterIdLst>
    <p:notesMasterId r:id="rId26"/>
  </p:notesMasterIdLst>
  <p:handoutMasterIdLst>
    <p:handoutMasterId r:id="rId27"/>
  </p:handoutMasterIdLst>
  <p:sldIdLst>
    <p:sldId id="256" r:id="rId5"/>
    <p:sldId id="257" r:id="rId6"/>
    <p:sldId id="262" r:id="rId7"/>
    <p:sldId id="261" r:id="rId8"/>
    <p:sldId id="259" r:id="rId9"/>
    <p:sldId id="260" r:id="rId10"/>
    <p:sldId id="263" r:id="rId11"/>
    <p:sldId id="264" r:id="rId12"/>
    <p:sldId id="265" r:id="rId13"/>
    <p:sldId id="267" r:id="rId14"/>
    <p:sldId id="266" r:id="rId15"/>
    <p:sldId id="268" r:id="rId16"/>
    <p:sldId id="276" r:id="rId17"/>
    <p:sldId id="269" r:id="rId18"/>
    <p:sldId id="275" r:id="rId19"/>
    <p:sldId id="271" r:id="rId20"/>
    <p:sldId id="277" r:id="rId21"/>
    <p:sldId id="272" r:id="rId22"/>
    <p:sldId id="270" r:id="rId23"/>
    <p:sldId id="273" r:id="rId24"/>
    <p:sldId id="274"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48" autoAdjust="0"/>
  </p:normalViewPr>
  <p:slideViewPr>
    <p:cSldViewPr snapToGrid="0">
      <p:cViewPr>
        <p:scale>
          <a:sx n="69" d="100"/>
          <a:sy n="69" d="100"/>
        </p:scale>
        <p:origin x="1234" y="360"/>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EF30586-7246-46BB-821D-0D2BFA50C3BC}"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AC576EF0-1A37-46B5-AFE5-244ED366D2C6}">
      <dgm:prSet phldrT="[Text]"/>
      <dgm:spPr/>
      <dgm:t>
        <a:bodyPr/>
        <a:lstStyle/>
        <a:p>
          <a:r>
            <a:rPr lang="en-US" dirty="0"/>
            <a:t>Mechanical System</a:t>
          </a:r>
        </a:p>
      </dgm:t>
    </dgm:pt>
    <dgm:pt modelId="{90C41D17-CCF6-4FAE-AF97-809AA2EC5BEF}" type="parTrans" cxnId="{0B22005D-2290-434A-A095-73D2A04156E4}">
      <dgm:prSet/>
      <dgm:spPr/>
      <dgm:t>
        <a:bodyPr/>
        <a:lstStyle/>
        <a:p>
          <a:endParaRPr lang="en-US"/>
        </a:p>
      </dgm:t>
    </dgm:pt>
    <dgm:pt modelId="{F2EB9A3F-C38A-4DE8-921E-CFB3A06F7E72}" type="sibTrans" cxnId="{0B22005D-2290-434A-A095-73D2A04156E4}">
      <dgm:prSet/>
      <dgm:spPr/>
      <dgm:t>
        <a:bodyPr/>
        <a:lstStyle/>
        <a:p>
          <a:endParaRPr lang="en-US"/>
        </a:p>
      </dgm:t>
    </dgm:pt>
    <dgm:pt modelId="{6001C27F-D53F-4942-B74E-F61FF5B2B994}">
      <dgm:prSet phldrT="[Text]"/>
      <dgm:spPr/>
      <dgm:t>
        <a:bodyPr/>
        <a:lstStyle/>
        <a:p>
          <a:r>
            <a:rPr lang="en-US" dirty="0"/>
            <a:t>Electronics System</a:t>
          </a:r>
        </a:p>
      </dgm:t>
    </dgm:pt>
    <dgm:pt modelId="{0D7467BE-2B25-4E5E-8DBD-E3BA12F6EE73}" type="parTrans" cxnId="{730501B7-A13F-45EA-8077-ABFE99011C4D}">
      <dgm:prSet/>
      <dgm:spPr/>
      <dgm:t>
        <a:bodyPr/>
        <a:lstStyle/>
        <a:p>
          <a:endParaRPr lang="en-US"/>
        </a:p>
      </dgm:t>
    </dgm:pt>
    <dgm:pt modelId="{96615C0E-C561-4C15-B91D-C5C772157DF3}" type="sibTrans" cxnId="{730501B7-A13F-45EA-8077-ABFE99011C4D}">
      <dgm:prSet/>
      <dgm:spPr/>
      <dgm:t>
        <a:bodyPr/>
        <a:lstStyle/>
        <a:p>
          <a:endParaRPr lang="en-US"/>
        </a:p>
      </dgm:t>
    </dgm:pt>
    <dgm:pt modelId="{850A8520-886E-493C-BF29-8D571B66270A}">
      <dgm:prSet phldrT="[Text]"/>
      <dgm:spPr/>
      <dgm:t>
        <a:bodyPr/>
        <a:lstStyle/>
        <a:p>
          <a:r>
            <a:rPr lang="en-US" dirty="0"/>
            <a:t>Autonomous System</a:t>
          </a:r>
        </a:p>
      </dgm:t>
    </dgm:pt>
    <dgm:pt modelId="{7407A616-08AE-4FAC-8DBD-BDCA60E9AB81}" type="parTrans" cxnId="{2809F861-F5A1-456A-8153-A0F03935841C}">
      <dgm:prSet/>
      <dgm:spPr/>
      <dgm:t>
        <a:bodyPr/>
        <a:lstStyle/>
        <a:p>
          <a:endParaRPr lang="en-US"/>
        </a:p>
      </dgm:t>
    </dgm:pt>
    <dgm:pt modelId="{9B4E80F9-D938-4FD6-89F4-3B0F3F026A19}" type="sibTrans" cxnId="{2809F861-F5A1-456A-8153-A0F03935841C}">
      <dgm:prSet/>
      <dgm:spPr/>
      <dgm:t>
        <a:bodyPr/>
        <a:lstStyle/>
        <a:p>
          <a:endParaRPr lang="en-US"/>
        </a:p>
      </dgm:t>
    </dgm:pt>
    <dgm:pt modelId="{28CE7FEE-673E-4EEB-9BB7-AA0BA53BC189}" type="pres">
      <dgm:prSet presAssocID="{0EF30586-7246-46BB-821D-0D2BFA50C3BC}" presName="Name0" presStyleCnt="0">
        <dgm:presLayoutVars>
          <dgm:chMax val="7"/>
          <dgm:chPref val="7"/>
          <dgm:dir/>
        </dgm:presLayoutVars>
      </dgm:prSet>
      <dgm:spPr/>
    </dgm:pt>
    <dgm:pt modelId="{A1CAE91B-0C38-4EED-A5ED-A18A431DFE2B}" type="pres">
      <dgm:prSet presAssocID="{0EF30586-7246-46BB-821D-0D2BFA50C3BC}" presName="Name1" presStyleCnt="0"/>
      <dgm:spPr/>
    </dgm:pt>
    <dgm:pt modelId="{CB5E0D82-3A99-473B-9365-D3DA2BDBFC95}" type="pres">
      <dgm:prSet presAssocID="{0EF30586-7246-46BB-821D-0D2BFA50C3BC}" presName="cycle" presStyleCnt="0"/>
      <dgm:spPr/>
    </dgm:pt>
    <dgm:pt modelId="{0AD01F05-8D42-48E9-A94B-AA481FD7BDCF}" type="pres">
      <dgm:prSet presAssocID="{0EF30586-7246-46BB-821D-0D2BFA50C3BC}" presName="srcNode" presStyleLbl="node1" presStyleIdx="0" presStyleCnt="3"/>
      <dgm:spPr/>
    </dgm:pt>
    <dgm:pt modelId="{91345D5B-2FB5-4378-8AB8-8D4FD5772678}" type="pres">
      <dgm:prSet presAssocID="{0EF30586-7246-46BB-821D-0D2BFA50C3BC}" presName="conn" presStyleLbl="parChTrans1D2" presStyleIdx="0" presStyleCnt="1"/>
      <dgm:spPr/>
    </dgm:pt>
    <dgm:pt modelId="{67686BFE-FB9A-401A-9814-64D1E50F115B}" type="pres">
      <dgm:prSet presAssocID="{0EF30586-7246-46BB-821D-0D2BFA50C3BC}" presName="extraNode" presStyleLbl="node1" presStyleIdx="0" presStyleCnt="3"/>
      <dgm:spPr/>
    </dgm:pt>
    <dgm:pt modelId="{7028B6EB-7FC8-4748-B345-9C38B979F8A4}" type="pres">
      <dgm:prSet presAssocID="{0EF30586-7246-46BB-821D-0D2BFA50C3BC}" presName="dstNode" presStyleLbl="node1" presStyleIdx="0" presStyleCnt="3"/>
      <dgm:spPr/>
    </dgm:pt>
    <dgm:pt modelId="{63F1CC88-07D5-4FAD-BA6E-F71F89EAAE4C}" type="pres">
      <dgm:prSet presAssocID="{AC576EF0-1A37-46B5-AFE5-244ED366D2C6}" presName="text_1" presStyleLbl="node1" presStyleIdx="0" presStyleCnt="3">
        <dgm:presLayoutVars>
          <dgm:bulletEnabled val="1"/>
        </dgm:presLayoutVars>
      </dgm:prSet>
      <dgm:spPr/>
    </dgm:pt>
    <dgm:pt modelId="{8E089062-8059-438B-84EC-393A45D3297E}" type="pres">
      <dgm:prSet presAssocID="{AC576EF0-1A37-46B5-AFE5-244ED366D2C6}" presName="accent_1" presStyleCnt="0"/>
      <dgm:spPr/>
    </dgm:pt>
    <dgm:pt modelId="{4E878555-BB1F-4960-91E1-6B91FBB697D4}" type="pres">
      <dgm:prSet presAssocID="{AC576EF0-1A37-46B5-AFE5-244ED366D2C6}" presName="accentRepeatNode" presStyleLbl="solidFgAcc1" presStyleIdx="0" presStyleCnt="3"/>
      <dgm:spPr/>
    </dgm:pt>
    <dgm:pt modelId="{94EB065D-8317-45B4-88BC-B878AFA0D013}" type="pres">
      <dgm:prSet presAssocID="{6001C27F-D53F-4942-B74E-F61FF5B2B994}" presName="text_2" presStyleLbl="node1" presStyleIdx="1" presStyleCnt="3">
        <dgm:presLayoutVars>
          <dgm:bulletEnabled val="1"/>
        </dgm:presLayoutVars>
      </dgm:prSet>
      <dgm:spPr/>
    </dgm:pt>
    <dgm:pt modelId="{0D5F3050-173B-444D-9340-65C4462766C9}" type="pres">
      <dgm:prSet presAssocID="{6001C27F-D53F-4942-B74E-F61FF5B2B994}" presName="accent_2" presStyleCnt="0"/>
      <dgm:spPr/>
    </dgm:pt>
    <dgm:pt modelId="{65595ADF-51A9-495F-91A7-72262B7BDC94}" type="pres">
      <dgm:prSet presAssocID="{6001C27F-D53F-4942-B74E-F61FF5B2B994}" presName="accentRepeatNode" presStyleLbl="solidFgAcc1" presStyleIdx="1" presStyleCnt="3"/>
      <dgm:spPr/>
    </dgm:pt>
    <dgm:pt modelId="{6E97287A-6BD6-4ADA-8F88-07F11B61F013}" type="pres">
      <dgm:prSet presAssocID="{850A8520-886E-493C-BF29-8D571B66270A}" presName="text_3" presStyleLbl="node1" presStyleIdx="2" presStyleCnt="3">
        <dgm:presLayoutVars>
          <dgm:bulletEnabled val="1"/>
        </dgm:presLayoutVars>
      </dgm:prSet>
      <dgm:spPr/>
    </dgm:pt>
    <dgm:pt modelId="{8018F2AF-471F-4C51-9F3B-B633735EC132}" type="pres">
      <dgm:prSet presAssocID="{850A8520-886E-493C-BF29-8D571B66270A}" presName="accent_3" presStyleCnt="0"/>
      <dgm:spPr/>
    </dgm:pt>
    <dgm:pt modelId="{336C08E9-C194-486B-939A-2BE9C2E57D5F}" type="pres">
      <dgm:prSet presAssocID="{850A8520-886E-493C-BF29-8D571B66270A}" presName="accentRepeatNode" presStyleLbl="solidFgAcc1" presStyleIdx="2" presStyleCnt="3"/>
      <dgm:spPr/>
    </dgm:pt>
  </dgm:ptLst>
  <dgm:cxnLst>
    <dgm:cxn modelId="{341A2C18-24F5-47BA-85BD-68188BBF3D1C}" type="presOf" srcId="{F2EB9A3F-C38A-4DE8-921E-CFB3A06F7E72}" destId="{91345D5B-2FB5-4378-8AB8-8D4FD5772678}" srcOrd="0" destOrd="0" presId="urn:microsoft.com/office/officeart/2008/layout/VerticalCurvedList"/>
    <dgm:cxn modelId="{F619652F-BBB3-42A1-B63F-68608A0792A6}" type="presOf" srcId="{6001C27F-D53F-4942-B74E-F61FF5B2B994}" destId="{94EB065D-8317-45B4-88BC-B878AFA0D013}" srcOrd="0" destOrd="0" presId="urn:microsoft.com/office/officeart/2008/layout/VerticalCurvedList"/>
    <dgm:cxn modelId="{0B22005D-2290-434A-A095-73D2A04156E4}" srcId="{0EF30586-7246-46BB-821D-0D2BFA50C3BC}" destId="{AC576EF0-1A37-46B5-AFE5-244ED366D2C6}" srcOrd="0" destOrd="0" parTransId="{90C41D17-CCF6-4FAE-AF97-809AA2EC5BEF}" sibTransId="{F2EB9A3F-C38A-4DE8-921E-CFB3A06F7E72}"/>
    <dgm:cxn modelId="{2809F861-F5A1-456A-8153-A0F03935841C}" srcId="{0EF30586-7246-46BB-821D-0D2BFA50C3BC}" destId="{850A8520-886E-493C-BF29-8D571B66270A}" srcOrd="2" destOrd="0" parTransId="{7407A616-08AE-4FAC-8DBD-BDCA60E9AB81}" sibTransId="{9B4E80F9-D938-4FD6-89F4-3B0F3F026A19}"/>
    <dgm:cxn modelId="{480BA567-1D43-499A-9398-F9497D179614}" type="presOf" srcId="{AC576EF0-1A37-46B5-AFE5-244ED366D2C6}" destId="{63F1CC88-07D5-4FAD-BA6E-F71F89EAAE4C}" srcOrd="0" destOrd="0" presId="urn:microsoft.com/office/officeart/2008/layout/VerticalCurvedList"/>
    <dgm:cxn modelId="{4BA83070-688B-494A-BDC9-0B74195BAFE3}" type="presOf" srcId="{850A8520-886E-493C-BF29-8D571B66270A}" destId="{6E97287A-6BD6-4ADA-8F88-07F11B61F013}" srcOrd="0" destOrd="0" presId="urn:microsoft.com/office/officeart/2008/layout/VerticalCurvedList"/>
    <dgm:cxn modelId="{12D8BFAA-3A80-4555-BF0E-05D7ABDB2D6A}" type="presOf" srcId="{0EF30586-7246-46BB-821D-0D2BFA50C3BC}" destId="{28CE7FEE-673E-4EEB-9BB7-AA0BA53BC189}" srcOrd="0" destOrd="0" presId="urn:microsoft.com/office/officeart/2008/layout/VerticalCurvedList"/>
    <dgm:cxn modelId="{730501B7-A13F-45EA-8077-ABFE99011C4D}" srcId="{0EF30586-7246-46BB-821D-0D2BFA50C3BC}" destId="{6001C27F-D53F-4942-B74E-F61FF5B2B994}" srcOrd="1" destOrd="0" parTransId="{0D7467BE-2B25-4E5E-8DBD-E3BA12F6EE73}" sibTransId="{96615C0E-C561-4C15-B91D-C5C772157DF3}"/>
    <dgm:cxn modelId="{F3980F32-32A3-41A9-B14C-F506CB72E60E}" type="presParOf" srcId="{28CE7FEE-673E-4EEB-9BB7-AA0BA53BC189}" destId="{A1CAE91B-0C38-4EED-A5ED-A18A431DFE2B}" srcOrd="0" destOrd="0" presId="urn:microsoft.com/office/officeart/2008/layout/VerticalCurvedList"/>
    <dgm:cxn modelId="{DBCCB7C6-E5C5-4C1A-ACCC-EB800398DC8D}" type="presParOf" srcId="{A1CAE91B-0C38-4EED-A5ED-A18A431DFE2B}" destId="{CB5E0D82-3A99-473B-9365-D3DA2BDBFC95}" srcOrd="0" destOrd="0" presId="urn:microsoft.com/office/officeart/2008/layout/VerticalCurvedList"/>
    <dgm:cxn modelId="{9F583D96-48DB-47AC-8B0F-EC3484AAF812}" type="presParOf" srcId="{CB5E0D82-3A99-473B-9365-D3DA2BDBFC95}" destId="{0AD01F05-8D42-48E9-A94B-AA481FD7BDCF}" srcOrd="0" destOrd="0" presId="urn:microsoft.com/office/officeart/2008/layout/VerticalCurvedList"/>
    <dgm:cxn modelId="{9AF85850-1175-4AD0-8ED7-F29A95DCB9B2}" type="presParOf" srcId="{CB5E0D82-3A99-473B-9365-D3DA2BDBFC95}" destId="{91345D5B-2FB5-4378-8AB8-8D4FD5772678}" srcOrd="1" destOrd="0" presId="urn:microsoft.com/office/officeart/2008/layout/VerticalCurvedList"/>
    <dgm:cxn modelId="{EF2583C0-B30F-4F9A-9B53-0105417D5748}" type="presParOf" srcId="{CB5E0D82-3A99-473B-9365-D3DA2BDBFC95}" destId="{67686BFE-FB9A-401A-9814-64D1E50F115B}" srcOrd="2" destOrd="0" presId="urn:microsoft.com/office/officeart/2008/layout/VerticalCurvedList"/>
    <dgm:cxn modelId="{9EF78386-FD87-4858-83B5-C008972FA34C}" type="presParOf" srcId="{CB5E0D82-3A99-473B-9365-D3DA2BDBFC95}" destId="{7028B6EB-7FC8-4748-B345-9C38B979F8A4}" srcOrd="3" destOrd="0" presId="urn:microsoft.com/office/officeart/2008/layout/VerticalCurvedList"/>
    <dgm:cxn modelId="{CC5B5CCF-6C6A-49EC-9D62-A8AC61FA2C16}" type="presParOf" srcId="{A1CAE91B-0C38-4EED-A5ED-A18A431DFE2B}" destId="{63F1CC88-07D5-4FAD-BA6E-F71F89EAAE4C}" srcOrd="1" destOrd="0" presId="urn:microsoft.com/office/officeart/2008/layout/VerticalCurvedList"/>
    <dgm:cxn modelId="{C85633E3-9257-4659-8D34-525563509E2D}" type="presParOf" srcId="{A1CAE91B-0C38-4EED-A5ED-A18A431DFE2B}" destId="{8E089062-8059-438B-84EC-393A45D3297E}" srcOrd="2" destOrd="0" presId="urn:microsoft.com/office/officeart/2008/layout/VerticalCurvedList"/>
    <dgm:cxn modelId="{6A0877D1-A5FB-44B7-B8A3-0D6F0AF01161}" type="presParOf" srcId="{8E089062-8059-438B-84EC-393A45D3297E}" destId="{4E878555-BB1F-4960-91E1-6B91FBB697D4}" srcOrd="0" destOrd="0" presId="urn:microsoft.com/office/officeart/2008/layout/VerticalCurvedList"/>
    <dgm:cxn modelId="{78C1FD3A-5BB0-4F75-A93A-8448AFFC78E2}" type="presParOf" srcId="{A1CAE91B-0C38-4EED-A5ED-A18A431DFE2B}" destId="{94EB065D-8317-45B4-88BC-B878AFA0D013}" srcOrd="3" destOrd="0" presId="urn:microsoft.com/office/officeart/2008/layout/VerticalCurvedList"/>
    <dgm:cxn modelId="{49F33D0D-EBDE-4066-945F-7E735A15858B}" type="presParOf" srcId="{A1CAE91B-0C38-4EED-A5ED-A18A431DFE2B}" destId="{0D5F3050-173B-444D-9340-65C4462766C9}" srcOrd="4" destOrd="0" presId="urn:microsoft.com/office/officeart/2008/layout/VerticalCurvedList"/>
    <dgm:cxn modelId="{58048992-432D-48C1-8396-4EF666D382AE}" type="presParOf" srcId="{0D5F3050-173B-444D-9340-65C4462766C9}" destId="{65595ADF-51A9-495F-91A7-72262B7BDC94}" srcOrd="0" destOrd="0" presId="urn:microsoft.com/office/officeart/2008/layout/VerticalCurvedList"/>
    <dgm:cxn modelId="{2C4CFBDD-193F-4C84-9A8F-671D0A70CFFC}" type="presParOf" srcId="{A1CAE91B-0C38-4EED-A5ED-A18A431DFE2B}" destId="{6E97287A-6BD6-4ADA-8F88-07F11B61F013}" srcOrd="5" destOrd="0" presId="urn:microsoft.com/office/officeart/2008/layout/VerticalCurvedList"/>
    <dgm:cxn modelId="{96A2D036-014F-4A39-9E0C-6530F286F5AA}" type="presParOf" srcId="{A1CAE91B-0C38-4EED-A5ED-A18A431DFE2B}" destId="{8018F2AF-471F-4C51-9F3B-B633735EC132}" srcOrd="6" destOrd="0" presId="urn:microsoft.com/office/officeart/2008/layout/VerticalCurvedList"/>
    <dgm:cxn modelId="{C270A54B-A905-4DAD-9D39-4F5F5DAB55A5}" type="presParOf" srcId="{8018F2AF-471F-4C51-9F3B-B633735EC132}" destId="{336C08E9-C194-486B-939A-2BE9C2E57D5F}"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9B3111F-C7D1-4BAF-ADE0-E8D21A1DC4B4}" type="doc">
      <dgm:prSet loTypeId="urn:microsoft.com/office/officeart/2005/8/layout/hProcess4" loCatId="process" qsTypeId="urn:microsoft.com/office/officeart/2005/8/quickstyle/simple1" qsCatId="simple" csTypeId="urn:microsoft.com/office/officeart/2005/8/colors/accent1_2" csCatId="accent1" phldr="1"/>
      <dgm:spPr/>
      <dgm:t>
        <a:bodyPr/>
        <a:lstStyle/>
        <a:p>
          <a:endParaRPr lang="en-US"/>
        </a:p>
      </dgm:t>
    </dgm:pt>
    <dgm:pt modelId="{C1BB7BE3-1AE6-42ED-92A5-B8724C887BE9}">
      <dgm:prSet phldrT="[Text]" custT="1"/>
      <dgm:spPr/>
      <dgm:t>
        <a:bodyPr/>
        <a:lstStyle/>
        <a:p>
          <a:r>
            <a:rPr lang="en-US" sz="1800" dirty="0"/>
            <a:t>Pre-Processing</a:t>
          </a:r>
        </a:p>
      </dgm:t>
    </dgm:pt>
    <dgm:pt modelId="{9140D4B7-DA02-4343-9A6C-42D9B3180DBB}" type="parTrans" cxnId="{A05887E8-D62E-4EDC-8C2E-8AD98FE70276}">
      <dgm:prSet/>
      <dgm:spPr/>
      <dgm:t>
        <a:bodyPr/>
        <a:lstStyle/>
        <a:p>
          <a:endParaRPr lang="en-US"/>
        </a:p>
      </dgm:t>
    </dgm:pt>
    <dgm:pt modelId="{951062C3-868A-4137-BD60-E284BDAE99FC}" type="sibTrans" cxnId="{A05887E8-D62E-4EDC-8C2E-8AD98FE70276}">
      <dgm:prSet/>
      <dgm:spPr/>
      <dgm:t>
        <a:bodyPr/>
        <a:lstStyle/>
        <a:p>
          <a:endParaRPr lang="en-US"/>
        </a:p>
      </dgm:t>
    </dgm:pt>
    <dgm:pt modelId="{697F60E2-ECD6-480D-BCBA-236D7F84C52F}">
      <dgm:prSet phldrT="[Text]" custT="1"/>
      <dgm:spPr/>
      <dgm:t>
        <a:bodyPr/>
        <a:lstStyle/>
        <a:p>
          <a:pPr>
            <a:buFont typeface="Arial"/>
            <a:buChar char="•"/>
          </a:pPr>
          <a:r>
            <a:rPr lang="en-US" sz="1100" b="1" dirty="0">
              <a:solidFill>
                <a:srgbClr val="000000"/>
              </a:solidFill>
              <a:latin typeface="Canva Sans"/>
              <a:ea typeface="Canva Sans"/>
              <a:cs typeface="Canva Sans"/>
              <a:sym typeface="Canva Sans"/>
            </a:rPr>
            <a:t>Materials</a:t>
          </a:r>
          <a:r>
            <a:rPr lang="en-US" sz="1100" dirty="0">
              <a:solidFill>
                <a:srgbClr val="000000"/>
              </a:solidFill>
              <a:latin typeface="Canva Sans"/>
              <a:ea typeface="Canva Sans"/>
              <a:cs typeface="Canva Sans"/>
              <a:sym typeface="Canva Sans"/>
            </a:rPr>
            <a:t>: Carbon Fiber (230 GPa) and ABS Plastic (High Impact)</a:t>
          </a:r>
          <a:endParaRPr lang="en-US" sz="1100" dirty="0"/>
        </a:p>
      </dgm:t>
    </dgm:pt>
    <dgm:pt modelId="{4E80E91B-9A59-4C24-B4D9-F3E43131A91F}" type="parTrans" cxnId="{83A42120-CE90-48E0-909E-4DC147F6E710}">
      <dgm:prSet/>
      <dgm:spPr/>
      <dgm:t>
        <a:bodyPr/>
        <a:lstStyle/>
        <a:p>
          <a:endParaRPr lang="en-US"/>
        </a:p>
      </dgm:t>
    </dgm:pt>
    <dgm:pt modelId="{D8995AA9-E7A9-47A6-A470-CA9D1363D89C}" type="sibTrans" cxnId="{83A42120-CE90-48E0-909E-4DC147F6E710}">
      <dgm:prSet/>
      <dgm:spPr/>
      <dgm:t>
        <a:bodyPr/>
        <a:lstStyle/>
        <a:p>
          <a:endParaRPr lang="en-US"/>
        </a:p>
      </dgm:t>
    </dgm:pt>
    <dgm:pt modelId="{291D5454-382E-4B29-A1DB-1933B31DFB47}">
      <dgm:prSet phldrT="[Text]" custT="1"/>
      <dgm:spPr/>
      <dgm:t>
        <a:bodyPr/>
        <a:lstStyle/>
        <a:p>
          <a:r>
            <a:rPr lang="en-US" sz="1800" dirty="0"/>
            <a:t>Processing</a:t>
          </a:r>
        </a:p>
      </dgm:t>
    </dgm:pt>
    <dgm:pt modelId="{7006CE3F-72F0-407B-B0EC-946E52004169}" type="parTrans" cxnId="{CAE0F421-9DA6-46BD-8D73-C29CA835BBEB}">
      <dgm:prSet/>
      <dgm:spPr/>
      <dgm:t>
        <a:bodyPr/>
        <a:lstStyle/>
        <a:p>
          <a:endParaRPr lang="en-US"/>
        </a:p>
      </dgm:t>
    </dgm:pt>
    <dgm:pt modelId="{712FFD9F-40A7-4ED0-AB3E-000F5DA109C3}" type="sibTrans" cxnId="{CAE0F421-9DA6-46BD-8D73-C29CA835BBEB}">
      <dgm:prSet/>
      <dgm:spPr/>
      <dgm:t>
        <a:bodyPr/>
        <a:lstStyle/>
        <a:p>
          <a:endParaRPr lang="en-US"/>
        </a:p>
      </dgm:t>
    </dgm:pt>
    <dgm:pt modelId="{E3614C20-3CB6-4368-BA64-08B87C889F99}">
      <dgm:prSet phldrT="[Text]" custT="1"/>
      <dgm:spPr/>
      <dgm:t>
        <a:bodyPr/>
        <a:lstStyle/>
        <a:p>
          <a:pPr>
            <a:buFont typeface="Arial"/>
            <a:buChar char="•"/>
          </a:pPr>
          <a:r>
            <a:rPr lang="en-US" sz="1100" b="1" dirty="0">
              <a:solidFill>
                <a:srgbClr val="000000"/>
              </a:solidFill>
              <a:latin typeface="Canva Sans"/>
              <a:ea typeface="Canva Sans"/>
              <a:cs typeface="Canva Sans"/>
              <a:sym typeface="Canva Sans"/>
            </a:rPr>
            <a:t>Boundary Conditions</a:t>
          </a:r>
          <a:r>
            <a:rPr lang="en-US" sz="1100" dirty="0">
              <a:solidFill>
                <a:srgbClr val="000000"/>
              </a:solidFill>
              <a:latin typeface="Canva Sans"/>
              <a:ea typeface="Canva Sans"/>
              <a:cs typeface="Canva Sans"/>
              <a:sym typeface="Canva Sans"/>
            </a:rPr>
            <a:t>: Base of landing gears fixed</a:t>
          </a:r>
          <a:endParaRPr lang="en-US" sz="1100" dirty="0"/>
        </a:p>
      </dgm:t>
    </dgm:pt>
    <dgm:pt modelId="{F4FC5A74-6130-41E4-9082-A46332D84616}" type="parTrans" cxnId="{24A5AC9A-127C-4582-AF23-5FB10E8B2B10}">
      <dgm:prSet/>
      <dgm:spPr/>
      <dgm:t>
        <a:bodyPr/>
        <a:lstStyle/>
        <a:p>
          <a:endParaRPr lang="en-US"/>
        </a:p>
      </dgm:t>
    </dgm:pt>
    <dgm:pt modelId="{0C9C1AAC-82E4-4B49-951E-59DBE071F7AC}" type="sibTrans" cxnId="{24A5AC9A-127C-4582-AF23-5FB10E8B2B10}">
      <dgm:prSet/>
      <dgm:spPr/>
      <dgm:t>
        <a:bodyPr/>
        <a:lstStyle/>
        <a:p>
          <a:endParaRPr lang="en-US"/>
        </a:p>
      </dgm:t>
    </dgm:pt>
    <dgm:pt modelId="{1A66924D-0B19-4D63-BF28-F24DF5ED1842}">
      <dgm:prSet phldrT="[Text]" custT="1"/>
      <dgm:spPr/>
      <dgm:t>
        <a:bodyPr/>
        <a:lstStyle/>
        <a:p>
          <a:r>
            <a:rPr lang="en-US" sz="1800" dirty="0"/>
            <a:t>Results</a:t>
          </a:r>
        </a:p>
      </dgm:t>
    </dgm:pt>
    <dgm:pt modelId="{0E5A30C2-0009-4CEE-90B6-D264207D607D}" type="parTrans" cxnId="{67569FE5-6144-49DE-B7F0-04EEC4711FBC}">
      <dgm:prSet/>
      <dgm:spPr/>
      <dgm:t>
        <a:bodyPr/>
        <a:lstStyle/>
        <a:p>
          <a:endParaRPr lang="en-US"/>
        </a:p>
      </dgm:t>
    </dgm:pt>
    <dgm:pt modelId="{FB16AA82-3B6F-4534-A4C9-FCC95A398726}" type="sibTrans" cxnId="{67569FE5-6144-49DE-B7F0-04EEC4711FBC}">
      <dgm:prSet/>
      <dgm:spPr/>
      <dgm:t>
        <a:bodyPr/>
        <a:lstStyle/>
        <a:p>
          <a:endParaRPr lang="en-US"/>
        </a:p>
      </dgm:t>
    </dgm:pt>
    <dgm:pt modelId="{AABE9649-B2A3-4966-8D0A-4F3B03F06EA4}">
      <dgm:prSet phldrT="[Text]" custT="1"/>
      <dgm:spPr/>
      <dgm:t>
        <a:bodyPr/>
        <a:lstStyle/>
        <a:p>
          <a:r>
            <a:rPr lang="en-US" sz="1100" b="1" u="none" dirty="0">
              <a:solidFill>
                <a:srgbClr val="000000"/>
              </a:solidFill>
              <a:latin typeface="Canva Sans"/>
              <a:ea typeface="Canva Sans"/>
              <a:cs typeface="Canva Sans"/>
              <a:sym typeface="Canva Sans"/>
            </a:rPr>
            <a:t>Total Deformation</a:t>
          </a:r>
          <a:r>
            <a:rPr lang="en-US" sz="1100" b="1" u="sng" dirty="0">
              <a:solidFill>
                <a:srgbClr val="000000"/>
              </a:solidFill>
              <a:latin typeface="Canva Sans"/>
              <a:ea typeface="Canva Sans"/>
              <a:cs typeface="Canva Sans"/>
              <a:sym typeface="Canva Sans"/>
            </a:rPr>
            <a:t>: </a:t>
          </a:r>
          <a:r>
            <a:rPr lang="en-US" sz="1100" dirty="0">
              <a:solidFill>
                <a:srgbClr val="000000"/>
              </a:solidFill>
              <a:latin typeface="Canva Sans"/>
              <a:ea typeface="Canva Sans"/>
              <a:cs typeface="Canva Sans"/>
              <a:sym typeface="Canva Sans"/>
            </a:rPr>
            <a:t>Highest deformation observed at distal end of carbon-fiber motor mounts (well within material limits)</a:t>
          </a:r>
          <a:endParaRPr lang="en-US" sz="1100" b="1" dirty="0"/>
        </a:p>
      </dgm:t>
    </dgm:pt>
    <dgm:pt modelId="{33B282F4-A68D-47C4-93FA-F543AAAABDB0}" type="parTrans" cxnId="{F0EECD99-8C06-4928-83AF-894D885BADF5}">
      <dgm:prSet/>
      <dgm:spPr/>
      <dgm:t>
        <a:bodyPr/>
        <a:lstStyle/>
        <a:p>
          <a:endParaRPr lang="en-US"/>
        </a:p>
      </dgm:t>
    </dgm:pt>
    <dgm:pt modelId="{4AE7CD40-2AD8-40DB-8A76-85832B963D1A}" type="sibTrans" cxnId="{F0EECD99-8C06-4928-83AF-894D885BADF5}">
      <dgm:prSet/>
      <dgm:spPr/>
      <dgm:t>
        <a:bodyPr/>
        <a:lstStyle/>
        <a:p>
          <a:endParaRPr lang="en-US"/>
        </a:p>
      </dgm:t>
    </dgm:pt>
    <dgm:pt modelId="{90330127-A6FC-46B9-AD98-C54D33BD0ACD}">
      <dgm:prSet custT="1"/>
      <dgm:spPr/>
      <dgm:t>
        <a:bodyPr/>
        <a:lstStyle/>
        <a:p>
          <a:r>
            <a:rPr lang="en-US" sz="1100" b="1" dirty="0">
              <a:solidFill>
                <a:srgbClr val="000000"/>
              </a:solidFill>
              <a:latin typeface="Canva Sans"/>
              <a:ea typeface="Canva Sans"/>
              <a:cs typeface="Canva Sans"/>
              <a:sym typeface="Canva Sans"/>
            </a:rPr>
            <a:t>Contacts</a:t>
          </a:r>
          <a:r>
            <a:rPr lang="en-US" sz="1100" dirty="0">
              <a:solidFill>
                <a:srgbClr val="000000"/>
              </a:solidFill>
              <a:latin typeface="Canva Sans"/>
              <a:ea typeface="Canva Sans"/>
              <a:cs typeface="Canva Sans"/>
              <a:sym typeface="Canva Sans"/>
            </a:rPr>
            <a:t>: Bonded between mating surfaces</a:t>
          </a:r>
        </a:p>
      </dgm:t>
    </dgm:pt>
    <dgm:pt modelId="{E9A67E47-C13D-476A-BF4E-0994B2214294}" type="parTrans" cxnId="{34F37260-FF65-4E4D-B5BB-80ED1AFD7329}">
      <dgm:prSet/>
      <dgm:spPr/>
      <dgm:t>
        <a:bodyPr/>
        <a:lstStyle/>
        <a:p>
          <a:endParaRPr lang="en-US"/>
        </a:p>
      </dgm:t>
    </dgm:pt>
    <dgm:pt modelId="{EBF534CC-A0F7-492C-820B-A6C92FABE825}" type="sibTrans" cxnId="{34F37260-FF65-4E4D-B5BB-80ED1AFD7329}">
      <dgm:prSet/>
      <dgm:spPr/>
      <dgm:t>
        <a:bodyPr/>
        <a:lstStyle/>
        <a:p>
          <a:endParaRPr lang="en-US"/>
        </a:p>
      </dgm:t>
    </dgm:pt>
    <dgm:pt modelId="{4A3018F0-7D25-4A4C-91DF-24ADFD32D6D1}">
      <dgm:prSet custT="1"/>
      <dgm:spPr/>
      <dgm:t>
        <a:bodyPr/>
        <a:lstStyle/>
        <a:p>
          <a:r>
            <a:rPr lang="en-US" sz="1100" b="1" dirty="0">
              <a:solidFill>
                <a:srgbClr val="000000"/>
              </a:solidFill>
              <a:latin typeface="Canva Sans"/>
              <a:ea typeface="Canva Sans"/>
              <a:cs typeface="Canva Sans"/>
              <a:sym typeface="Canva Sans"/>
            </a:rPr>
            <a:t>Mesh Details:</a:t>
          </a:r>
        </a:p>
      </dgm:t>
    </dgm:pt>
    <dgm:pt modelId="{648F6305-8E34-4162-9AAD-EFEAAEABE2FA}" type="parTrans" cxnId="{516992D2-4ADC-45E8-B759-ED3D5022DC64}">
      <dgm:prSet/>
      <dgm:spPr/>
      <dgm:t>
        <a:bodyPr/>
        <a:lstStyle/>
        <a:p>
          <a:endParaRPr lang="en-US"/>
        </a:p>
      </dgm:t>
    </dgm:pt>
    <dgm:pt modelId="{F69FB457-1FEC-4A49-9EB2-81E304315664}" type="sibTrans" cxnId="{516992D2-4ADC-45E8-B759-ED3D5022DC64}">
      <dgm:prSet/>
      <dgm:spPr/>
      <dgm:t>
        <a:bodyPr/>
        <a:lstStyle/>
        <a:p>
          <a:endParaRPr lang="en-US"/>
        </a:p>
      </dgm:t>
    </dgm:pt>
    <dgm:pt modelId="{B9E875FC-44C4-44CB-8936-9F0253E8C32D}">
      <dgm:prSet custT="1"/>
      <dgm:spPr/>
      <dgm:t>
        <a:bodyPr/>
        <a:lstStyle/>
        <a:p>
          <a:r>
            <a:rPr lang="en-US" sz="1100" dirty="0">
              <a:solidFill>
                <a:srgbClr val="000000"/>
              </a:solidFill>
              <a:latin typeface="Canva Sans"/>
              <a:ea typeface="Canva Sans"/>
              <a:cs typeface="Canva Sans"/>
              <a:sym typeface="Canva Sans"/>
            </a:rPr>
            <a:t>Motor mount, rotor arm, landing gear: 2 mm element size</a:t>
          </a:r>
        </a:p>
      </dgm:t>
    </dgm:pt>
    <dgm:pt modelId="{CF4E992F-EB67-4609-BA23-9B7F867A9CF6}" type="parTrans" cxnId="{77507959-CC5E-4414-AB5F-41810B23DA0A}">
      <dgm:prSet/>
      <dgm:spPr/>
      <dgm:t>
        <a:bodyPr/>
        <a:lstStyle/>
        <a:p>
          <a:endParaRPr lang="en-US"/>
        </a:p>
      </dgm:t>
    </dgm:pt>
    <dgm:pt modelId="{8A94C2BD-7C88-4123-AB3C-EEA70BF2E6A6}" type="sibTrans" cxnId="{77507959-CC5E-4414-AB5F-41810B23DA0A}">
      <dgm:prSet/>
      <dgm:spPr/>
      <dgm:t>
        <a:bodyPr/>
        <a:lstStyle/>
        <a:p>
          <a:endParaRPr lang="en-US"/>
        </a:p>
      </dgm:t>
    </dgm:pt>
    <dgm:pt modelId="{F288B5F5-31F5-486A-83E3-D97AC26DDD9D}">
      <dgm:prSet custT="1"/>
      <dgm:spPr/>
      <dgm:t>
        <a:bodyPr/>
        <a:lstStyle/>
        <a:p>
          <a:r>
            <a:rPr lang="en-US" sz="1100" dirty="0">
              <a:solidFill>
                <a:srgbClr val="000000"/>
              </a:solidFill>
              <a:latin typeface="Canva Sans"/>
              <a:ea typeface="Canva Sans"/>
              <a:cs typeface="Canva Sans"/>
              <a:sym typeface="Canva Sans"/>
            </a:rPr>
            <a:t>Central hub: 3 mm element size</a:t>
          </a:r>
        </a:p>
      </dgm:t>
    </dgm:pt>
    <dgm:pt modelId="{8E8AD63C-6F2B-4BA9-A909-B97D9D25183F}" type="parTrans" cxnId="{565EC598-5804-47CC-A667-F648A5F09150}">
      <dgm:prSet/>
      <dgm:spPr/>
      <dgm:t>
        <a:bodyPr/>
        <a:lstStyle/>
        <a:p>
          <a:endParaRPr lang="en-US"/>
        </a:p>
      </dgm:t>
    </dgm:pt>
    <dgm:pt modelId="{C2EB2E24-EE02-4BC0-9E48-6A1FBC79A3C2}" type="sibTrans" cxnId="{565EC598-5804-47CC-A667-F648A5F09150}">
      <dgm:prSet/>
      <dgm:spPr/>
      <dgm:t>
        <a:bodyPr/>
        <a:lstStyle/>
        <a:p>
          <a:endParaRPr lang="en-US"/>
        </a:p>
      </dgm:t>
    </dgm:pt>
    <dgm:pt modelId="{FC1955E4-9000-492B-ADC2-3892432ADB41}">
      <dgm:prSet custT="1"/>
      <dgm:spPr/>
      <dgm:t>
        <a:bodyPr/>
        <a:lstStyle/>
        <a:p>
          <a:r>
            <a:rPr lang="en-US" sz="1100">
              <a:solidFill>
                <a:srgbClr val="000000"/>
              </a:solidFill>
              <a:latin typeface="Canva Sans"/>
              <a:ea typeface="Canva Sans"/>
              <a:cs typeface="Canva Sans"/>
              <a:sym typeface="Canva Sans"/>
            </a:rPr>
            <a:t>Payload mechanism: 2.5 mm element size</a:t>
          </a:r>
          <a:endParaRPr lang="en-US" sz="1100" dirty="0">
            <a:solidFill>
              <a:srgbClr val="000000"/>
            </a:solidFill>
            <a:latin typeface="Canva Sans"/>
            <a:ea typeface="Canva Sans"/>
            <a:cs typeface="Canva Sans"/>
            <a:sym typeface="Canva Sans"/>
          </a:endParaRPr>
        </a:p>
      </dgm:t>
    </dgm:pt>
    <dgm:pt modelId="{3A57AF4A-1B1B-4967-83AF-F9759568BF0F}" type="parTrans" cxnId="{19AFAA18-6945-4177-94AA-A144962BD273}">
      <dgm:prSet/>
      <dgm:spPr/>
      <dgm:t>
        <a:bodyPr/>
        <a:lstStyle/>
        <a:p>
          <a:endParaRPr lang="en-US"/>
        </a:p>
      </dgm:t>
    </dgm:pt>
    <dgm:pt modelId="{0F91D5D5-AC5B-421D-A6C7-5A06A49E9E8C}" type="sibTrans" cxnId="{19AFAA18-6945-4177-94AA-A144962BD273}">
      <dgm:prSet/>
      <dgm:spPr/>
      <dgm:t>
        <a:bodyPr/>
        <a:lstStyle/>
        <a:p>
          <a:endParaRPr lang="en-US"/>
        </a:p>
      </dgm:t>
    </dgm:pt>
    <dgm:pt modelId="{770DBDA5-E352-4C31-8712-EF689A51E69C}">
      <dgm:prSet custT="1"/>
      <dgm:spPr/>
      <dgm:t>
        <a:bodyPr/>
        <a:lstStyle/>
        <a:p>
          <a:r>
            <a:rPr lang="en-US" sz="1100" dirty="0">
              <a:solidFill>
                <a:srgbClr val="000000"/>
              </a:solidFill>
              <a:latin typeface="Canva Sans"/>
              <a:ea typeface="Canva Sans"/>
              <a:cs typeface="Canva Sans"/>
              <a:sym typeface="Canva Sans"/>
            </a:rPr>
            <a:t>Element quality target: ≥ 0.20 (majority of elements meet this criterion)</a:t>
          </a:r>
        </a:p>
      </dgm:t>
    </dgm:pt>
    <dgm:pt modelId="{6340EB74-9A92-4195-B3C3-47374AF6FADD}" type="parTrans" cxnId="{522EB965-9820-4B2F-A5B2-32FB4DA81CB1}">
      <dgm:prSet/>
      <dgm:spPr/>
      <dgm:t>
        <a:bodyPr/>
        <a:lstStyle/>
        <a:p>
          <a:endParaRPr lang="en-US"/>
        </a:p>
      </dgm:t>
    </dgm:pt>
    <dgm:pt modelId="{407A29C3-AF3A-4BFB-B3E3-98DAF201C573}" type="sibTrans" cxnId="{522EB965-9820-4B2F-A5B2-32FB4DA81CB1}">
      <dgm:prSet/>
      <dgm:spPr/>
      <dgm:t>
        <a:bodyPr/>
        <a:lstStyle/>
        <a:p>
          <a:endParaRPr lang="en-US"/>
        </a:p>
      </dgm:t>
    </dgm:pt>
    <dgm:pt modelId="{39B99554-F34A-464A-AB02-F1F7264C69A5}">
      <dgm:prSet custT="1"/>
      <dgm:spPr/>
      <dgm:t>
        <a:bodyPr/>
        <a:lstStyle/>
        <a:p>
          <a:r>
            <a:rPr lang="en-US" sz="1100" b="1" dirty="0">
              <a:solidFill>
                <a:srgbClr val="000000"/>
              </a:solidFill>
              <a:latin typeface="Canva Sans"/>
              <a:ea typeface="Canva Sans"/>
              <a:cs typeface="Canva Sans"/>
              <a:sym typeface="Canva Sans"/>
            </a:rPr>
            <a:t>Loads</a:t>
          </a:r>
          <a:r>
            <a:rPr lang="en-US" sz="1100" dirty="0">
              <a:solidFill>
                <a:srgbClr val="000000"/>
              </a:solidFill>
              <a:latin typeface="Canva Sans"/>
              <a:ea typeface="Canva Sans"/>
              <a:cs typeface="Canva Sans"/>
              <a:sym typeface="Canva Sans"/>
            </a:rPr>
            <a:t>:</a:t>
          </a:r>
        </a:p>
      </dgm:t>
    </dgm:pt>
    <dgm:pt modelId="{4B36EA83-985C-4F45-B2DD-750B1A177C6E}" type="parTrans" cxnId="{24E61B5B-D3E9-42BC-9EFF-02AD9F998243}">
      <dgm:prSet/>
      <dgm:spPr/>
      <dgm:t>
        <a:bodyPr/>
        <a:lstStyle/>
        <a:p>
          <a:endParaRPr lang="en-US"/>
        </a:p>
      </dgm:t>
    </dgm:pt>
    <dgm:pt modelId="{FC93E1D7-17B3-467C-8D81-30F9C8316A03}" type="sibTrans" cxnId="{24E61B5B-D3E9-42BC-9EFF-02AD9F998243}">
      <dgm:prSet/>
      <dgm:spPr/>
      <dgm:t>
        <a:bodyPr/>
        <a:lstStyle/>
        <a:p>
          <a:endParaRPr lang="en-US"/>
        </a:p>
      </dgm:t>
    </dgm:pt>
    <dgm:pt modelId="{9B65B31B-6E8A-4FDF-B164-FCD86E2B104C}">
      <dgm:prSet custT="1"/>
      <dgm:spPr/>
      <dgm:t>
        <a:bodyPr/>
        <a:lstStyle/>
        <a:p>
          <a:r>
            <a:rPr lang="en-US" sz="1100" dirty="0">
              <a:solidFill>
                <a:srgbClr val="000000"/>
              </a:solidFill>
              <a:latin typeface="Canva Sans"/>
              <a:ea typeface="Canva Sans"/>
              <a:cs typeface="Canva Sans"/>
              <a:sym typeface="Canva Sans"/>
            </a:rPr>
            <a:t>Thrust: 25 N upward on each motor mount base</a:t>
          </a:r>
        </a:p>
      </dgm:t>
    </dgm:pt>
    <dgm:pt modelId="{9B7E1543-D651-41BA-9EE2-087AA256CA48}" type="parTrans" cxnId="{6B8BA7D6-9F63-403F-89F9-7EFD02EDFF77}">
      <dgm:prSet/>
      <dgm:spPr/>
      <dgm:t>
        <a:bodyPr/>
        <a:lstStyle/>
        <a:p>
          <a:endParaRPr lang="en-US"/>
        </a:p>
      </dgm:t>
    </dgm:pt>
    <dgm:pt modelId="{AC1A7968-8A21-471B-90BA-0DC7DC0885E9}" type="sibTrans" cxnId="{6B8BA7D6-9F63-403F-89F9-7EFD02EDFF77}">
      <dgm:prSet/>
      <dgm:spPr/>
      <dgm:t>
        <a:bodyPr/>
        <a:lstStyle/>
        <a:p>
          <a:endParaRPr lang="en-US"/>
        </a:p>
      </dgm:t>
    </dgm:pt>
    <dgm:pt modelId="{7A473DDC-A23E-4701-9467-3F506F6E7369}">
      <dgm:prSet custT="1"/>
      <dgm:spPr/>
      <dgm:t>
        <a:bodyPr/>
        <a:lstStyle/>
        <a:p>
          <a:r>
            <a:rPr lang="en-US" sz="1100">
              <a:solidFill>
                <a:srgbClr val="000000"/>
              </a:solidFill>
              <a:latin typeface="Canva Sans"/>
              <a:ea typeface="Canva Sans"/>
              <a:cs typeface="Canva Sans"/>
              <a:sym typeface="Canva Sans"/>
            </a:rPr>
            <a:t>Gravity: Standard Earth gravity downward</a:t>
          </a:r>
          <a:endParaRPr lang="en-US" sz="1100" dirty="0">
            <a:solidFill>
              <a:srgbClr val="000000"/>
            </a:solidFill>
            <a:latin typeface="Canva Sans"/>
            <a:ea typeface="Canva Sans"/>
            <a:cs typeface="Canva Sans"/>
            <a:sym typeface="Canva Sans"/>
          </a:endParaRPr>
        </a:p>
      </dgm:t>
    </dgm:pt>
    <dgm:pt modelId="{1E8A97EE-D075-4B76-9FA6-665C6D3A3A26}" type="parTrans" cxnId="{EBDC8192-FAB2-461D-92B5-4F2D40412EEE}">
      <dgm:prSet/>
      <dgm:spPr/>
      <dgm:t>
        <a:bodyPr/>
        <a:lstStyle/>
        <a:p>
          <a:endParaRPr lang="en-US"/>
        </a:p>
      </dgm:t>
    </dgm:pt>
    <dgm:pt modelId="{95FA8BAC-EBDA-48B2-91BE-7DD0764BDE1C}" type="sibTrans" cxnId="{EBDC8192-FAB2-461D-92B5-4F2D40412EEE}">
      <dgm:prSet/>
      <dgm:spPr/>
      <dgm:t>
        <a:bodyPr/>
        <a:lstStyle/>
        <a:p>
          <a:endParaRPr lang="en-US"/>
        </a:p>
      </dgm:t>
    </dgm:pt>
    <dgm:pt modelId="{26EAE18C-28B8-4F69-881C-8436661704D0}">
      <dgm:prSet custT="1"/>
      <dgm:spPr/>
      <dgm:t>
        <a:bodyPr/>
        <a:lstStyle/>
        <a:p>
          <a:r>
            <a:rPr lang="en-US" sz="1100">
              <a:solidFill>
                <a:srgbClr val="000000"/>
              </a:solidFill>
              <a:latin typeface="Canva Sans"/>
              <a:ea typeface="Canva Sans"/>
              <a:cs typeface="Canva Sans"/>
              <a:sym typeface="Canva Sans"/>
            </a:rPr>
            <a:t>Payload: 2 N on gripping arm</a:t>
          </a:r>
          <a:endParaRPr lang="en-US" sz="1100" dirty="0">
            <a:solidFill>
              <a:srgbClr val="000000"/>
            </a:solidFill>
            <a:latin typeface="Canva Sans"/>
            <a:ea typeface="Canva Sans"/>
            <a:cs typeface="Canva Sans"/>
            <a:sym typeface="Canva Sans"/>
          </a:endParaRPr>
        </a:p>
      </dgm:t>
    </dgm:pt>
    <dgm:pt modelId="{75582CEB-432C-42DD-9CFD-DACE5AC79B69}" type="parTrans" cxnId="{F30572E1-DF6B-410E-B61B-659E2D67F58C}">
      <dgm:prSet/>
      <dgm:spPr/>
      <dgm:t>
        <a:bodyPr/>
        <a:lstStyle/>
        <a:p>
          <a:endParaRPr lang="en-US"/>
        </a:p>
      </dgm:t>
    </dgm:pt>
    <dgm:pt modelId="{66F42E65-FAEA-4BED-861C-D19717091431}" type="sibTrans" cxnId="{F30572E1-DF6B-410E-B61B-659E2D67F58C}">
      <dgm:prSet/>
      <dgm:spPr/>
      <dgm:t>
        <a:bodyPr/>
        <a:lstStyle/>
        <a:p>
          <a:endParaRPr lang="en-US"/>
        </a:p>
      </dgm:t>
    </dgm:pt>
    <dgm:pt modelId="{04953C38-F616-41A3-877E-BF3288FEAE68}">
      <dgm:prSet custT="1"/>
      <dgm:spPr/>
      <dgm:t>
        <a:bodyPr/>
        <a:lstStyle/>
        <a:p>
          <a:r>
            <a:rPr lang="en-US" sz="1100" dirty="0">
              <a:solidFill>
                <a:srgbClr val="000000"/>
              </a:solidFill>
              <a:latin typeface="Canva Sans"/>
              <a:ea typeface="Canva Sans"/>
              <a:cs typeface="Canva Sans"/>
              <a:sym typeface="Canva Sans"/>
            </a:rPr>
            <a:t>Component weight: 13 N applied at hub base</a:t>
          </a:r>
        </a:p>
      </dgm:t>
    </dgm:pt>
    <dgm:pt modelId="{6CE7D184-F204-44E5-A007-5B22DCF849DE}" type="parTrans" cxnId="{BB1B6E67-B4F5-44C1-A23E-41AD4916E420}">
      <dgm:prSet/>
      <dgm:spPr/>
      <dgm:t>
        <a:bodyPr/>
        <a:lstStyle/>
        <a:p>
          <a:endParaRPr lang="en-US"/>
        </a:p>
      </dgm:t>
    </dgm:pt>
    <dgm:pt modelId="{5A5AAE1A-3894-4AE6-BD5E-E48D1154C055}" type="sibTrans" cxnId="{BB1B6E67-B4F5-44C1-A23E-41AD4916E420}">
      <dgm:prSet/>
      <dgm:spPr/>
      <dgm:t>
        <a:bodyPr/>
        <a:lstStyle/>
        <a:p>
          <a:endParaRPr lang="en-US"/>
        </a:p>
      </dgm:t>
    </dgm:pt>
    <dgm:pt modelId="{5953510C-470F-4877-A0F8-35B0CB75508B}">
      <dgm:prSet custT="1"/>
      <dgm:spPr/>
      <dgm:t>
        <a:bodyPr/>
        <a:lstStyle/>
        <a:p>
          <a:r>
            <a:rPr lang="en-US" sz="1100" b="1" u="none" dirty="0">
              <a:solidFill>
                <a:srgbClr val="000000"/>
              </a:solidFill>
              <a:latin typeface="Canva Sans"/>
              <a:ea typeface="Canva Sans"/>
              <a:cs typeface="Canva Sans"/>
              <a:sym typeface="Canva Sans"/>
            </a:rPr>
            <a:t>Equivalent (Von Mises) Stress</a:t>
          </a:r>
          <a:r>
            <a:rPr lang="en-US" sz="1100" b="1" u="sng" dirty="0">
              <a:solidFill>
                <a:srgbClr val="000000"/>
              </a:solidFill>
              <a:latin typeface="Canva Sans"/>
              <a:ea typeface="Canva Sans"/>
              <a:cs typeface="Canva Sans"/>
              <a:sym typeface="Canva Sans"/>
            </a:rPr>
            <a:t>: </a:t>
          </a:r>
          <a:r>
            <a:rPr lang="en-US" sz="1100" dirty="0">
              <a:solidFill>
                <a:srgbClr val="000000"/>
              </a:solidFill>
              <a:latin typeface="Canva Sans"/>
              <a:ea typeface="Canva Sans"/>
              <a:cs typeface="Canva Sans"/>
              <a:sym typeface="Canva Sans"/>
            </a:rPr>
            <a:t>Maximum stress appears at the rotor arm–hub junction (carbon fiber), remaining below carbon fiber’s yield stress; fasteners will secure components at these high-stress locations </a:t>
          </a:r>
          <a:endParaRPr lang="en-US" sz="1100" b="1" u="sng" dirty="0">
            <a:solidFill>
              <a:srgbClr val="000000"/>
            </a:solidFill>
            <a:latin typeface="Canva Sans"/>
            <a:ea typeface="Canva Sans"/>
            <a:cs typeface="Canva Sans"/>
            <a:sym typeface="Canva Sans"/>
          </a:endParaRPr>
        </a:p>
      </dgm:t>
    </dgm:pt>
    <dgm:pt modelId="{E098391C-2225-46D7-BE3B-DBDD02D94F26}" type="parTrans" cxnId="{0AF20936-19D6-4917-962F-0CBCF89419F8}">
      <dgm:prSet/>
      <dgm:spPr/>
      <dgm:t>
        <a:bodyPr/>
        <a:lstStyle/>
        <a:p>
          <a:endParaRPr lang="en-US"/>
        </a:p>
      </dgm:t>
    </dgm:pt>
    <dgm:pt modelId="{0AD17A45-1E4D-4C4A-8335-E8346A125962}" type="sibTrans" cxnId="{0AF20936-19D6-4917-962F-0CBCF89419F8}">
      <dgm:prSet/>
      <dgm:spPr/>
      <dgm:t>
        <a:bodyPr/>
        <a:lstStyle/>
        <a:p>
          <a:endParaRPr lang="en-US"/>
        </a:p>
      </dgm:t>
    </dgm:pt>
    <dgm:pt modelId="{64A1E8AE-9C2D-4902-A360-DE422B063FF6}" type="pres">
      <dgm:prSet presAssocID="{F9B3111F-C7D1-4BAF-ADE0-E8D21A1DC4B4}" presName="Name0" presStyleCnt="0">
        <dgm:presLayoutVars>
          <dgm:dir/>
          <dgm:animLvl val="lvl"/>
          <dgm:resizeHandles val="exact"/>
        </dgm:presLayoutVars>
      </dgm:prSet>
      <dgm:spPr/>
    </dgm:pt>
    <dgm:pt modelId="{AD88FFF9-5F44-4DCE-BF6D-F9C662DCE206}" type="pres">
      <dgm:prSet presAssocID="{F9B3111F-C7D1-4BAF-ADE0-E8D21A1DC4B4}" presName="tSp" presStyleCnt="0"/>
      <dgm:spPr/>
    </dgm:pt>
    <dgm:pt modelId="{C1D446AB-E90D-4E8C-ADE5-FB7B9CF3DC5E}" type="pres">
      <dgm:prSet presAssocID="{F9B3111F-C7D1-4BAF-ADE0-E8D21A1DC4B4}" presName="bSp" presStyleCnt="0"/>
      <dgm:spPr/>
    </dgm:pt>
    <dgm:pt modelId="{082858DA-B6B4-43DD-B575-F683F447C3E7}" type="pres">
      <dgm:prSet presAssocID="{F9B3111F-C7D1-4BAF-ADE0-E8D21A1DC4B4}" presName="process" presStyleCnt="0"/>
      <dgm:spPr/>
    </dgm:pt>
    <dgm:pt modelId="{7765A3EE-C20B-47F3-A300-4A21109150C9}" type="pres">
      <dgm:prSet presAssocID="{C1BB7BE3-1AE6-42ED-92A5-B8724C887BE9}" presName="composite1" presStyleCnt="0"/>
      <dgm:spPr/>
    </dgm:pt>
    <dgm:pt modelId="{C278FAE1-52D2-40FF-962C-5A2D97EF97F0}" type="pres">
      <dgm:prSet presAssocID="{C1BB7BE3-1AE6-42ED-92A5-B8724C887BE9}" presName="dummyNode1" presStyleLbl="node1" presStyleIdx="0" presStyleCnt="3"/>
      <dgm:spPr/>
    </dgm:pt>
    <dgm:pt modelId="{208AFB81-9C49-4E39-809D-342B5626E929}" type="pres">
      <dgm:prSet presAssocID="{C1BB7BE3-1AE6-42ED-92A5-B8724C887BE9}" presName="childNode1" presStyleLbl="bgAcc1" presStyleIdx="0" presStyleCnt="3" custScaleX="128772" custScaleY="151657" custLinFactNeighborX="-4462" custLinFactNeighborY="-25766">
        <dgm:presLayoutVars>
          <dgm:bulletEnabled val="1"/>
        </dgm:presLayoutVars>
      </dgm:prSet>
      <dgm:spPr/>
    </dgm:pt>
    <dgm:pt modelId="{8D06E90C-9165-4AE4-9F36-F1C4FD36D273}" type="pres">
      <dgm:prSet presAssocID="{C1BB7BE3-1AE6-42ED-92A5-B8724C887BE9}" presName="childNode1tx" presStyleLbl="bgAcc1" presStyleIdx="0" presStyleCnt="3">
        <dgm:presLayoutVars>
          <dgm:bulletEnabled val="1"/>
        </dgm:presLayoutVars>
      </dgm:prSet>
      <dgm:spPr/>
    </dgm:pt>
    <dgm:pt modelId="{3ED47477-1A30-45C3-9BB4-5A10DE3684B7}" type="pres">
      <dgm:prSet presAssocID="{C1BB7BE3-1AE6-42ED-92A5-B8724C887BE9}" presName="parentNode1" presStyleLbl="node1" presStyleIdx="0" presStyleCnt="3" custScaleX="106558" custScaleY="53692" custLinFactNeighborX="7649" custLinFactNeighborY="-19124">
        <dgm:presLayoutVars>
          <dgm:chMax val="1"/>
          <dgm:bulletEnabled val="1"/>
        </dgm:presLayoutVars>
      </dgm:prSet>
      <dgm:spPr/>
    </dgm:pt>
    <dgm:pt modelId="{879F13AD-9510-45E0-AD70-E1B87FC5A96C}" type="pres">
      <dgm:prSet presAssocID="{C1BB7BE3-1AE6-42ED-92A5-B8724C887BE9}" presName="connSite1" presStyleCnt="0"/>
      <dgm:spPr/>
    </dgm:pt>
    <dgm:pt modelId="{08DD75CA-136B-45E6-9EDA-5121DCF5FFC2}" type="pres">
      <dgm:prSet presAssocID="{951062C3-868A-4137-BD60-E284BDAE99FC}" presName="Name9" presStyleLbl="sibTrans2D1" presStyleIdx="0" presStyleCnt="2"/>
      <dgm:spPr/>
    </dgm:pt>
    <dgm:pt modelId="{1CB49022-EDCE-48E4-905C-56852518717D}" type="pres">
      <dgm:prSet presAssocID="{291D5454-382E-4B29-A1DB-1933B31DFB47}" presName="composite2" presStyleCnt="0"/>
      <dgm:spPr/>
    </dgm:pt>
    <dgm:pt modelId="{6F213261-AE3E-49D1-9DA3-D15A361D4775}" type="pres">
      <dgm:prSet presAssocID="{291D5454-382E-4B29-A1DB-1933B31DFB47}" presName="dummyNode2" presStyleLbl="node1" presStyleIdx="0" presStyleCnt="3"/>
      <dgm:spPr/>
    </dgm:pt>
    <dgm:pt modelId="{FEDF83B9-EBD2-443B-8427-37884DFF2BFE}" type="pres">
      <dgm:prSet presAssocID="{291D5454-382E-4B29-A1DB-1933B31DFB47}" presName="childNode2" presStyleLbl="bgAcc1" presStyleIdx="1" presStyleCnt="3" custScaleX="121360" custScaleY="155253" custLinFactNeighborY="-3928">
        <dgm:presLayoutVars>
          <dgm:bulletEnabled val="1"/>
        </dgm:presLayoutVars>
      </dgm:prSet>
      <dgm:spPr/>
    </dgm:pt>
    <dgm:pt modelId="{135C9C07-9B2D-4B08-BFFC-DEE7356F8792}" type="pres">
      <dgm:prSet presAssocID="{291D5454-382E-4B29-A1DB-1933B31DFB47}" presName="childNode2tx" presStyleLbl="bgAcc1" presStyleIdx="1" presStyleCnt="3">
        <dgm:presLayoutVars>
          <dgm:bulletEnabled val="1"/>
        </dgm:presLayoutVars>
      </dgm:prSet>
      <dgm:spPr/>
    </dgm:pt>
    <dgm:pt modelId="{BCE6355D-6690-4096-84B4-683A90DC815F}" type="pres">
      <dgm:prSet presAssocID="{291D5454-382E-4B29-A1DB-1933B31DFB47}" presName="parentNode2" presStyleLbl="node1" presStyleIdx="1" presStyleCnt="3" custScaleX="86653" custScaleY="53692" custLinFactNeighborX="8625" custLinFactNeighborY="-31457">
        <dgm:presLayoutVars>
          <dgm:chMax val="0"/>
          <dgm:bulletEnabled val="1"/>
        </dgm:presLayoutVars>
      </dgm:prSet>
      <dgm:spPr/>
    </dgm:pt>
    <dgm:pt modelId="{0D4A9A55-5CF3-4626-8D97-BB4330D28FC8}" type="pres">
      <dgm:prSet presAssocID="{291D5454-382E-4B29-A1DB-1933B31DFB47}" presName="connSite2" presStyleCnt="0"/>
      <dgm:spPr/>
    </dgm:pt>
    <dgm:pt modelId="{C919C95B-C145-48DB-9EC1-8FA91298B162}" type="pres">
      <dgm:prSet presAssocID="{712FFD9F-40A7-4ED0-AB3E-000F5DA109C3}" presName="Name18" presStyleLbl="sibTrans2D1" presStyleIdx="1" presStyleCnt="2"/>
      <dgm:spPr/>
    </dgm:pt>
    <dgm:pt modelId="{5E629A34-DFDE-4795-A303-7C5DF632E4C5}" type="pres">
      <dgm:prSet presAssocID="{1A66924D-0B19-4D63-BF28-F24DF5ED1842}" presName="composite1" presStyleCnt="0"/>
      <dgm:spPr/>
    </dgm:pt>
    <dgm:pt modelId="{B05D222D-8F43-4A5E-A6F6-B09EC2088AF3}" type="pres">
      <dgm:prSet presAssocID="{1A66924D-0B19-4D63-BF28-F24DF5ED1842}" presName="dummyNode1" presStyleLbl="node1" presStyleIdx="1" presStyleCnt="3"/>
      <dgm:spPr/>
    </dgm:pt>
    <dgm:pt modelId="{323ADCC7-D991-4817-816C-CACB5539B241}" type="pres">
      <dgm:prSet presAssocID="{1A66924D-0B19-4D63-BF28-F24DF5ED1842}" presName="childNode1" presStyleLbl="bgAcc1" presStyleIdx="2" presStyleCnt="3" custScaleX="118695" custScaleY="137122" custLinFactNeighborX="-3787" custLinFactNeighborY="-4591">
        <dgm:presLayoutVars>
          <dgm:bulletEnabled val="1"/>
        </dgm:presLayoutVars>
      </dgm:prSet>
      <dgm:spPr/>
    </dgm:pt>
    <dgm:pt modelId="{19C1E7BD-512E-493A-B7A5-3317B68D54FF}" type="pres">
      <dgm:prSet presAssocID="{1A66924D-0B19-4D63-BF28-F24DF5ED1842}" presName="childNode1tx" presStyleLbl="bgAcc1" presStyleIdx="2" presStyleCnt="3">
        <dgm:presLayoutVars>
          <dgm:bulletEnabled val="1"/>
        </dgm:presLayoutVars>
      </dgm:prSet>
      <dgm:spPr/>
    </dgm:pt>
    <dgm:pt modelId="{CA88590D-E790-4434-A5EF-6B933D9B2BB1}" type="pres">
      <dgm:prSet presAssocID="{1A66924D-0B19-4D63-BF28-F24DF5ED1842}" presName="parentNode1" presStyleLbl="node1" presStyleIdx="2" presStyleCnt="3" custScaleX="86653" custScaleY="53692" custLinFactNeighborX="-14714" custLinFactNeighborY="2084">
        <dgm:presLayoutVars>
          <dgm:chMax val="1"/>
          <dgm:bulletEnabled val="1"/>
        </dgm:presLayoutVars>
      </dgm:prSet>
      <dgm:spPr/>
    </dgm:pt>
    <dgm:pt modelId="{1449F0B2-597B-4DB3-804E-BE4A6D06A972}" type="pres">
      <dgm:prSet presAssocID="{1A66924D-0B19-4D63-BF28-F24DF5ED1842}" presName="connSite1" presStyleCnt="0"/>
      <dgm:spPr/>
    </dgm:pt>
  </dgm:ptLst>
  <dgm:cxnLst>
    <dgm:cxn modelId="{2390F405-FA1D-4432-BCF3-B57ED3AD27FC}" type="presOf" srcId="{697F60E2-ECD6-480D-BCBA-236D7F84C52F}" destId="{8D06E90C-9165-4AE4-9F36-F1C4FD36D273}" srcOrd="1" destOrd="0" presId="urn:microsoft.com/office/officeart/2005/8/layout/hProcess4"/>
    <dgm:cxn modelId="{0DFF590A-FB6C-40FE-AAA0-0966844870AC}" type="presOf" srcId="{7A473DDC-A23E-4701-9467-3F506F6E7369}" destId="{135C9C07-9B2D-4B08-BFFC-DEE7356F8792}" srcOrd="1" destOrd="3" presId="urn:microsoft.com/office/officeart/2005/8/layout/hProcess4"/>
    <dgm:cxn modelId="{EC892813-3B9E-45BB-8D23-29716AC086BE}" type="presOf" srcId="{697F60E2-ECD6-480D-BCBA-236D7F84C52F}" destId="{208AFB81-9C49-4E39-809D-342B5626E929}" srcOrd="0" destOrd="0" presId="urn:microsoft.com/office/officeart/2005/8/layout/hProcess4"/>
    <dgm:cxn modelId="{58A2FD15-AD96-4F6A-9B13-BF3AD2FE0A81}" type="presOf" srcId="{951062C3-868A-4137-BD60-E284BDAE99FC}" destId="{08DD75CA-136B-45E6-9EDA-5121DCF5FFC2}" srcOrd="0" destOrd="0" presId="urn:microsoft.com/office/officeart/2005/8/layout/hProcess4"/>
    <dgm:cxn modelId="{19AFAA18-6945-4177-94AA-A144962BD273}" srcId="{4A3018F0-7D25-4A4C-91DF-24ADFD32D6D1}" destId="{FC1955E4-9000-492B-ADC2-3892432ADB41}" srcOrd="2" destOrd="0" parTransId="{3A57AF4A-1B1B-4967-83AF-F9759568BF0F}" sibTransId="{0F91D5D5-AC5B-421D-A6C7-5A06A49E9E8C}"/>
    <dgm:cxn modelId="{09795C1D-50B9-4638-A674-B7A468A057EA}" type="presOf" srcId="{90330127-A6FC-46B9-AD98-C54D33BD0ACD}" destId="{8D06E90C-9165-4AE4-9F36-F1C4FD36D273}" srcOrd="1" destOrd="1" presId="urn:microsoft.com/office/officeart/2005/8/layout/hProcess4"/>
    <dgm:cxn modelId="{83A42120-CE90-48E0-909E-4DC147F6E710}" srcId="{C1BB7BE3-1AE6-42ED-92A5-B8724C887BE9}" destId="{697F60E2-ECD6-480D-BCBA-236D7F84C52F}" srcOrd="0" destOrd="0" parTransId="{4E80E91B-9A59-4C24-B4D9-F3E43131A91F}" sibTransId="{D8995AA9-E7A9-47A6-A470-CA9D1363D89C}"/>
    <dgm:cxn modelId="{CAE0F421-9DA6-46BD-8D73-C29CA835BBEB}" srcId="{F9B3111F-C7D1-4BAF-ADE0-E8D21A1DC4B4}" destId="{291D5454-382E-4B29-A1DB-1933B31DFB47}" srcOrd="1" destOrd="0" parTransId="{7006CE3F-72F0-407B-B0EC-946E52004169}" sibTransId="{712FFD9F-40A7-4ED0-AB3E-000F5DA109C3}"/>
    <dgm:cxn modelId="{DEFD4922-205C-4BF7-92A0-0561017BB587}" type="presOf" srcId="{F288B5F5-31F5-486A-83E3-D97AC26DDD9D}" destId="{208AFB81-9C49-4E39-809D-342B5626E929}" srcOrd="0" destOrd="4" presId="urn:microsoft.com/office/officeart/2005/8/layout/hProcess4"/>
    <dgm:cxn modelId="{DE5BF92E-94D9-4057-B40B-0DC7C3F201A5}" type="presOf" srcId="{39B99554-F34A-464A-AB02-F1F7264C69A5}" destId="{FEDF83B9-EBD2-443B-8427-37884DFF2BFE}" srcOrd="0" destOrd="1" presId="urn:microsoft.com/office/officeart/2005/8/layout/hProcess4"/>
    <dgm:cxn modelId="{0AF20936-19D6-4917-962F-0CBCF89419F8}" srcId="{1A66924D-0B19-4D63-BF28-F24DF5ED1842}" destId="{5953510C-470F-4877-A0F8-35B0CB75508B}" srcOrd="1" destOrd="0" parTransId="{E098391C-2225-46D7-BE3B-DBDD02D94F26}" sibTransId="{0AD17A45-1E4D-4C4A-8335-E8346A125962}"/>
    <dgm:cxn modelId="{24E61B5B-D3E9-42BC-9EFF-02AD9F998243}" srcId="{291D5454-382E-4B29-A1DB-1933B31DFB47}" destId="{39B99554-F34A-464A-AB02-F1F7264C69A5}" srcOrd="1" destOrd="0" parTransId="{4B36EA83-985C-4F45-B2DD-750B1A177C6E}" sibTransId="{FC93E1D7-17B3-467C-8D81-30F9C8316A03}"/>
    <dgm:cxn modelId="{EB83285B-1CD8-4C3C-811F-5A6B140F4A61}" type="presOf" srcId="{4A3018F0-7D25-4A4C-91DF-24ADFD32D6D1}" destId="{208AFB81-9C49-4E39-809D-342B5626E929}" srcOrd="0" destOrd="2" presId="urn:microsoft.com/office/officeart/2005/8/layout/hProcess4"/>
    <dgm:cxn modelId="{926D045F-203E-4441-AFAD-5C6BBCA93C40}" type="presOf" srcId="{1A66924D-0B19-4D63-BF28-F24DF5ED1842}" destId="{CA88590D-E790-4434-A5EF-6B933D9B2BB1}" srcOrd="0" destOrd="0" presId="urn:microsoft.com/office/officeart/2005/8/layout/hProcess4"/>
    <dgm:cxn modelId="{8F471260-EC27-4282-B78E-7AE5836C3535}" type="presOf" srcId="{9B65B31B-6E8A-4FDF-B164-FCD86E2B104C}" destId="{FEDF83B9-EBD2-443B-8427-37884DFF2BFE}" srcOrd="0" destOrd="2" presId="urn:microsoft.com/office/officeart/2005/8/layout/hProcess4"/>
    <dgm:cxn modelId="{34F37260-FF65-4E4D-B5BB-80ED1AFD7329}" srcId="{C1BB7BE3-1AE6-42ED-92A5-B8724C887BE9}" destId="{90330127-A6FC-46B9-AD98-C54D33BD0ACD}" srcOrd="1" destOrd="0" parTransId="{E9A67E47-C13D-476A-BF4E-0994B2214294}" sibTransId="{EBF534CC-A0F7-492C-820B-A6C92FABE825}"/>
    <dgm:cxn modelId="{194A4665-4410-48BD-86DF-71E8EBFE75F8}" type="presOf" srcId="{04953C38-F616-41A3-877E-BF3288FEAE68}" destId="{FEDF83B9-EBD2-443B-8427-37884DFF2BFE}" srcOrd="0" destOrd="5" presId="urn:microsoft.com/office/officeart/2005/8/layout/hProcess4"/>
    <dgm:cxn modelId="{522EB965-9820-4B2F-A5B2-32FB4DA81CB1}" srcId="{4A3018F0-7D25-4A4C-91DF-24ADFD32D6D1}" destId="{770DBDA5-E352-4C31-8712-EF689A51E69C}" srcOrd="3" destOrd="0" parTransId="{6340EB74-9A92-4195-B3C3-47374AF6FADD}" sibTransId="{407A29C3-AF3A-4BFB-B3E3-98DAF201C573}"/>
    <dgm:cxn modelId="{BB1B6E67-B4F5-44C1-A23E-41AD4916E420}" srcId="{39B99554-F34A-464A-AB02-F1F7264C69A5}" destId="{04953C38-F616-41A3-877E-BF3288FEAE68}" srcOrd="3" destOrd="0" parTransId="{6CE7D184-F204-44E5-A007-5B22DCF849DE}" sibTransId="{5A5AAE1A-3894-4AE6-BD5E-E48D1154C055}"/>
    <dgm:cxn modelId="{9D3DB773-7287-4682-ACEB-54E1BDB89749}" type="presOf" srcId="{FC1955E4-9000-492B-ADC2-3892432ADB41}" destId="{208AFB81-9C49-4E39-809D-342B5626E929}" srcOrd="0" destOrd="5" presId="urn:microsoft.com/office/officeart/2005/8/layout/hProcess4"/>
    <dgm:cxn modelId="{E5CA2156-62FD-4162-BF47-6060542E9061}" type="presOf" srcId="{90330127-A6FC-46B9-AD98-C54D33BD0ACD}" destId="{208AFB81-9C49-4E39-809D-342B5626E929}" srcOrd="0" destOrd="1" presId="urn:microsoft.com/office/officeart/2005/8/layout/hProcess4"/>
    <dgm:cxn modelId="{77507959-CC5E-4414-AB5F-41810B23DA0A}" srcId="{4A3018F0-7D25-4A4C-91DF-24ADFD32D6D1}" destId="{B9E875FC-44C4-44CB-8936-9F0253E8C32D}" srcOrd="0" destOrd="0" parTransId="{CF4E992F-EB67-4609-BA23-9B7F867A9CF6}" sibTransId="{8A94C2BD-7C88-4123-AB3C-EEA70BF2E6A6}"/>
    <dgm:cxn modelId="{FDF2A05A-0D87-40FD-813A-1602E6D481A3}" type="presOf" srcId="{770DBDA5-E352-4C31-8712-EF689A51E69C}" destId="{8D06E90C-9165-4AE4-9F36-F1C4FD36D273}" srcOrd="1" destOrd="6" presId="urn:microsoft.com/office/officeart/2005/8/layout/hProcess4"/>
    <dgm:cxn modelId="{DDF4BA80-F010-4B25-96A7-045C366935F4}" type="presOf" srcId="{5953510C-470F-4877-A0F8-35B0CB75508B}" destId="{19C1E7BD-512E-493A-B7A5-3317B68D54FF}" srcOrd="1" destOrd="1" presId="urn:microsoft.com/office/officeart/2005/8/layout/hProcess4"/>
    <dgm:cxn modelId="{46271488-B887-43D0-B870-E066CCC5F9D1}" type="presOf" srcId="{712FFD9F-40A7-4ED0-AB3E-000F5DA109C3}" destId="{C919C95B-C145-48DB-9EC1-8FA91298B162}" srcOrd="0" destOrd="0" presId="urn:microsoft.com/office/officeart/2005/8/layout/hProcess4"/>
    <dgm:cxn modelId="{8B254789-4B55-4F4B-80D7-83BC39C48771}" type="presOf" srcId="{AABE9649-B2A3-4966-8D0A-4F3B03F06EA4}" destId="{323ADCC7-D991-4817-816C-CACB5539B241}" srcOrd="0" destOrd="0" presId="urn:microsoft.com/office/officeart/2005/8/layout/hProcess4"/>
    <dgm:cxn modelId="{0897E590-B1A1-4FDB-B0D2-63109F74C497}" type="presOf" srcId="{E3614C20-3CB6-4368-BA64-08B87C889F99}" destId="{135C9C07-9B2D-4B08-BFFC-DEE7356F8792}" srcOrd="1" destOrd="0" presId="urn:microsoft.com/office/officeart/2005/8/layout/hProcess4"/>
    <dgm:cxn modelId="{EBDC8192-FAB2-461D-92B5-4F2D40412EEE}" srcId="{39B99554-F34A-464A-AB02-F1F7264C69A5}" destId="{7A473DDC-A23E-4701-9467-3F506F6E7369}" srcOrd="1" destOrd="0" parTransId="{1E8A97EE-D075-4B76-9FA6-665C6D3A3A26}" sibTransId="{95FA8BAC-EBDA-48B2-91BE-7DD0764BDE1C}"/>
    <dgm:cxn modelId="{565EC598-5804-47CC-A667-F648A5F09150}" srcId="{4A3018F0-7D25-4A4C-91DF-24ADFD32D6D1}" destId="{F288B5F5-31F5-486A-83E3-D97AC26DDD9D}" srcOrd="1" destOrd="0" parTransId="{8E8AD63C-6F2B-4BA9-A909-B97D9D25183F}" sibTransId="{C2EB2E24-EE02-4BC0-9E48-6A1FBC79A3C2}"/>
    <dgm:cxn modelId="{F0EECD99-8C06-4928-83AF-894D885BADF5}" srcId="{1A66924D-0B19-4D63-BF28-F24DF5ED1842}" destId="{AABE9649-B2A3-4966-8D0A-4F3B03F06EA4}" srcOrd="0" destOrd="0" parTransId="{33B282F4-A68D-47C4-93FA-F543AAAABDB0}" sibTransId="{4AE7CD40-2AD8-40DB-8A76-85832B963D1A}"/>
    <dgm:cxn modelId="{24A5AC9A-127C-4582-AF23-5FB10E8B2B10}" srcId="{291D5454-382E-4B29-A1DB-1933B31DFB47}" destId="{E3614C20-3CB6-4368-BA64-08B87C889F99}" srcOrd="0" destOrd="0" parTransId="{F4FC5A74-6130-41E4-9082-A46332D84616}" sibTransId="{0C9C1AAC-82E4-4B49-951E-59DBE071F7AC}"/>
    <dgm:cxn modelId="{2C30DBAC-B991-4E1D-8DCA-0F15A5E4B218}" type="presOf" srcId="{5953510C-470F-4877-A0F8-35B0CB75508B}" destId="{323ADCC7-D991-4817-816C-CACB5539B241}" srcOrd="0" destOrd="1" presId="urn:microsoft.com/office/officeart/2005/8/layout/hProcess4"/>
    <dgm:cxn modelId="{DFE7F1AF-197E-405B-AC3B-6141249C54D5}" type="presOf" srcId="{C1BB7BE3-1AE6-42ED-92A5-B8724C887BE9}" destId="{3ED47477-1A30-45C3-9BB4-5A10DE3684B7}" srcOrd="0" destOrd="0" presId="urn:microsoft.com/office/officeart/2005/8/layout/hProcess4"/>
    <dgm:cxn modelId="{0E80AEB0-5574-4546-A2A2-2F4A42825BB3}" type="presOf" srcId="{04953C38-F616-41A3-877E-BF3288FEAE68}" destId="{135C9C07-9B2D-4B08-BFFC-DEE7356F8792}" srcOrd="1" destOrd="5" presId="urn:microsoft.com/office/officeart/2005/8/layout/hProcess4"/>
    <dgm:cxn modelId="{F28964B3-30F5-444A-A86B-1D216DC96E16}" type="presOf" srcId="{26EAE18C-28B8-4F69-881C-8436661704D0}" destId="{FEDF83B9-EBD2-443B-8427-37884DFF2BFE}" srcOrd="0" destOrd="4" presId="urn:microsoft.com/office/officeart/2005/8/layout/hProcess4"/>
    <dgm:cxn modelId="{A4D425B4-5907-4BD9-B52D-BF92E1D6B863}" type="presOf" srcId="{39B99554-F34A-464A-AB02-F1F7264C69A5}" destId="{135C9C07-9B2D-4B08-BFFC-DEE7356F8792}" srcOrd="1" destOrd="1" presId="urn:microsoft.com/office/officeart/2005/8/layout/hProcess4"/>
    <dgm:cxn modelId="{8B877DBA-0AAC-4336-8C58-AF905A73991C}" type="presOf" srcId="{F288B5F5-31F5-486A-83E3-D97AC26DDD9D}" destId="{8D06E90C-9165-4AE4-9F36-F1C4FD36D273}" srcOrd="1" destOrd="4" presId="urn:microsoft.com/office/officeart/2005/8/layout/hProcess4"/>
    <dgm:cxn modelId="{F2EE8ABD-D37C-4D5D-9739-2424EECF33A9}" type="presOf" srcId="{9B65B31B-6E8A-4FDF-B164-FCD86E2B104C}" destId="{135C9C07-9B2D-4B08-BFFC-DEE7356F8792}" srcOrd="1" destOrd="2" presId="urn:microsoft.com/office/officeart/2005/8/layout/hProcess4"/>
    <dgm:cxn modelId="{B58893C0-0026-4298-BC26-51673FFF29AF}" type="presOf" srcId="{B9E875FC-44C4-44CB-8936-9F0253E8C32D}" destId="{8D06E90C-9165-4AE4-9F36-F1C4FD36D273}" srcOrd="1" destOrd="3" presId="urn:microsoft.com/office/officeart/2005/8/layout/hProcess4"/>
    <dgm:cxn modelId="{516992D2-4ADC-45E8-B759-ED3D5022DC64}" srcId="{C1BB7BE3-1AE6-42ED-92A5-B8724C887BE9}" destId="{4A3018F0-7D25-4A4C-91DF-24ADFD32D6D1}" srcOrd="2" destOrd="0" parTransId="{648F6305-8E34-4162-9AAD-EFEAAEABE2FA}" sibTransId="{F69FB457-1FEC-4A49-9EB2-81E304315664}"/>
    <dgm:cxn modelId="{0FA7E5D4-C130-4A54-A6E0-B8D772C78F32}" type="presOf" srcId="{B9E875FC-44C4-44CB-8936-9F0253E8C32D}" destId="{208AFB81-9C49-4E39-809D-342B5626E929}" srcOrd="0" destOrd="3" presId="urn:microsoft.com/office/officeart/2005/8/layout/hProcess4"/>
    <dgm:cxn modelId="{6B8BA7D6-9F63-403F-89F9-7EFD02EDFF77}" srcId="{39B99554-F34A-464A-AB02-F1F7264C69A5}" destId="{9B65B31B-6E8A-4FDF-B164-FCD86E2B104C}" srcOrd="0" destOrd="0" parTransId="{9B7E1543-D651-41BA-9EE2-087AA256CA48}" sibTransId="{AC1A7968-8A21-471B-90BA-0DC7DC0885E9}"/>
    <dgm:cxn modelId="{993C8FDB-DCDC-45BC-8072-0AB20737021F}" type="presOf" srcId="{770DBDA5-E352-4C31-8712-EF689A51E69C}" destId="{208AFB81-9C49-4E39-809D-342B5626E929}" srcOrd="0" destOrd="6" presId="urn:microsoft.com/office/officeart/2005/8/layout/hProcess4"/>
    <dgm:cxn modelId="{74AFB5DF-45A9-4F50-BDE4-3880187EFA5A}" type="presOf" srcId="{AABE9649-B2A3-4966-8D0A-4F3B03F06EA4}" destId="{19C1E7BD-512E-493A-B7A5-3317B68D54FF}" srcOrd="1" destOrd="0" presId="urn:microsoft.com/office/officeart/2005/8/layout/hProcess4"/>
    <dgm:cxn modelId="{F30572E1-DF6B-410E-B61B-659E2D67F58C}" srcId="{39B99554-F34A-464A-AB02-F1F7264C69A5}" destId="{26EAE18C-28B8-4F69-881C-8436661704D0}" srcOrd="2" destOrd="0" parTransId="{75582CEB-432C-42DD-9CFD-DACE5AC79B69}" sibTransId="{66F42E65-FAEA-4BED-861C-D19717091431}"/>
    <dgm:cxn modelId="{BD60FCE3-8075-4E1A-95AD-04C69E5B9A43}" type="presOf" srcId="{7A473DDC-A23E-4701-9467-3F506F6E7369}" destId="{FEDF83B9-EBD2-443B-8427-37884DFF2BFE}" srcOrd="0" destOrd="3" presId="urn:microsoft.com/office/officeart/2005/8/layout/hProcess4"/>
    <dgm:cxn modelId="{67569FE5-6144-49DE-B7F0-04EEC4711FBC}" srcId="{F9B3111F-C7D1-4BAF-ADE0-E8D21A1DC4B4}" destId="{1A66924D-0B19-4D63-BF28-F24DF5ED1842}" srcOrd="2" destOrd="0" parTransId="{0E5A30C2-0009-4CEE-90B6-D264207D607D}" sibTransId="{FB16AA82-3B6F-4534-A4C9-FCC95A398726}"/>
    <dgm:cxn modelId="{ED2FA0E6-6D07-40BA-906C-6E0F13AA5E02}" type="presOf" srcId="{FC1955E4-9000-492B-ADC2-3892432ADB41}" destId="{8D06E90C-9165-4AE4-9F36-F1C4FD36D273}" srcOrd="1" destOrd="5" presId="urn:microsoft.com/office/officeart/2005/8/layout/hProcess4"/>
    <dgm:cxn modelId="{A05887E8-D62E-4EDC-8C2E-8AD98FE70276}" srcId="{F9B3111F-C7D1-4BAF-ADE0-E8D21A1DC4B4}" destId="{C1BB7BE3-1AE6-42ED-92A5-B8724C887BE9}" srcOrd="0" destOrd="0" parTransId="{9140D4B7-DA02-4343-9A6C-42D9B3180DBB}" sibTransId="{951062C3-868A-4137-BD60-E284BDAE99FC}"/>
    <dgm:cxn modelId="{4F9708E9-559D-486A-BA13-67EF701C3C0F}" type="presOf" srcId="{4A3018F0-7D25-4A4C-91DF-24ADFD32D6D1}" destId="{8D06E90C-9165-4AE4-9F36-F1C4FD36D273}" srcOrd="1" destOrd="2" presId="urn:microsoft.com/office/officeart/2005/8/layout/hProcess4"/>
    <dgm:cxn modelId="{F6278FE9-046D-46BC-AC86-3DB2D204B1B9}" type="presOf" srcId="{26EAE18C-28B8-4F69-881C-8436661704D0}" destId="{135C9C07-9B2D-4B08-BFFC-DEE7356F8792}" srcOrd="1" destOrd="4" presId="urn:microsoft.com/office/officeart/2005/8/layout/hProcess4"/>
    <dgm:cxn modelId="{3F5122F9-139F-43FB-9ACA-EAEA465FF118}" type="presOf" srcId="{291D5454-382E-4B29-A1DB-1933B31DFB47}" destId="{BCE6355D-6690-4096-84B4-683A90DC815F}" srcOrd="0" destOrd="0" presId="urn:microsoft.com/office/officeart/2005/8/layout/hProcess4"/>
    <dgm:cxn modelId="{04D523FA-3C6E-46FC-9251-E93AB8F564C1}" type="presOf" srcId="{E3614C20-3CB6-4368-BA64-08B87C889F99}" destId="{FEDF83B9-EBD2-443B-8427-37884DFF2BFE}" srcOrd="0" destOrd="0" presId="urn:microsoft.com/office/officeart/2005/8/layout/hProcess4"/>
    <dgm:cxn modelId="{02D0EDFC-7E37-414C-8C7E-9FBE3FC3626D}" type="presOf" srcId="{F9B3111F-C7D1-4BAF-ADE0-E8D21A1DC4B4}" destId="{64A1E8AE-9C2D-4902-A360-DE422B063FF6}" srcOrd="0" destOrd="0" presId="urn:microsoft.com/office/officeart/2005/8/layout/hProcess4"/>
    <dgm:cxn modelId="{CB62AC03-24B9-426F-B06E-13802C84D46B}" type="presParOf" srcId="{64A1E8AE-9C2D-4902-A360-DE422B063FF6}" destId="{AD88FFF9-5F44-4DCE-BF6D-F9C662DCE206}" srcOrd="0" destOrd="0" presId="urn:microsoft.com/office/officeart/2005/8/layout/hProcess4"/>
    <dgm:cxn modelId="{6E3A4780-1AC5-434D-AE4A-ACA02AA9AF9F}" type="presParOf" srcId="{64A1E8AE-9C2D-4902-A360-DE422B063FF6}" destId="{C1D446AB-E90D-4E8C-ADE5-FB7B9CF3DC5E}" srcOrd="1" destOrd="0" presId="urn:microsoft.com/office/officeart/2005/8/layout/hProcess4"/>
    <dgm:cxn modelId="{A634BCA4-CB67-4B8D-9719-E21D852BABA4}" type="presParOf" srcId="{64A1E8AE-9C2D-4902-A360-DE422B063FF6}" destId="{082858DA-B6B4-43DD-B575-F683F447C3E7}" srcOrd="2" destOrd="0" presId="urn:microsoft.com/office/officeart/2005/8/layout/hProcess4"/>
    <dgm:cxn modelId="{DCB563B6-8F14-4869-9A6F-DB6A4B640C3A}" type="presParOf" srcId="{082858DA-B6B4-43DD-B575-F683F447C3E7}" destId="{7765A3EE-C20B-47F3-A300-4A21109150C9}" srcOrd="0" destOrd="0" presId="urn:microsoft.com/office/officeart/2005/8/layout/hProcess4"/>
    <dgm:cxn modelId="{521FF64E-2CE0-42CD-99BC-3BEFCDB7A401}" type="presParOf" srcId="{7765A3EE-C20B-47F3-A300-4A21109150C9}" destId="{C278FAE1-52D2-40FF-962C-5A2D97EF97F0}" srcOrd="0" destOrd="0" presId="urn:microsoft.com/office/officeart/2005/8/layout/hProcess4"/>
    <dgm:cxn modelId="{965CF066-63DC-4E0D-83A8-DFC68C4FD646}" type="presParOf" srcId="{7765A3EE-C20B-47F3-A300-4A21109150C9}" destId="{208AFB81-9C49-4E39-809D-342B5626E929}" srcOrd="1" destOrd="0" presId="urn:microsoft.com/office/officeart/2005/8/layout/hProcess4"/>
    <dgm:cxn modelId="{4ED04BE1-403F-466D-837A-377F52BB3DB2}" type="presParOf" srcId="{7765A3EE-C20B-47F3-A300-4A21109150C9}" destId="{8D06E90C-9165-4AE4-9F36-F1C4FD36D273}" srcOrd="2" destOrd="0" presId="urn:microsoft.com/office/officeart/2005/8/layout/hProcess4"/>
    <dgm:cxn modelId="{81D9872A-BFD7-4646-96F2-215880A85B02}" type="presParOf" srcId="{7765A3EE-C20B-47F3-A300-4A21109150C9}" destId="{3ED47477-1A30-45C3-9BB4-5A10DE3684B7}" srcOrd="3" destOrd="0" presId="urn:microsoft.com/office/officeart/2005/8/layout/hProcess4"/>
    <dgm:cxn modelId="{82A4C0D0-E8A3-46DC-B932-81078C4AF34E}" type="presParOf" srcId="{7765A3EE-C20B-47F3-A300-4A21109150C9}" destId="{879F13AD-9510-45E0-AD70-E1B87FC5A96C}" srcOrd="4" destOrd="0" presId="urn:microsoft.com/office/officeart/2005/8/layout/hProcess4"/>
    <dgm:cxn modelId="{FF9981D5-518B-473F-ADB8-50953C3118C2}" type="presParOf" srcId="{082858DA-B6B4-43DD-B575-F683F447C3E7}" destId="{08DD75CA-136B-45E6-9EDA-5121DCF5FFC2}" srcOrd="1" destOrd="0" presId="urn:microsoft.com/office/officeart/2005/8/layout/hProcess4"/>
    <dgm:cxn modelId="{EE869997-7400-4E52-9436-4F285B9AFA74}" type="presParOf" srcId="{082858DA-B6B4-43DD-B575-F683F447C3E7}" destId="{1CB49022-EDCE-48E4-905C-56852518717D}" srcOrd="2" destOrd="0" presId="urn:microsoft.com/office/officeart/2005/8/layout/hProcess4"/>
    <dgm:cxn modelId="{599F3115-7353-401E-B298-1871764B1F0C}" type="presParOf" srcId="{1CB49022-EDCE-48E4-905C-56852518717D}" destId="{6F213261-AE3E-49D1-9DA3-D15A361D4775}" srcOrd="0" destOrd="0" presId="urn:microsoft.com/office/officeart/2005/8/layout/hProcess4"/>
    <dgm:cxn modelId="{FE30F1EA-CCAB-4262-B19E-672699A7DF3C}" type="presParOf" srcId="{1CB49022-EDCE-48E4-905C-56852518717D}" destId="{FEDF83B9-EBD2-443B-8427-37884DFF2BFE}" srcOrd="1" destOrd="0" presId="urn:microsoft.com/office/officeart/2005/8/layout/hProcess4"/>
    <dgm:cxn modelId="{14B2635E-B22C-4C89-95F5-D978E3182805}" type="presParOf" srcId="{1CB49022-EDCE-48E4-905C-56852518717D}" destId="{135C9C07-9B2D-4B08-BFFC-DEE7356F8792}" srcOrd="2" destOrd="0" presId="urn:microsoft.com/office/officeart/2005/8/layout/hProcess4"/>
    <dgm:cxn modelId="{9C42452C-A86F-446B-8553-FBCA93A37AC4}" type="presParOf" srcId="{1CB49022-EDCE-48E4-905C-56852518717D}" destId="{BCE6355D-6690-4096-84B4-683A90DC815F}" srcOrd="3" destOrd="0" presId="urn:microsoft.com/office/officeart/2005/8/layout/hProcess4"/>
    <dgm:cxn modelId="{BFDB3052-8962-4841-B50A-7E30AD3AECD5}" type="presParOf" srcId="{1CB49022-EDCE-48E4-905C-56852518717D}" destId="{0D4A9A55-5CF3-4626-8D97-BB4330D28FC8}" srcOrd="4" destOrd="0" presId="urn:microsoft.com/office/officeart/2005/8/layout/hProcess4"/>
    <dgm:cxn modelId="{A47FFCF3-849F-4744-9F61-226FB1BA0AF0}" type="presParOf" srcId="{082858DA-B6B4-43DD-B575-F683F447C3E7}" destId="{C919C95B-C145-48DB-9EC1-8FA91298B162}" srcOrd="3" destOrd="0" presId="urn:microsoft.com/office/officeart/2005/8/layout/hProcess4"/>
    <dgm:cxn modelId="{5FF96688-6960-436A-BA53-687DC728BBCB}" type="presParOf" srcId="{082858DA-B6B4-43DD-B575-F683F447C3E7}" destId="{5E629A34-DFDE-4795-A303-7C5DF632E4C5}" srcOrd="4" destOrd="0" presId="urn:microsoft.com/office/officeart/2005/8/layout/hProcess4"/>
    <dgm:cxn modelId="{823A8DD6-AE19-46D7-ADB7-0B124C00492C}" type="presParOf" srcId="{5E629A34-DFDE-4795-A303-7C5DF632E4C5}" destId="{B05D222D-8F43-4A5E-A6F6-B09EC2088AF3}" srcOrd="0" destOrd="0" presId="urn:microsoft.com/office/officeart/2005/8/layout/hProcess4"/>
    <dgm:cxn modelId="{E0B03058-A158-4FF2-A50B-471399E57195}" type="presParOf" srcId="{5E629A34-DFDE-4795-A303-7C5DF632E4C5}" destId="{323ADCC7-D991-4817-816C-CACB5539B241}" srcOrd="1" destOrd="0" presId="urn:microsoft.com/office/officeart/2005/8/layout/hProcess4"/>
    <dgm:cxn modelId="{D2F7DA28-35B5-4467-8129-183CCDD909E2}" type="presParOf" srcId="{5E629A34-DFDE-4795-A303-7C5DF632E4C5}" destId="{19C1E7BD-512E-493A-B7A5-3317B68D54FF}" srcOrd="2" destOrd="0" presId="urn:microsoft.com/office/officeart/2005/8/layout/hProcess4"/>
    <dgm:cxn modelId="{331BDA94-7ED8-4F33-B464-ECEBF622C9A6}" type="presParOf" srcId="{5E629A34-DFDE-4795-A303-7C5DF632E4C5}" destId="{CA88590D-E790-4434-A5EF-6B933D9B2BB1}" srcOrd="3" destOrd="0" presId="urn:microsoft.com/office/officeart/2005/8/layout/hProcess4"/>
    <dgm:cxn modelId="{98135D35-EF91-44AE-B2FC-C2BB4DE8DD71}" type="presParOf" srcId="{5E629A34-DFDE-4795-A303-7C5DF632E4C5}" destId="{1449F0B2-597B-4DB3-804E-BE4A6D06A972}" srcOrd="4" destOrd="0" presId="urn:microsoft.com/office/officeart/2005/8/layout/h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9B3111F-C7D1-4BAF-ADE0-E8D21A1DC4B4}" type="doc">
      <dgm:prSet loTypeId="urn:microsoft.com/office/officeart/2005/8/layout/hProcess4" loCatId="process" qsTypeId="urn:microsoft.com/office/officeart/2005/8/quickstyle/simple1" qsCatId="simple" csTypeId="urn:microsoft.com/office/officeart/2005/8/colors/accent1_2" csCatId="accent1" phldr="1"/>
      <dgm:spPr/>
      <dgm:t>
        <a:bodyPr/>
        <a:lstStyle/>
        <a:p>
          <a:endParaRPr lang="en-US"/>
        </a:p>
      </dgm:t>
    </dgm:pt>
    <dgm:pt modelId="{C1BB7BE3-1AE6-42ED-92A5-B8724C887BE9}">
      <dgm:prSet phldrT="[Text]" custT="1"/>
      <dgm:spPr/>
      <dgm:t>
        <a:bodyPr/>
        <a:lstStyle/>
        <a:p>
          <a:r>
            <a:rPr lang="en-US" sz="1800" dirty="0"/>
            <a:t>Pre-Processing</a:t>
          </a:r>
        </a:p>
      </dgm:t>
    </dgm:pt>
    <dgm:pt modelId="{9140D4B7-DA02-4343-9A6C-42D9B3180DBB}" type="parTrans" cxnId="{A05887E8-D62E-4EDC-8C2E-8AD98FE70276}">
      <dgm:prSet/>
      <dgm:spPr/>
      <dgm:t>
        <a:bodyPr/>
        <a:lstStyle/>
        <a:p>
          <a:endParaRPr lang="en-US"/>
        </a:p>
      </dgm:t>
    </dgm:pt>
    <dgm:pt modelId="{951062C3-868A-4137-BD60-E284BDAE99FC}" type="sibTrans" cxnId="{A05887E8-D62E-4EDC-8C2E-8AD98FE70276}">
      <dgm:prSet/>
      <dgm:spPr/>
      <dgm:t>
        <a:bodyPr/>
        <a:lstStyle/>
        <a:p>
          <a:endParaRPr lang="en-US"/>
        </a:p>
      </dgm:t>
    </dgm:pt>
    <dgm:pt modelId="{697F60E2-ECD6-480D-BCBA-236D7F84C52F}">
      <dgm:prSet phldrT="[Text]" custT="1"/>
      <dgm:spPr/>
      <dgm:t>
        <a:bodyPr/>
        <a:lstStyle/>
        <a:p>
          <a:pPr>
            <a:buFont typeface="Arial"/>
            <a:buChar char="•"/>
          </a:pPr>
          <a:r>
            <a:rPr lang="en-US" sz="1200" b="1" dirty="0">
              <a:solidFill>
                <a:srgbClr val="000000"/>
              </a:solidFill>
              <a:latin typeface="Canva Sans"/>
              <a:ea typeface="Canva Sans"/>
              <a:cs typeface="Canva Sans"/>
              <a:sym typeface="Canva Sans"/>
            </a:rPr>
            <a:t>Materials</a:t>
          </a:r>
          <a:r>
            <a:rPr lang="en-US" sz="1200" dirty="0">
              <a:solidFill>
                <a:srgbClr val="000000"/>
              </a:solidFill>
              <a:latin typeface="Canva Sans"/>
              <a:ea typeface="Canva Sans"/>
              <a:cs typeface="Canva Sans"/>
              <a:sym typeface="Canva Sans"/>
            </a:rPr>
            <a:t>: Carbon Fiber (230 GPa) and ABS Plastic (High Impact)</a:t>
          </a:r>
          <a:endParaRPr lang="en-US" sz="1200" dirty="0"/>
        </a:p>
      </dgm:t>
    </dgm:pt>
    <dgm:pt modelId="{4E80E91B-9A59-4C24-B4D9-F3E43131A91F}" type="parTrans" cxnId="{83A42120-CE90-48E0-909E-4DC147F6E710}">
      <dgm:prSet/>
      <dgm:spPr/>
      <dgm:t>
        <a:bodyPr/>
        <a:lstStyle/>
        <a:p>
          <a:endParaRPr lang="en-US"/>
        </a:p>
      </dgm:t>
    </dgm:pt>
    <dgm:pt modelId="{D8995AA9-E7A9-47A6-A470-CA9D1363D89C}" type="sibTrans" cxnId="{83A42120-CE90-48E0-909E-4DC147F6E710}">
      <dgm:prSet/>
      <dgm:spPr/>
      <dgm:t>
        <a:bodyPr/>
        <a:lstStyle/>
        <a:p>
          <a:endParaRPr lang="en-US"/>
        </a:p>
      </dgm:t>
    </dgm:pt>
    <dgm:pt modelId="{291D5454-382E-4B29-A1DB-1933B31DFB47}">
      <dgm:prSet phldrT="[Text]" custT="1"/>
      <dgm:spPr/>
      <dgm:t>
        <a:bodyPr/>
        <a:lstStyle/>
        <a:p>
          <a:r>
            <a:rPr lang="en-US" sz="1800" dirty="0"/>
            <a:t>Processing</a:t>
          </a:r>
        </a:p>
      </dgm:t>
    </dgm:pt>
    <dgm:pt modelId="{7006CE3F-72F0-407B-B0EC-946E52004169}" type="parTrans" cxnId="{CAE0F421-9DA6-46BD-8D73-C29CA835BBEB}">
      <dgm:prSet/>
      <dgm:spPr/>
      <dgm:t>
        <a:bodyPr/>
        <a:lstStyle/>
        <a:p>
          <a:endParaRPr lang="en-US"/>
        </a:p>
      </dgm:t>
    </dgm:pt>
    <dgm:pt modelId="{712FFD9F-40A7-4ED0-AB3E-000F5DA109C3}" type="sibTrans" cxnId="{CAE0F421-9DA6-46BD-8D73-C29CA835BBEB}">
      <dgm:prSet/>
      <dgm:spPr/>
      <dgm:t>
        <a:bodyPr/>
        <a:lstStyle/>
        <a:p>
          <a:endParaRPr lang="en-US"/>
        </a:p>
      </dgm:t>
    </dgm:pt>
    <dgm:pt modelId="{E3614C20-3CB6-4368-BA64-08B87C889F99}">
      <dgm:prSet phldrT="[Text]" custT="1"/>
      <dgm:spPr/>
      <dgm:t>
        <a:bodyPr/>
        <a:lstStyle/>
        <a:p>
          <a:pPr>
            <a:buFont typeface="Arial"/>
            <a:buChar char="•"/>
          </a:pPr>
          <a:r>
            <a:rPr lang="en-US" sz="1200" b="1" dirty="0">
              <a:solidFill>
                <a:srgbClr val="000000"/>
              </a:solidFill>
              <a:latin typeface="Canva Sans"/>
              <a:ea typeface="Canva Sans"/>
              <a:cs typeface="Canva Sans"/>
              <a:sym typeface="Canva Sans"/>
            </a:rPr>
            <a:t>Boundary Conditions</a:t>
          </a:r>
          <a:r>
            <a:rPr lang="en-US" sz="1200" dirty="0">
              <a:solidFill>
                <a:srgbClr val="000000"/>
              </a:solidFill>
              <a:latin typeface="Canva Sans"/>
              <a:ea typeface="Canva Sans"/>
              <a:cs typeface="Canva Sans"/>
              <a:sym typeface="Canva Sans"/>
            </a:rPr>
            <a:t>: Base of landing gears fixed</a:t>
          </a:r>
          <a:endParaRPr lang="en-US" sz="1200" dirty="0"/>
        </a:p>
      </dgm:t>
    </dgm:pt>
    <dgm:pt modelId="{F4FC5A74-6130-41E4-9082-A46332D84616}" type="parTrans" cxnId="{24A5AC9A-127C-4582-AF23-5FB10E8B2B10}">
      <dgm:prSet/>
      <dgm:spPr/>
      <dgm:t>
        <a:bodyPr/>
        <a:lstStyle/>
        <a:p>
          <a:endParaRPr lang="en-US"/>
        </a:p>
      </dgm:t>
    </dgm:pt>
    <dgm:pt modelId="{0C9C1AAC-82E4-4B49-951E-59DBE071F7AC}" type="sibTrans" cxnId="{24A5AC9A-127C-4582-AF23-5FB10E8B2B10}">
      <dgm:prSet/>
      <dgm:spPr/>
      <dgm:t>
        <a:bodyPr/>
        <a:lstStyle/>
        <a:p>
          <a:endParaRPr lang="en-US"/>
        </a:p>
      </dgm:t>
    </dgm:pt>
    <dgm:pt modelId="{1A66924D-0B19-4D63-BF28-F24DF5ED1842}">
      <dgm:prSet phldrT="[Text]" custT="1"/>
      <dgm:spPr/>
      <dgm:t>
        <a:bodyPr/>
        <a:lstStyle/>
        <a:p>
          <a:r>
            <a:rPr lang="en-US" sz="1800" dirty="0"/>
            <a:t>Results</a:t>
          </a:r>
        </a:p>
      </dgm:t>
    </dgm:pt>
    <dgm:pt modelId="{0E5A30C2-0009-4CEE-90B6-D264207D607D}" type="parTrans" cxnId="{67569FE5-6144-49DE-B7F0-04EEC4711FBC}">
      <dgm:prSet/>
      <dgm:spPr/>
      <dgm:t>
        <a:bodyPr/>
        <a:lstStyle/>
        <a:p>
          <a:endParaRPr lang="en-US"/>
        </a:p>
      </dgm:t>
    </dgm:pt>
    <dgm:pt modelId="{FB16AA82-3B6F-4534-A4C9-FCC95A398726}" type="sibTrans" cxnId="{67569FE5-6144-49DE-B7F0-04EEC4711FBC}">
      <dgm:prSet/>
      <dgm:spPr/>
      <dgm:t>
        <a:bodyPr/>
        <a:lstStyle/>
        <a:p>
          <a:endParaRPr lang="en-US"/>
        </a:p>
      </dgm:t>
    </dgm:pt>
    <dgm:pt modelId="{AABE9649-B2A3-4966-8D0A-4F3B03F06EA4}">
      <dgm:prSet phldrT="[Text]" custT="1"/>
      <dgm:spPr/>
      <dgm:t>
        <a:bodyPr/>
        <a:lstStyle/>
        <a:p>
          <a:r>
            <a:rPr lang="en-US" sz="1200" dirty="0">
              <a:solidFill>
                <a:srgbClr val="000000"/>
              </a:solidFill>
              <a:latin typeface="Canva Sans"/>
              <a:ea typeface="Canva Sans"/>
              <a:cs typeface="Canva Sans"/>
              <a:sym typeface="Canva Sans"/>
            </a:rPr>
            <a:t>Identified modal frequencies; confirmed that typical operating motor RPM (&gt; 11,000 RPM) falls outside critical modal frequency ranges, ensuring safe operation without resonance-induced failure</a:t>
          </a:r>
          <a:endParaRPr lang="en-US" sz="1200" b="1" dirty="0"/>
        </a:p>
      </dgm:t>
    </dgm:pt>
    <dgm:pt modelId="{33B282F4-A68D-47C4-93FA-F543AAAABDB0}" type="parTrans" cxnId="{F0EECD99-8C06-4928-83AF-894D885BADF5}">
      <dgm:prSet/>
      <dgm:spPr/>
      <dgm:t>
        <a:bodyPr/>
        <a:lstStyle/>
        <a:p>
          <a:endParaRPr lang="en-US"/>
        </a:p>
      </dgm:t>
    </dgm:pt>
    <dgm:pt modelId="{4AE7CD40-2AD8-40DB-8A76-85832B963D1A}" type="sibTrans" cxnId="{F0EECD99-8C06-4928-83AF-894D885BADF5}">
      <dgm:prSet/>
      <dgm:spPr/>
      <dgm:t>
        <a:bodyPr/>
        <a:lstStyle/>
        <a:p>
          <a:endParaRPr lang="en-US"/>
        </a:p>
      </dgm:t>
    </dgm:pt>
    <dgm:pt modelId="{90330127-A6FC-46B9-AD98-C54D33BD0ACD}">
      <dgm:prSet custT="1"/>
      <dgm:spPr/>
      <dgm:t>
        <a:bodyPr/>
        <a:lstStyle/>
        <a:p>
          <a:r>
            <a:rPr lang="en-US" sz="1200" b="1" dirty="0">
              <a:solidFill>
                <a:srgbClr val="000000"/>
              </a:solidFill>
              <a:latin typeface="Canva Sans"/>
              <a:ea typeface="Canva Sans"/>
              <a:cs typeface="Canva Sans"/>
              <a:sym typeface="Canva Sans"/>
            </a:rPr>
            <a:t>Contacts</a:t>
          </a:r>
          <a:r>
            <a:rPr lang="en-US" sz="1200" dirty="0">
              <a:solidFill>
                <a:srgbClr val="000000"/>
              </a:solidFill>
              <a:latin typeface="Canva Sans"/>
              <a:ea typeface="Canva Sans"/>
              <a:cs typeface="Canva Sans"/>
              <a:sym typeface="Canva Sans"/>
            </a:rPr>
            <a:t>: Bonded between mating surfaces</a:t>
          </a:r>
        </a:p>
      </dgm:t>
    </dgm:pt>
    <dgm:pt modelId="{E9A67E47-C13D-476A-BF4E-0994B2214294}" type="parTrans" cxnId="{34F37260-FF65-4E4D-B5BB-80ED1AFD7329}">
      <dgm:prSet/>
      <dgm:spPr/>
      <dgm:t>
        <a:bodyPr/>
        <a:lstStyle/>
        <a:p>
          <a:endParaRPr lang="en-US"/>
        </a:p>
      </dgm:t>
    </dgm:pt>
    <dgm:pt modelId="{EBF534CC-A0F7-492C-820B-A6C92FABE825}" type="sibTrans" cxnId="{34F37260-FF65-4E4D-B5BB-80ED1AFD7329}">
      <dgm:prSet/>
      <dgm:spPr/>
      <dgm:t>
        <a:bodyPr/>
        <a:lstStyle/>
        <a:p>
          <a:endParaRPr lang="en-US"/>
        </a:p>
      </dgm:t>
    </dgm:pt>
    <dgm:pt modelId="{4A3018F0-7D25-4A4C-91DF-24ADFD32D6D1}">
      <dgm:prSet custT="1"/>
      <dgm:spPr/>
      <dgm:t>
        <a:bodyPr/>
        <a:lstStyle/>
        <a:p>
          <a:r>
            <a:rPr lang="en-US" sz="1200" b="1" dirty="0">
              <a:solidFill>
                <a:srgbClr val="000000"/>
              </a:solidFill>
              <a:latin typeface="Canva Sans"/>
              <a:ea typeface="Canva Sans"/>
              <a:cs typeface="Canva Sans"/>
              <a:sym typeface="Canva Sans"/>
            </a:rPr>
            <a:t>Mesh Details:</a:t>
          </a:r>
        </a:p>
      </dgm:t>
    </dgm:pt>
    <dgm:pt modelId="{648F6305-8E34-4162-9AAD-EFEAAEABE2FA}" type="parTrans" cxnId="{516992D2-4ADC-45E8-B759-ED3D5022DC64}">
      <dgm:prSet/>
      <dgm:spPr/>
      <dgm:t>
        <a:bodyPr/>
        <a:lstStyle/>
        <a:p>
          <a:endParaRPr lang="en-US"/>
        </a:p>
      </dgm:t>
    </dgm:pt>
    <dgm:pt modelId="{F69FB457-1FEC-4A49-9EB2-81E304315664}" type="sibTrans" cxnId="{516992D2-4ADC-45E8-B759-ED3D5022DC64}">
      <dgm:prSet/>
      <dgm:spPr/>
      <dgm:t>
        <a:bodyPr/>
        <a:lstStyle/>
        <a:p>
          <a:endParaRPr lang="en-US"/>
        </a:p>
      </dgm:t>
    </dgm:pt>
    <dgm:pt modelId="{B9E875FC-44C4-44CB-8936-9F0253E8C32D}">
      <dgm:prSet custT="1"/>
      <dgm:spPr/>
      <dgm:t>
        <a:bodyPr/>
        <a:lstStyle/>
        <a:p>
          <a:r>
            <a:rPr lang="en-US" sz="1200" dirty="0">
              <a:solidFill>
                <a:srgbClr val="000000"/>
              </a:solidFill>
              <a:latin typeface="Canva Sans"/>
              <a:ea typeface="Canva Sans"/>
              <a:cs typeface="Canva Sans"/>
              <a:sym typeface="Canva Sans"/>
            </a:rPr>
            <a:t>Motor mount, rotor arm, landing gear: 2 mm element size</a:t>
          </a:r>
        </a:p>
      </dgm:t>
    </dgm:pt>
    <dgm:pt modelId="{CF4E992F-EB67-4609-BA23-9B7F867A9CF6}" type="parTrans" cxnId="{77507959-CC5E-4414-AB5F-41810B23DA0A}">
      <dgm:prSet/>
      <dgm:spPr/>
      <dgm:t>
        <a:bodyPr/>
        <a:lstStyle/>
        <a:p>
          <a:endParaRPr lang="en-US"/>
        </a:p>
      </dgm:t>
    </dgm:pt>
    <dgm:pt modelId="{8A94C2BD-7C88-4123-AB3C-EEA70BF2E6A6}" type="sibTrans" cxnId="{77507959-CC5E-4414-AB5F-41810B23DA0A}">
      <dgm:prSet/>
      <dgm:spPr/>
      <dgm:t>
        <a:bodyPr/>
        <a:lstStyle/>
        <a:p>
          <a:endParaRPr lang="en-US"/>
        </a:p>
      </dgm:t>
    </dgm:pt>
    <dgm:pt modelId="{F288B5F5-31F5-486A-83E3-D97AC26DDD9D}">
      <dgm:prSet custT="1"/>
      <dgm:spPr/>
      <dgm:t>
        <a:bodyPr/>
        <a:lstStyle/>
        <a:p>
          <a:r>
            <a:rPr lang="en-US" sz="1200" dirty="0">
              <a:solidFill>
                <a:srgbClr val="000000"/>
              </a:solidFill>
              <a:latin typeface="Canva Sans"/>
              <a:ea typeface="Canva Sans"/>
              <a:cs typeface="Canva Sans"/>
              <a:sym typeface="Canva Sans"/>
            </a:rPr>
            <a:t>Central hub: 3 mm element size</a:t>
          </a:r>
        </a:p>
      </dgm:t>
    </dgm:pt>
    <dgm:pt modelId="{8E8AD63C-6F2B-4BA9-A909-B97D9D25183F}" type="parTrans" cxnId="{565EC598-5804-47CC-A667-F648A5F09150}">
      <dgm:prSet/>
      <dgm:spPr/>
      <dgm:t>
        <a:bodyPr/>
        <a:lstStyle/>
        <a:p>
          <a:endParaRPr lang="en-US"/>
        </a:p>
      </dgm:t>
    </dgm:pt>
    <dgm:pt modelId="{C2EB2E24-EE02-4BC0-9E48-6A1FBC79A3C2}" type="sibTrans" cxnId="{565EC598-5804-47CC-A667-F648A5F09150}">
      <dgm:prSet/>
      <dgm:spPr/>
      <dgm:t>
        <a:bodyPr/>
        <a:lstStyle/>
        <a:p>
          <a:endParaRPr lang="en-US"/>
        </a:p>
      </dgm:t>
    </dgm:pt>
    <dgm:pt modelId="{FC1955E4-9000-492B-ADC2-3892432ADB41}">
      <dgm:prSet custT="1"/>
      <dgm:spPr/>
      <dgm:t>
        <a:bodyPr/>
        <a:lstStyle/>
        <a:p>
          <a:r>
            <a:rPr lang="en-US" sz="1200">
              <a:solidFill>
                <a:srgbClr val="000000"/>
              </a:solidFill>
              <a:latin typeface="Canva Sans"/>
              <a:ea typeface="Canva Sans"/>
              <a:cs typeface="Canva Sans"/>
              <a:sym typeface="Canva Sans"/>
            </a:rPr>
            <a:t>Payload mechanism: 2.5 mm element size</a:t>
          </a:r>
          <a:endParaRPr lang="en-US" sz="1200" dirty="0">
            <a:solidFill>
              <a:srgbClr val="000000"/>
            </a:solidFill>
            <a:latin typeface="Canva Sans"/>
            <a:ea typeface="Canva Sans"/>
            <a:cs typeface="Canva Sans"/>
            <a:sym typeface="Canva Sans"/>
          </a:endParaRPr>
        </a:p>
      </dgm:t>
    </dgm:pt>
    <dgm:pt modelId="{3A57AF4A-1B1B-4967-83AF-F9759568BF0F}" type="parTrans" cxnId="{19AFAA18-6945-4177-94AA-A144962BD273}">
      <dgm:prSet/>
      <dgm:spPr/>
      <dgm:t>
        <a:bodyPr/>
        <a:lstStyle/>
        <a:p>
          <a:endParaRPr lang="en-US"/>
        </a:p>
      </dgm:t>
    </dgm:pt>
    <dgm:pt modelId="{0F91D5D5-AC5B-421D-A6C7-5A06A49E9E8C}" type="sibTrans" cxnId="{19AFAA18-6945-4177-94AA-A144962BD273}">
      <dgm:prSet/>
      <dgm:spPr/>
      <dgm:t>
        <a:bodyPr/>
        <a:lstStyle/>
        <a:p>
          <a:endParaRPr lang="en-US"/>
        </a:p>
      </dgm:t>
    </dgm:pt>
    <dgm:pt modelId="{770DBDA5-E352-4C31-8712-EF689A51E69C}">
      <dgm:prSet custT="1"/>
      <dgm:spPr/>
      <dgm:t>
        <a:bodyPr/>
        <a:lstStyle/>
        <a:p>
          <a:r>
            <a:rPr lang="en-US" sz="1200" dirty="0">
              <a:solidFill>
                <a:srgbClr val="000000"/>
              </a:solidFill>
              <a:latin typeface="Canva Sans"/>
              <a:ea typeface="Canva Sans"/>
              <a:cs typeface="Canva Sans"/>
              <a:sym typeface="Canva Sans"/>
            </a:rPr>
            <a:t>Element quality target: ≥ 0.20 (majority of elements meet this criterion)</a:t>
          </a:r>
        </a:p>
      </dgm:t>
    </dgm:pt>
    <dgm:pt modelId="{6340EB74-9A92-4195-B3C3-47374AF6FADD}" type="parTrans" cxnId="{522EB965-9820-4B2F-A5B2-32FB4DA81CB1}">
      <dgm:prSet/>
      <dgm:spPr/>
      <dgm:t>
        <a:bodyPr/>
        <a:lstStyle/>
        <a:p>
          <a:endParaRPr lang="en-US"/>
        </a:p>
      </dgm:t>
    </dgm:pt>
    <dgm:pt modelId="{407A29C3-AF3A-4BFB-B3E3-98DAF201C573}" type="sibTrans" cxnId="{522EB965-9820-4B2F-A5B2-32FB4DA81CB1}">
      <dgm:prSet/>
      <dgm:spPr/>
      <dgm:t>
        <a:bodyPr/>
        <a:lstStyle/>
        <a:p>
          <a:endParaRPr lang="en-US"/>
        </a:p>
      </dgm:t>
    </dgm:pt>
    <dgm:pt modelId="{39B99554-F34A-464A-AB02-F1F7264C69A5}">
      <dgm:prSet custT="1"/>
      <dgm:spPr/>
      <dgm:t>
        <a:bodyPr/>
        <a:lstStyle/>
        <a:p>
          <a:r>
            <a:rPr lang="en-US" sz="1200" dirty="0">
              <a:solidFill>
                <a:srgbClr val="000000"/>
              </a:solidFill>
              <a:latin typeface="Canva Sans"/>
              <a:ea typeface="Canva Sans"/>
              <a:cs typeface="Canva Sans"/>
              <a:sym typeface="Canva Sans"/>
            </a:rPr>
            <a:t>Computed first </a:t>
          </a:r>
          <a:r>
            <a:rPr lang="en-US" sz="1200" b="1" dirty="0">
              <a:solidFill>
                <a:srgbClr val="000000"/>
              </a:solidFill>
              <a:latin typeface="Canva Sans"/>
              <a:ea typeface="Canva Sans"/>
              <a:cs typeface="Canva Sans"/>
              <a:sym typeface="Canva Sans"/>
            </a:rPr>
            <a:t>20 natural frequencies </a:t>
          </a:r>
          <a:r>
            <a:rPr lang="en-US" sz="1200" dirty="0">
              <a:solidFill>
                <a:srgbClr val="000000"/>
              </a:solidFill>
              <a:latin typeface="Canva Sans"/>
              <a:ea typeface="Canva Sans"/>
              <a:cs typeface="Canva Sans"/>
              <a:sym typeface="Canva Sans"/>
            </a:rPr>
            <a:t>(modal frequencies) of entire structure </a:t>
          </a:r>
        </a:p>
      </dgm:t>
    </dgm:pt>
    <dgm:pt modelId="{4B36EA83-985C-4F45-B2DD-750B1A177C6E}" type="parTrans" cxnId="{24E61B5B-D3E9-42BC-9EFF-02AD9F998243}">
      <dgm:prSet/>
      <dgm:spPr/>
      <dgm:t>
        <a:bodyPr/>
        <a:lstStyle/>
        <a:p>
          <a:endParaRPr lang="en-US"/>
        </a:p>
      </dgm:t>
    </dgm:pt>
    <dgm:pt modelId="{FC93E1D7-17B3-467C-8D81-30F9C8316A03}" type="sibTrans" cxnId="{24E61B5B-D3E9-42BC-9EFF-02AD9F998243}">
      <dgm:prSet/>
      <dgm:spPr/>
      <dgm:t>
        <a:bodyPr/>
        <a:lstStyle/>
        <a:p>
          <a:endParaRPr lang="en-US"/>
        </a:p>
      </dgm:t>
    </dgm:pt>
    <dgm:pt modelId="{64A1E8AE-9C2D-4902-A360-DE422B063FF6}" type="pres">
      <dgm:prSet presAssocID="{F9B3111F-C7D1-4BAF-ADE0-E8D21A1DC4B4}" presName="Name0" presStyleCnt="0">
        <dgm:presLayoutVars>
          <dgm:dir/>
          <dgm:animLvl val="lvl"/>
          <dgm:resizeHandles val="exact"/>
        </dgm:presLayoutVars>
      </dgm:prSet>
      <dgm:spPr/>
    </dgm:pt>
    <dgm:pt modelId="{AD88FFF9-5F44-4DCE-BF6D-F9C662DCE206}" type="pres">
      <dgm:prSet presAssocID="{F9B3111F-C7D1-4BAF-ADE0-E8D21A1DC4B4}" presName="tSp" presStyleCnt="0"/>
      <dgm:spPr/>
    </dgm:pt>
    <dgm:pt modelId="{C1D446AB-E90D-4E8C-ADE5-FB7B9CF3DC5E}" type="pres">
      <dgm:prSet presAssocID="{F9B3111F-C7D1-4BAF-ADE0-E8D21A1DC4B4}" presName="bSp" presStyleCnt="0"/>
      <dgm:spPr/>
    </dgm:pt>
    <dgm:pt modelId="{082858DA-B6B4-43DD-B575-F683F447C3E7}" type="pres">
      <dgm:prSet presAssocID="{F9B3111F-C7D1-4BAF-ADE0-E8D21A1DC4B4}" presName="process" presStyleCnt="0"/>
      <dgm:spPr/>
    </dgm:pt>
    <dgm:pt modelId="{7765A3EE-C20B-47F3-A300-4A21109150C9}" type="pres">
      <dgm:prSet presAssocID="{C1BB7BE3-1AE6-42ED-92A5-B8724C887BE9}" presName="composite1" presStyleCnt="0"/>
      <dgm:spPr/>
    </dgm:pt>
    <dgm:pt modelId="{C278FAE1-52D2-40FF-962C-5A2D97EF97F0}" type="pres">
      <dgm:prSet presAssocID="{C1BB7BE3-1AE6-42ED-92A5-B8724C887BE9}" presName="dummyNode1" presStyleLbl="node1" presStyleIdx="0" presStyleCnt="3"/>
      <dgm:spPr/>
    </dgm:pt>
    <dgm:pt modelId="{208AFB81-9C49-4E39-809D-342B5626E929}" type="pres">
      <dgm:prSet presAssocID="{C1BB7BE3-1AE6-42ED-92A5-B8724C887BE9}" presName="childNode1" presStyleLbl="bgAcc1" presStyleIdx="0" presStyleCnt="3" custScaleX="107286" custScaleY="195404" custLinFactNeighborX="1840" custLinFactNeighborY="12054">
        <dgm:presLayoutVars>
          <dgm:bulletEnabled val="1"/>
        </dgm:presLayoutVars>
      </dgm:prSet>
      <dgm:spPr/>
    </dgm:pt>
    <dgm:pt modelId="{8D06E90C-9165-4AE4-9F36-F1C4FD36D273}" type="pres">
      <dgm:prSet presAssocID="{C1BB7BE3-1AE6-42ED-92A5-B8724C887BE9}" presName="childNode1tx" presStyleLbl="bgAcc1" presStyleIdx="0" presStyleCnt="3">
        <dgm:presLayoutVars>
          <dgm:bulletEnabled val="1"/>
        </dgm:presLayoutVars>
      </dgm:prSet>
      <dgm:spPr/>
    </dgm:pt>
    <dgm:pt modelId="{3ED47477-1A30-45C3-9BB4-5A10DE3684B7}" type="pres">
      <dgm:prSet presAssocID="{C1BB7BE3-1AE6-42ED-92A5-B8724C887BE9}" presName="parentNode1" presStyleLbl="node1" presStyleIdx="0" presStyleCnt="3" custScaleX="90541" custScaleY="76301" custLinFactY="26836" custLinFactNeighborX="7430" custLinFactNeighborY="100000">
        <dgm:presLayoutVars>
          <dgm:chMax val="1"/>
          <dgm:bulletEnabled val="1"/>
        </dgm:presLayoutVars>
      </dgm:prSet>
      <dgm:spPr/>
    </dgm:pt>
    <dgm:pt modelId="{879F13AD-9510-45E0-AD70-E1B87FC5A96C}" type="pres">
      <dgm:prSet presAssocID="{C1BB7BE3-1AE6-42ED-92A5-B8724C887BE9}" presName="connSite1" presStyleCnt="0"/>
      <dgm:spPr/>
    </dgm:pt>
    <dgm:pt modelId="{08DD75CA-136B-45E6-9EDA-5121DCF5FFC2}" type="pres">
      <dgm:prSet presAssocID="{951062C3-868A-4137-BD60-E284BDAE99FC}" presName="Name9" presStyleLbl="sibTrans2D1" presStyleIdx="0" presStyleCnt="2" custAng="0" custLinFactNeighborX="1372" custLinFactNeighborY="1372"/>
      <dgm:spPr/>
    </dgm:pt>
    <dgm:pt modelId="{1CB49022-EDCE-48E4-905C-56852518717D}" type="pres">
      <dgm:prSet presAssocID="{291D5454-382E-4B29-A1DB-1933B31DFB47}" presName="composite2" presStyleCnt="0"/>
      <dgm:spPr/>
    </dgm:pt>
    <dgm:pt modelId="{6F213261-AE3E-49D1-9DA3-D15A361D4775}" type="pres">
      <dgm:prSet presAssocID="{291D5454-382E-4B29-A1DB-1933B31DFB47}" presName="dummyNode2" presStyleLbl="node1" presStyleIdx="0" presStyleCnt="3"/>
      <dgm:spPr/>
    </dgm:pt>
    <dgm:pt modelId="{FEDF83B9-EBD2-443B-8427-37884DFF2BFE}" type="pres">
      <dgm:prSet presAssocID="{291D5454-382E-4B29-A1DB-1933B31DFB47}" presName="childNode2" presStyleLbl="bgAcc1" presStyleIdx="1" presStyleCnt="3" custScaleX="92159" custScaleY="115036" custLinFactNeighborX="-8383" custLinFactNeighborY="33993">
        <dgm:presLayoutVars>
          <dgm:bulletEnabled val="1"/>
        </dgm:presLayoutVars>
      </dgm:prSet>
      <dgm:spPr/>
    </dgm:pt>
    <dgm:pt modelId="{135C9C07-9B2D-4B08-BFFC-DEE7356F8792}" type="pres">
      <dgm:prSet presAssocID="{291D5454-382E-4B29-A1DB-1933B31DFB47}" presName="childNode2tx" presStyleLbl="bgAcc1" presStyleIdx="1" presStyleCnt="3">
        <dgm:presLayoutVars>
          <dgm:bulletEnabled val="1"/>
        </dgm:presLayoutVars>
      </dgm:prSet>
      <dgm:spPr/>
    </dgm:pt>
    <dgm:pt modelId="{BCE6355D-6690-4096-84B4-683A90DC815F}" type="pres">
      <dgm:prSet presAssocID="{291D5454-382E-4B29-A1DB-1933B31DFB47}" presName="parentNode2" presStyleLbl="node1" presStyleIdx="1" presStyleCnt="3" custScaleY="76301" custLinFactNeighborX="-5880" custLinFactNeighborY="86262">
        <dgm:presLayoutVars>
          <dgm:chMax val="0"/>
          <dgm:bulletEnabled val="1"/>
        </dgm:presLayoutVars>
      </dgm:prSet>
      <dgm:spPr/>
    </dgm:pt>
    <dgm:pt modelId="{0D4A9A55-5CF3-4626-8D97-BB4330D28FC8}" type="pres">
      <dgm:prSet presAssocID="{291D5454-382E-4B29-A1DB-1933B31DFB47}" presName="connSite2" presStyleCnt="0"/>
      <dgm:spPr/>
    </dgm:pt>
    <dgm:pt modelId="{C919C95B-C145-48DB-9EC1-8FA91298B162}" type="pres">
      <dgm:prSet presAssocID="{712FFD9F-40A7-4ED0-AB3E-000F5DA109C3}" presName="Name18" presStyleLbl="sibTrans2D1" presStyleIdx="1" presStyleCnt="2"/>
      <dgm:spPr/>
    </dgm:pt>
    <dgm:pt modelId="{5E629A34-DFDE-4795-A303-7C5DF632E4C5}" type="pres">
      <dgm:prSet presAssocID="{1A66924D-0B19-4D63-BF28-F24DF5ED1842}" presName="composite1" presStyleCnt="0"/>
      <dgm:spPr/>
    </dgm:pt>
    <dgm:pt modelId="{B05D222D-8F43-4A5E-A6F6-B09EC2088AF3}" type="pres">
      <dgm:prSet presAssocID="{1A66924D-0B19-4D63-BF28-F24DF5ED1842}" presName="dummyNode1" presStyleLbl="node1" presStyleIdx="1" presStyleCnt="3"/>
      <dgm:spPr/>
    </dgm:pt>
    <dgm:pt modelId="{323ADCC7-D991-4817-816C-CACB5539B241}" type="pres">
      <dgm:prSet presAssocID="{1A66924D-0B19-4D63-BF28-F24DF5ED1842}" presName="childNode1" presStyleLbl="bgAcc1" presStyleIdx="2" presStyleCnt="3" custScaleX="77485" custScaleY="130108" custLinFactNeighborX="-23284" custLinFactNeighborY="-27909">
        <dgm:presLayoutVars>
          <dgm:bulletEnabled val="1"/>
        </dgm:presLayoutVars>
      </dgm:prSet>
      <dgm:spPr/>
    </dgm:pt>
    <dgm:pt modelId="{19C1E7BD-512E-493A-B7A5-3317B68D54FF}" type="pres">
      <dgm:prSet presAssocID="{1A66924D-0B19-4D63-BF28-F24DF5ED1842}" presName="childNode1tx" presStyleLbl="bgAcc1" presStyleIdx="2" presStyleCnt="3">
        <dgm:presLayoutVars>
          <dgm:bulletEnabled val="1"/>
        </dgm:presLayoutVars>
      </dgm:prSet>
      <dgm:spPr/>
    </dgm:pt>
    <dgm:pt modelId="{CA88590D-E790-4434-A5EF-6B933D9B2BB1}" type="pres">
      <dgm:prSet presAssocID="{1A66924D-0B19-4D63-BF28-F24DF5ED1842}" presName="parentNode1" presStyleLbl="node1" presStyleIdx="2" presStyleCnt="3" custScaleX="78297" custScaleY="76301" custLinFactNeighborX="-9319" custLinFactNeighborY="-20128">
        <dgm:presLayoutVars>
          <dgm:chMax val="1"/>
          <dgm:bulletEnabled val="1"/>
        </dgm:presLayoutVars>
      </dgm:prSet>
      <dgm:spPr/>
    </dgm:pt>
    <dgm:pt modelId="{1449F0B2-597B-4DB3-804E-BE4A6D06A972}" type="pres">
      <dgm:prSet presAssocID="{1A66924D-0B19-4D63-BF28-F24DF5ED1842}" presName="connSite1" presStyleCnt="0"/>
      <dgm:spPr/>
    </dgm:pt>
  </dgm:ptLst>
  <dgm:cxnLst>
    <dgm:cxn modelId="{2390F405-FA1D-4432-BCF3-B57ED3AD27FC}" type="presOf" srcId="{697F60E2-ECD6-480D-BCBA-236D7F84C52F}" destId="{8D06E90C-9165-4AE4-9F36-F1C4FD36D273}" srcOrd="1" destOrd="0" presId="urn:microsoft.com/office/officeart/2005/8/layout/hProcess4"/>
    <dgm:cxn modelId="{EC892813-3B9E-45BB-8D23-29716AC086BE}" type="presOf" srcId="{697F60E2-ECD6-480D-BCBA-236D7F84C52F}" destId="{208AFB81-9C49-4E39-809D-342B5626E929}" srcOrd="0" destOrd="0" presId="urn:microsoft.com/office/officeart/2005/8/layout/hProcess4"/>
    <dgm:cxn modelId="{58A2FD15-AD96-4F6A-9B13-BF3AD2FE0A81}" type="presOf" srcId="{951062C3-868A-4137-BD60-E284BDAE99FC}" destId="{08DD75CA-136B-45E6-9EDA-5121DCF5FFC2}" srcOrd="0" destOrd="0" presId="urn:microsoft.com/office/officeart/2005/8/layout/hProcess4"/>
    <dgm:cxn modelId="{19AFAA18-6945-4177-94AA-A144962BD273}" srcId="{4A3018F0-7D25-4A4C-91DF-24ADFD32D6D1}" destId="{FC1955E4-9000-492B-ADC2-3892432ADB41}" srcOrd="2" destOrd="0" parTransId="{3A57AF4A-1B1B-4967-83AF-F9759568BF0F}" sibTransId="{0F91D5D5-AC5B-421D-A6C7-5A06A49E9E8C}"/>
    <dgm:cxn modelId="{09795C1D-50B9-4638-A674-B7A468A057EA}" type="presOf" srcId="{90330127-A6FC-46B9-AD98-C54D33BD0ACD}" destId="{8D06E90C-9165-4AE4-9F36-F1C4FD36D273}" srcOrd="1" destOrd="1" presId="urn:microsoft.com/office/officeart/2005/8/layout/hProcess4"/>
    <dgm:cxn modelId="{83A42120-CE90-48E0-909E-4DC147F6E710}" srcId="{C1BB7BE3-1AE6-42ED-92A5-B8724C887BE9}" destId="{697F60E2-ECD6-480D-BCBA-236D7F84C52F}" srcOrd="0" destOrd="0" parTransId="{4E80E91B-9A59-4C24-B4D9-F3E43131A91F}" sibTransId="{D8995AA9-E7A9-47A6-A470-CA9D1363D89C}"/>
    <dgm:cxn modelId="{CAE0F421-9DA6-46BD-8D73-C29CA835BBEB}" srcId="{F9B3111F-C7D1-4BAF-ADE0-E8D21A1DC4B4}" destId="{291D5454-382E-4B29-A1DB-1933B31DFB47}" srcOrd="1" destOrd="0" parTransId="{7006CE3F-72F0-407B-B0EC-946E52004169}" sibTransId="{712FFD9F-40A7-4ED0-AB3E-000F5DA109C3}"/>
    <dgm:cxn modelId="{DEFD4922-205C-4BF7-92A0-0561017BB587}" type="presOf" srcId="{F288B5F5-31F5-486A-83E3-D97AC26DDD9D}" destId="{208AFB81-9C49-4E39-809D-342B5626E929}" srcOrd="0" destOrd="4" presId="urn:microsoft.com/office/officeart/2005/8/layout/hProcess4"/>
    <dgm:cxn modelId="{DE5BF92E-94D9-4057-B40B-0DC7C3F201A5}" type="presOf" srcId="{39B99554-F34A-464A-AB02-F1F7264C69A5}" destId="{FEDF83B9-EBD2-443B-8427-37884DFF2BFE}" srcOrd="0" destOrd="1" presId="urn:microsoft.com/office/officeart/2005/8/layout/hProcess4"/>
    <dgm:cxn modelId="{24E61B5B-D3E9-42BC-9EFF-02AD9F998243}" srcId="{291D5454-382E-4B29-A1DB-1933B31DFB47}" destId="{39B99554-F34A-464A-AB02-F1F7264C69A5}" srcOrd="1" destOrd="0" parTransId="{4B36EA83-985C-4F45-B2DD-750B1A177C6E}" sibTransId="{FC93E1D7-17B3-467C-8D81-30F9C8316A03}"/>
    <dgm:cxn modelId="{EB83285B-1CD8-4C3C-811F-5A6B140F4A61}" type="presOf" srcId="{4A3018F0-7D25-4A4C-91DF-24ADFD32D6D1}" destId="{208AFB81-9C49-4E39-809D-342B5626E929}" srcOrd="0" destOrd="2" presId="urn:microsoft.com/office/officeart/2005/8/layout/hProcess4"/>
    <dgm:cxn modelId="{926D045F-203E-4441-AFAD-5C6BBCA93C40}" type="presOf" srcId="{1A66924D-0B19-4D63-BF28-F24DF5ED1842}" destId="{CA88590D-E790-4434-A5EF-6B933D9B2BB1}" srcOrd="0" destOrd="0" presId="urn:microsoft.com/office/officeart/2005/8/layout/hProcess4"/>
    <dgm:cxn modelId="{34F37260-FF65-4E4D-B5BB-80ED1AFD7329}" srcId="{C1BB7BE3-1AE6-42ED-92A5-B8724C887BE9}" destId="{90330127-A6FC-46B9-AD98-C54D33BD0ACD}" srcOrd="1" destOrd="0" parTransId="{E9A67E47-C13D-476A-BF4E-0994B2214294}" sibTransId="{EBF534CC-A0F7-492C-820B-A6C92FABE825}"/>
    <dgm:cxn modelId="{522EB965-9820-4B2F-A5B2-32FB4DA81CB1}" srcId="{4A3018F0-7D25-4A4C-91DF-24ADFD32D6D1}" destId="{770DBDA5-E352-4C31-8712-EF689A51E69C}" srcOrd="3" destOrd="0" parTransId="{6340EB74-9A92-4195-B3C3-47374AF6FADD}" sibTransId="{407A29C3-AF3A-4BFB-B3E3-98DAF201C573}"/>
    <dgm:cxn modelId="{9D3DB773-7287-4682-ACEB-54E1BDB89749}" type="presOf" srcId="{FC1955E4-9000-492B-ADC2-3892432ADB41}" destId="{208AFB81-9C49-4E39-809D-342B5626E929}" srcOrd="0" destOrd="5" presId="urn:microsoft.com/office/officeart/2005/8/layout/hProcess4"/>
    <dgm:cxn modelId="{E5CA2156-62FD-4162-BF47-6060542E9061}" type="presOf" srcId="{90330127-A6FC-46B9-AD98-C54D33BD0ACD}" destId="{208AFB81-9C49-4E39-809D-342B5626E929}" srcOrd="0" destOrd="1" presId="urn:microsoft.com/office/officeart/2005/8/layout/hProcess4"/>
    <dgm:cxn modelId="{77507959-CC5E-4414-AB5F-41810B23DA0A}" srcId="{4A3018F0-7D25-4A4C-91DF-24ADFD32D6D1}" destId="{B9E875FC-44C4-44CB-8936-9F0253E8C32D}" srcOrd="0" destOrd="0" parTransId="{CF4E992F-EB67-4609-BA23-9B7F867A9CF6}" sibTransId="{8A94C2BD-7C88-4123-AB3C-EEA70BF2E6A6}"/>
    <dgm:cxn modelId="{FDF2A05A-0D87-40FD-813A-1602E6D481A3}" type="presOf" srcId="{770DBDA5-E352-4C31-8712-EF689A51E69C}" destId="{8D06E90C-9165-4AE4-9F36-F1C4FD36D273}" srcOrd="1" destOrd="6" presId="urn:microsoft.com/office/officeart/2005/8/layout/hProcess4"/>
    <dgm:cxn modelId="{46271488-B887-43D0-B870-E066CCC5F9D1}" type="presOf" srcId="{712FFD9F-40A7-4ED0-AB3E-000F5DA109C3}" destId="{C919C95B-C145-48DB-9EC1-8FA91298B162}" srcOrd="0" destOrd="0" presId="urn:microsoft.com/office/officeart/2005/8/layout/hProcess4"/>
    <dgm:cxn modelId="{8B254789-4B55-4F4B-80D7-83BC39C48771}" type="presOf" srcId="{AABE9649-B2A3-4966-8D0A-4F3B03F06EA4}" destId="{323ADCC7-D991-4817-816C-CACB5539B241}" srcOrd="0" destOrd="0" presId="urn:microsoft.com/office/officeart/2005/8/layout/hProcess4"/>
    <dgm:cxn modelId="{0897E590-B1A1-4FDB-B0D2-63109F74C497}" type="presOf" srcId="{E3614C20-3CB6-4368-BA64-08B87C889F99}" destId="{135C9C07-9B2D-4B08-BFFC-DEE7356F8792}" srcOrd="1" destOrd="0" presId="urn:microsoft.com/office/officeart/2005/8/layout/hProcess4"/>
    <dgm:cxn modelId="{565EC598-5804-47CC-A667-F648A5F09150}" srcId="{4A3018F0-7D25-4A4C-91DF-24ADFD32D6D1}" destId="{F288B5F5-31F5-486A-83E3-D97AC26DDD9D}" srcOrd="1" destOrd="0" parTransId="{8E8AD63C-6F2B-4BA9-A909-B97D9D25183F}" sibTransId="{C2EB2E24-EE02-4BC0-9E48-6A1FBC79A3C2}"/>
    <dgm:cxn modelId="{F0EECD99-8C06-4928-83AF-894D885BADF5}" srcId="{1A66924D-0B19-4D63-BF28-F24DF5ED1842}" destId="{AABE9649-B2A3-4966-8D0A-4F3B03F06EA4}" srcOrd="0" destOrd="0" parTransId="{33B282F4-A68D-47C4-93FA-F543AAAABDB0}" sibTransId="{4AE7CD40-2AD8-40DB-8A76-85832B963D1A}"/>
    <dgm:cxn modelId="{24A5AC9A-127C-4582-AF23-5FB10E8B2B10}" srcId="{291D5454-382E-4B29-A1DB-1933B31DFB47}" destId="{E3614C20-3CB6-4368-BA64-08B87C889F99}" srcOrd="0" destOrd="0" parTransId="{F4FC5A74-6130-41E4-9082-A46332D84616}" sibTransId="{0C9C1AAC-82E4-4B49-951E-59DBE071F7AC}"/>
    <dgm:cxn modelId="{DFE7F1AF-197E-405B-AC3B-6141249C54D5}" type="presOf" srcId="{C1BB7BE3-1AE6-42ED-92A5-B8724C887BE9}" destId="{3ED47477-1A30-45C3-9BB4-5A10DE3684B7}" srcOrd="0" destOrd="0" presId="urn:microsoft.com/office/officeart/2005/8/layout/hProcess4"/>
    <dgm:cxn modelId="{A4D425B4-5907-4BD9-B52D-BF92E1D6B863}" type="presOf" srcId="{39B99554-F34A-464A-AB02-F1F7264C69A5}" destId="{135C9C07-9B2D-4B08-BFFC-DEE7356F8792}" srcOrd="1" destOrd="1" presId="urn:microsoft.com/office/officeart/2005/8/layout/hProcess4"/>
    <dgm:cxn modelId="{8B877DBA-0AAC-4336-8C58-AF905A73991C}" type="presOf" srcId="{F288B5F5-31F5-486A-83E3-D97AC26DDD9D}" destId="{8D06E90C-9165-4AE4-9F36-F1C4FD36D273}" srcOrd="1" destOrd="4" presId="urn:microsoft.com/office/officeart/2005/8/layout/hProcess4"/>
    <dgm:cxn modelId="{B58893C0-0026-4298-BC26-51673FFF29AF}" type="presOf" srcId="{B9E875FC-44C4-44CB-8936-9F0253E8C32D}" destId="{8D06E90C-9165-4AE4-9F36-F1C4FD36D273}" srcOrd="1" destOrd="3" presId="urn:microsoft.com/office/officeart/2005/8/layout/hProcess4"/>
    <dgm:cxn modelId="{516992D2-4ADC-45E8-B759-ED3D5022DC64}" srcId="{C1BB7BE3-1AE6-42ED-92A5-B8724C887BE9}" destId="{4A3018F0-7D25-4A4C-91DF-24ADFD32D6D1}" srcOrd="2" destOrd="0" parTransId="{648F6305-8E34-4162-9AAD-EFEAAEABE2FA}" sibTransId="{F69FB457-1FEC-4A49-9EB2-81E304315664}"/>
    <dgm:cxn modelId="{0FA7E5D4-C130-4A54-A6E0-B8D772C78F32}" type="presOf" srcId="{B9E875FC-44C4-44CB-8936-9F0253E8C32D}" destId="{208AFB81-9C49-4E39-809D-342B5626E929}" srcOrd="0" destOrd="3" presId="urn:microsoft.com/office/officeart/2005/8/layout/hProcess4"/>
    <dgm:cxn modelId="{993C8FDB-DCDC-45BC-8072-0AB20737021F}" type="presOf" srcId="{770DBDA5-E352-4C31-8712-EF689A51E69C}" destId="{208AFB81-9C49-4E39-809D-342B5626E929}" srcOrd="0" destOrd="6" presId="urn:microsoft.com/office/officeart/2005/8/layout/hProcess4"/>
    <dgm:cxn modelId="{74AFB5DF-45A9-4F50-BDE4-3880187EFA5A}" type="presOf" srcId="{AABE9649-B2A3-4966-8D0A-4F3B03F06EA4}" destId="{19C1E7BD-512E-493A-B7A5-3317B68D54FF}" srcOrd="1" destOrd="0" presId="urn:microsoft.com/office/officeart/2005/8/layout/hProcess4"/>
    <dgm:cxn modelId="{67569FE5-6144-49DE-B7F0-04EEC4711FBC}" srcId="{F9B3111F-C7D1-4BAF-ADE0-E8D21A1DC4B4}" destId="{1A66924D-0B19-4D63-BF28-F24DF5ED1842}" srcOrd="2" destOrd="0" parTransId="{0E5A30C2-0009-4CEE-90B6-D264207D607D}" sibTransId="{FB16AA82-3B6F-4534-A4C9-FCC95A398726}"/>
    <dgm:cxn modelId="{ED2FA0E6-6D07-40BA-906C-6E0F13AA5E02}" type="presOf" srcId="{FC1955E4-9000-492B-ADC2-3892432ADB41}" destId="{8D06E90C-9165-4AE4-9F36-F1C4FD36D273}" srcOrd="1" destOrd="5" presId="urn:microsoft.com/office/officeart/2005/8/layout/hProcess4"/>
    <dgm:cxn modelId="{A05887E8-D62E-4EDC-8C2E-8AD98FE70276}" srcId="{F9B3111F-C7D1-4BAF-ADE0-E8D21A1DC4B4}" destId="{C1BB7BE3-1AE6-42ED-92A5-B8724C887BE9}" srcOrd="0" destOrd="0" parTransId="{9140D4B7-DA02-4343-9A6C-42D9B3180DBB}" sibTransId="{951062C3-868A-4137-BD60-E284BDAE99FC}"/>
    <dgm:cxn modelId="{4F9708E9-559D-486A-BA13-67EF701C3C0F}" type="presOf" srcId="{4A3018F0-7D25-4A4C-91DF-24ADFD32D6D1}" destId="{8D06E90C-9165-4AE4-9F36-F1C4FD36D273}" srcOrd="1" destOrd="2" presId="urn:microsoft.com/office/officeart/2005/8/layout/hProcess4"/>
    <dgm:cxn modelId="{3F5122F9-139F-43FB-9ACA-EAEA465FF118}" type="presOf" srcId="{291D5454-382E-4B29-A1DB-1933B31DFB47}" destId="{BCE6355D-6690-4096-84B4-683A90DC815F}" srcOrd="0" destOrd="0" presId="urn:microsoft.com/office/officeart/2005/8/layout/hProcess4"/>
    <dgm:cxn modelId="{04D523FA-3C6E-46FC-9251-E93AB8F564C1}" type="presOf" srcId="{E3614C20-3CB6-4368-BA64-08B87C889F99}" destId="{FEDF83B9-EBD2-443B-8427-37884DFF2BFE}" srcOrd="0" destOrd="0" presId="urn:microsoft.com/office/officeart/2005/8/layout/hProcess4"/>
    <dgm:cxn modelId="{02D0EDFC-7E37-414C-8C7E-9FBE3FC3626D}" type="presOf" srcId="{F9B3111F-C7D1-4BAF-ADE0-E8D21A1DC4B4}" destId="{64A1E8AE-9C2D-4902-A360-DE422B063FF6}" srcOrd="0" destOrd="0" presId="urn:microsoft.com/office/officeart/2005/8/layout/hProcess4"/>
    <dgm:cxn modelId="{CB62AC03-24B9-426F-B06E-13802C84D46B}" type="presParOf" srcId="{64A1E8AE-9C2D-4902-A360-DE422B063FF6}" destId="{AD88FFF9-5F44-4DCE-BF6D-F9C662DCE206}" srcOrd="0" destOrd="0" presId="urn:microsoft.com/office/officeart/2005/8/layout/hProcess4"/>
    <dgm:cxn modelId="{6E3A4780-1AC5-434D-AE4A-ACA02AA9AF9F}" type="presParOf" srcId="{64A1E8AE-9C2D-4902-A360-DE422B063FF6}" destId="{C1D446AB-E90D-4E8C-ADE5-FB7B9CF3DC5E}" srcOrd="1" destOrd="0" presId="urn:microsoft.com/office/officeart/2005/8/layout/hProcess4"/>
    <dgm:cxn modelId="{A634BCA4-CB67-4B8D-9719-E21D852BABA4}" type="presParOf" srcId="{64A1E8AE-9C2D-4902-A360-DE422B063FF6}" destId="{082858DA-B6B4-43DD-B575-F683F447C3E7}" srcOrd="2" destOrd="0" presId="urn:microsoft.com/office/officeart/2005/8/layout/hProcess4"/>
    <dgm:cxn modelId="{DCB563B6-8F14-4869-9A6F-DB6A4B640C3A}" type="presParOf" srcId="{082858DA-B6B4-43DD-B575-F683F447C3E7}" destId="{7765A3EE-C20B-47F3-A300-4A21109150C9}" srcOrd="0" destOrd="0" presId="urn:microsoft.com/office/officeart/2005/8/layout/hProcess4"/>
    <dgm:cxn modelId="{521FF64E-2CE0-42CD-99BC-3BEFCDB7A401}" type="presParOf" srcId="{7765A3EE-C20B-47F3-A300-4A21109150C9}" destId="{C278FAE1-52D2-40FF-962C-5A2D97EF97F0}" srcOrd="0" destOrd="0" presId="urn:microsoft.com/office/officeart/2005/8/layout/hProcess4"/>
    <dgm:cxn modelId="{965CF066-63DC-4E0D-83A8-DFC68C4FD646}" type="presParOf" srcId="{7765A3EE-C20B-47F3-A300-4A21109150C9}" destId="{208AFB81-9C49-4E39-809D-342B5626E929}" srcOrd="1" destOrd="0" presId="urn:microsoft.com/office/officeart/2005/8/layout/hProcess4"/>
    <dgm:cxn modelId="{4ED04BE1-403F-466D-837A-377F52BB3DB2}" type="presParOf" srcId="{7765A3EE-C20B-47F3-A300-4A21109150C9}" destId="{8D06E90C-9165-4AE4-9F36-F1C4FD36D273}" srcOrd="2" destOrd="0" presId="urn:microsoft.com/office/officeart/2005/8/layout/hProcess4"/>
    <dgm:cxn modelId="{81D9872A-BFD7-4646-96F2-215880A85B02}" type="presParOf" srcId="{7765A3EE-C20B-47F3-A300-4A21109150C9}" destId="{3ED47477-1A30-45C3-9BB4-5A10DE3684B7}" srcOrd="3" destOrd="0" presId="urn:microsoft.com/office/officeart/2005/8/layout/hProcess4"/>
    <dgm:cxn modelId="{82A4C0D0-E8A3-46DC-B932-81078C4AF34E}" type="presParOf" srcId="{7765A3EE-C20B-47F3-A300-4A21109150C9}" destId="{879F13AD-9510-45E0-AD70-E1B87FC5A96C}" srcOrd="4" destOrd="0" presId="urn:microsoft.com/office/officeart/2005/8/layout/hProcess4"/>
    <dgm:cxn modelId="{FF9981D5-518B-473F-ADB8-50953C3118C2}" type="presParOf" srcId="{082858DA-B6B4-43DD-B575-F683F447C3E7}" destId="{08DD75CA-136B-45E6-9EDA-5121DCF5FFC2}" srcOrd="1" destOrd="0" presId="urn:microsoft.com/office/officeart/2005/8/layout/hProcess4"/>
    <dgm:cxn modelId="{EE869997-7400-4E52-9436-4F285B9AFA74}" type="presParOf" srcId="{082858DA-B6B4-43DD-B575-F683F447C3E7}" destId="{1CB49022-EDCE-48E4-905C-56852518717D}" srcOrd="2" destOrd="0" presId="urn:microsoft.com/office/officeart/2005/8/layout/hProcess4"/>
    <dgm:cxn modelId="{599F3115-7353-401E-B298-1871764B1F0C}" type="presParOf" srcId="{1CB49022-EDCE-48E4-905C-56852518717D}" destId="{6F213261-AE3E-49D1-9DA3-D15A361D4775}" srcOrd="0" destOrd="0" presId="urn:microsoft.com/office/officeart/2005/8/layout/hProcess4"/>
    <dgm:cxn modelId="{FE30F1EA-CCAB-4262-B19E-672699A7DF3C}" type="presParOf" srcId="{1CB49022-EDCE-48E4-905C-56852518717D}" destId="{FEDF83B9-EBD2-443B-8427-37884DFF2BFE}" srcOrd="1" destOrd="0" presId="urn:microsoft.com/office/officeart/2005/8/layout/hProcess4"/>
    <dgm:cxn modelId="{14B2635E-B22C-4C89-95F5-D978E3182805}" type="presParOf" srcId="{1CB49022-EDCE-48E4-905C-56852518717D}" destId="{135C9C07-9B2D-4B08-BFFC-DEE7356F8792}" srcOrd="2" destOrd="0" presId="urn:microsoft.com/office/officeart/2005/8/layout/hProcess4"/>
    <dgm:cxn modelId="{9C42452C-A86F-446B-8553-FBCA93A37AC4}" type="presParOf" srcId="{1CB49022-EDCE-48E4-905C-56852518717D}" destId="{BCE6355D-6690-4096-84B4-683A90DC815F}" srcOrd="3" destOrd="0" presId="urn:microsoft.com/office/officeart/2005/8/layout/hProcess4"/>
    <dgm:cxn modelId="{BFDB3052-8962-4841-B50A-7E30AD3AECD5}" type="presParOf" srcId="{1CB49022-EDCE-48E4-905C-56852518717D}" destId="{0D4A9A55-5CF3-4626-8D97-BB4330D28FC8}" srcOrd="4" destOrd="0" presId="urn:microsoft.com/office/officeart/2005/8/layout/hProcess4"/>
    <dgm:cxn modelId="{A47FFCF3-849F-4744-9F61-226FB1BA0AF0}" type="presParOf" srcId="{082858DA-B6B4-43DD-B575-F683F447C3E7}" destId="{C919C95B-C145-48DB-9EC1-8FA91298B162}" srcOrd="3" destOrd="0" presId="urn:microsoft.com/office/officeart/2005/8/layout/hProcess4"/>
    <dgm:cxn modelId="{5FF96688-6960-436A-BA53-687DC728BBCB}" type="presParOf" srcId="{082858DA-B6B4-43DD-B575-F683F447C3E7}" destId="{5E629A34-DFDE-4795-A303-7C5DF632E4C5}" srcOrd="4" destOrd="0" presId="urn:microsoft.com/office/officeart/2005/8/layout/hProcess4"/>
    <dgm:cxn modelId="{823A8DD6-AE19-46D7-ADB7-0B124C00492C}" type="presParOf" srcId="{5E629A34-DFDE-4795-A303-7C5DF632E4C5}" destId="{B05D222D-8F43-4A5E-A6F6-B09EC2088AF3}" srcOrd="0" destOrd="0" presId="urn:microsoft.com/office/officeart/2005/8/layout/hProcess4"/>
    <dgm:cxn modelId="{E0B03058-A158-4FF2-A50B-471399E57195}" type="presParOf" srcId="{5E629A34-DFDE-4795-A303-7C5DF632E4C5}" destId="{323ADCC7-D991-4817-816C-CACB5539B241}" srcOrd="1" destOrd="0" presId="urn:microsoft.com/office/officeart/2005/8/layout/hProcess4"/>
    <dgm:cxn modelId="{D2F7DA28-35B5-4467-8129-183CCDD909E2}" type="presParOf" srcId="{5E629A34-DFDE-4795-A303-7C5DF632E4C5}" destId="{19C1E7BD-512E-493A-B7A5-3317B68D54FF}" srcOrd="2" destOrd="0" presId="urn:microsoft.com/office/officeart/2005/8/layout/hProcess4"/>
    <dgm:cxn modelId="{331BDA94-7ED8-4F33-B464-ECEBF622C9A6}" type="presParOf" srcId="{5E629A34-DFDE-4795-A303-7C5DF632E4C5}" destId="{CA88590D-E790-4434-A5EF-6B933D9B2BB1}" srcOrd="3" destOrd="0" presId="urn:microsoft.com/office/officeart/2005/8/layout/hProcess4"/>
    <dgm:cxn modelId="{98135D35-EF91-44AE-B2FC-C2BB4DE8DD71}" type="presParOf" srcId="{5E629A34-DFDE-4795-A303-7C5DF632E4C5}" destId="{1449F0B2-597B-4DB3-804E-BE4A6D06A972}"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9B3111F-C7D1-4BAF-ADE0-E8D21A1DC4B4}" type="doc">
      <dgm:prSet loTypeId="urn:microsoft.com/office/officeart/2005/8/layout/hProcess4" loCatId="process" qsTypeId="urn:microsoft.com/office/officeart/2005/8/quickstyle/simple1" qsCatId="simple" csTypeId="urn:microsoft.com/office/officeart/2005/8/colors/accent1_2" csCatId="accent1" phldr="1"/>
      <dgm:spPr/>
      <dgm:t>
        <a:bodyPr/>
        <a:lstStyle/>
        <a:p>
          <a:endParaRPr lang="en-US"/>
        </a:p>
      </dgm:t>
    </dgm:pt>
    <dgm:pt modelId="{C1BB7BE3-1AE6-42ED-92A5-B8724C887BE9}">
      <dgm:prSet phldrT="[Text]"/>
      <dgm:spPr/>
      <dgm:t>
        <a:bodyPr/>
        <a:lstStyle/>
        <a:p>
          <a:r>
            <a:rPr lang="en-US" dirty="0"/>
            <a:t>Domain Setup</a:t>
          </a:r>
        </a:p>
      </dgm:t>
    </dgm:pt>
    <dgm:pt modelId="{9140D4B7-DA02-4343-9A6C-42D9B3180DBB}" type="parTrans" cxnId="{A05887E8-D62E-4EDC-8C2E-8AD98FE70276}">
      <dgm:prSet/>
      <dgm:spPr/>
      <dgm:t>
        <a:bodyPr/>
        <a:lstStyle/>
        <a:p>
          <a:endParaRPr lang="en-US"/>
        </a:p>
      </dgm:t>
    </dgm:pt>
    <dgm:pt modelId="{951062C3-868A-4137-BD60-E284BDAE99FC}" type="sibTrans" cxnId="{A05887E8-D62E-4EDC-8C2E-8AD98FE70276}">
      <dgm:prSet/>
      <dgm:spPr/>
      <dgm:t>
        <a:bodyPr/>
        <a:lstStyle/>
        <a:p>
          <a:endParaRPr lang="en-US"/>
        </a:p>
      </dgm:t>
    </dgm:pt>
    <dgm:pt modelId="{697F60E2-ECD6-480D-BCBA-236D7F84C52F}">
      <dgm:prSet phldrT="[Text]" custT="1"/>
      <dgm:spPr/>
      <dgm:t>
        <a:bodyPr/>
        <a:lstStyle/>
        <a:p>
          <a:r>
            <a:rPr lang="en-US" sz="1200" b="1" dirty="0">
              <a:solidFill>
                <a:srgbClr val="000000"/>
              </a:solidFill>
              <a:latin typeface="+mn-lt"/>
              <a:ea typeface="Canva Sans"/>
              <a:cs typeface="Canva Sans"/>
              <a:sym typeface="Canva Sans"/>
            </a:rPr>
            <a:t>Geometry</a:t>
          </a:r>
          <a:r>
            <a:rPr lang="en-US" sz="1200" dirty="0">
              <a:solidFill>
                <a:srgbClr val="000000"/>
              </a:solidFill>
              <a:latin typeface="+mn-lt"/>
              <a:ea typeface="Canva Sans"/>
              <a:cs typeface="Canva Sans"/>
              <a:sym typeface="Canva Sans"/>
            </a:rPr>
            <a:t>: Enclosed “box” around full UAS geometry</a:t>
          </a:r>
          <a:endParaRPr lang="en-US" sz="1200" dirty="0">
            <a:latin typeface="+mn-lt"/>
          </a:endParaRPr>
        </a:p>
      </dgm:t>
    </dgm:pt>
    <dgm:pt modelId="{4E80E91B-9A59-4C24-B4D9-F3E43131A91F}" type="parTrans" cxnId="{83A42120-CE90-48E0-909E-4DC147F6E710}">
      <dgm:prSet/>
      <dgm:spPr/>
      <dgm:t>
        <a:bodyPr/>
        <a:lstStyle/>
        <a:p>
          <a:endParaRPr lang="en-US"/>
        </a:p>
      </dgm:t>
    </dgm:pt>
    <dgm:pt modelId="{D8995AA9-E7A9-47A6-A470-CA9D1363D89C}" type="sibTrans" cxnId="{83A42120-CE90-48E0-909E-4DC147F6E710}">
      <dgm:prSet/>
      <dgm:spPr/>
      <dgm:t>
        <a:bodyPr/>
        <a:lstStyle/>
        <a:p>
          <a:endParaRPr lang="en-US"/>
        </a:p>
      </dgm:t>
    </dgm:pt>
    <dgm:pt modelId="{291D5454-382E-4B29-A1DB-1933B31DFB47}">
      <dgm:prSet phldrT="[Text]"/>
      <dgm:spPr/>
      <dgm:t>
        <a:bodyPr/>
        <a:lstStyle/>
        <a:p>
          <a:r>
            <a:rPr lang="en-US" dirty="0"/>
            <a:t>Boundary Condition</a:t>
          </a:r>
        </a:p>
      </dgm:t>
    </dgm:pt>
    <dgm:pt modelId="{7006CE3F-72F0-407B-B0EC-946E52004169}" type="parTrans" cxnId="{CAE0F421-9DA6-46BD-8D73-C29CA835BBEB}">
      <dgm:prSet/>
      <dgm:spPr/>
      <dgm:t>
        <a:bodyPr/>
        <a:lstStyle/>
        <a:p>
          <a:endParaRPr lang="en-US"/>
        </a:p>
      </dgm:t>
    </dgm:pt>
    <dgm:pt modelId="{712FFD9F-40A7-4ED0-AB3E-000F5DA109C3}" type="sibTrans" cxnId="{CAE0F421-9DA6-46BD-8D73-C29CA835BBEB}">
      <dgm:prSet/>
      <dgm:spPr/>
      <dgm:t>
        <a:bodyPr/>
        <a:lstStyle/>
        <a:p>
          <a:endParaRPr lang="en-US"/>
        </a:p>
      </dgm:t>
    </dgm:pt>
    <dgm:pt modelId="{E3614C20-3CB6-4368-BA64-08B87C889F99}">
      <dgm:prSet phldrT="[Text]" custT="1"/>
      <dgm:spPr/>
      <dgm:t>
        <a:bodyPr/>
        <a:lstStyle/>
        <a:p>
          <a:r>
            <a:rPr lang="en-US" sz="1200" b="1" dirty="0">
              <a:solidFill>
                <a:srgbClr val="000000"/>
              </a:solidFill>
              <a:latin typeface="+mn-lt"/>
              <a:ea typeface="Canva Sans"/>
              <a:cs typeface="Canva Sans"/>
              <a:sym typeface="Canva Sans"/>
            </a:rPr>
            <a:t>Propellers</a:t>
          </a:r>
          <a:r>
            <a:rPr lang="en-US" sz="1200" dirty="0">
              <a:solidFill>
                <a:srgbClr val="000000"/>
              </a:solidFill>
              <a:latin typeface="+mn-lt"/>
              <a:ea typeface="Canva Sans"/>
              <a:cs typeface="Canva Sans"/>
              <a:sym typeface="Canva Sans"/>
            </a:rPr>
            <a:t>: 23,000 RPM imposed on rotational domains</a:t>
          </a:r>
          <a:endParaRPr lang="en-US" sz="1200" dirty="0">
            <a:latin typeface="+mn-lt"/>
          </a:endParaRPr>
        </a:p>
      </dgm:t>
    </dgm:pt>
    <dgm:pt modelId="{F4FC5A74-6130-41E4-9082-A46332D84616}" type="parTrans" cxnId="{24A5AC9A-127C-4582-AF23-5FB10E8B2B10}">
      <dgm:prSet/>
      <dgm:spPr/>
      <dgm:t>
        <a:bodyPr/>
        <a:lstStyle/>
        <a:p>
          <a:endParaRPr lang="en-US"/>
        </a:p>
      </dgm:t>
    </dgm:pt>
    <dgm:pt modelId="{0C9C1AAC-82E4-4B49-951E-59DBE071F7AC}" type="sibTrans" cxnId="{24A5AC9A-127C-4582-AF23-5FB10E8B2B10}">
      <dgm:prSet/>
      <dgm:spPr/>
      <dgm:t>
        <a:bodyPr/>
        <a:lstStyle/>
        <a:p>
          <a:endParaRPr lang="en-US"/>
        </a:p>
      </dgm:t>
    </dgm:pt>
    <dgm:pt modelId="{1A66924D-0B19-4D63-BF28-F24DF5ED1842}">
      <dgm:prSet phldrT="[Text]"/>
      <dgm:spPr/>
      <dgm:t>
        <a:bodyPr/>
        <a:lstStyle/>
        <a:p>
          <a:r>
            <a:rPr lang="en-US" dirty="0"/>
            <a:t>Results</a:t>
          </a:r>
        </a:p>
      </dgm:t>
    </dgm:pt>
    <dgm:pt modelId="{0E5A30C2-0009-4CEE-90B6-D264207D607D}" type="parTrans" cxnId="{67569FE5-6144-49DE-B7F0-04EEC4711FBC}">
      <dgm:prSet/>
      <dgm:spPr/>
      <dgm:t>
        <a:bodyPr/>
        <a:lstStyle/>
        <a:p>
          <a:endParaRPr lang="en-US"/>
        </a:p>
      </dgm:t>
    </dgm:pt>
    <dgm:pt modelId="{FB16AA82-3B6F-4534-A4C9-FCC95A398726}" type="sibTrans" cxnId="{67569FE5-6144-49DE-B7F0-04EEC4711FBC}">
      <dgm:prSet/>
      <dgm:spPr/>
      <dgm:t>
        <a:bodyPr/>
        <a:lstStyle/>
        <a:p>
          <a:endParaRPr lang="en-US"/>
        </a:p>
      </dgm:t>
    </dgm:pt>
    <dgm:pt modelId="{AABE9649-B2A3-4966-8D0A-4F3B03F06EA4}">
      <dgm:prSet phldrT="[Text]" custT="1"/>
      <dgm:spPr/>
      <dgm:t>
        <a:bodyPr/>
        <a:lstStyle/>
        <a:p>
          <a:r>
            <a:rPr lang="en-US" sz="1200" b="1" dirty="0">
              <a:solidFill>
                <a:srgbClr val="000000"/>
              </a:solidFill>
              <a:latin typeface="+mn-lt"/>
              <a:ea typeface="Canva Sans"/>
              <a:cs typeface="Canva Sans"/>
              <a:sym typeface="Canva Sans"/>
            </a:rPr>
            <a:t>Flow</a:t>
          </a:r>
          <a:r>
            <a:rPr lang="en-US" sz="1200" dirty="0">
              <a:solidFill>
                <a:srgbClr val="000000"/>
              </a:solidFill>
              <a:latin typeface="+mn-lt"/>
              <a:ea typeface="Canva Sans"/>
              <a:cs typeface="Canva Sans"/>
              <a:sym typeface="Canva Sans"/>
            </a:rPr>
            <a:t> </a:t>
          </a:r>
          <a:r>
            <a:rPr lang="en-US" sz="1200" b="1" dirty="0">
              <a:solidFill>
                <a:srgbClr val="000000"/>
              </a:solidFill>
              <a:latin typeface="+mn-lt"/>
              <a:ea typeface="Canva Sans"/>
              <a:cs typeface="Canva Sans"/>
              <a:sym typeface="Canva Sans"/>
            </a:rPr>
            <a:t>Patterns</a:t>
          </a:r>
          <a:r>
            <a:rPr lang="en-US" sz="1200" dirty="0">
              <a:solidFill>
                <a:srgbClr val="000000"/>
              </a:solidFill>
              <a:latin typeface="+mn-lt"/>
              <a:ea typeface="Canva Sans"/>
              <a:cs typeface="Canva Sans"/>
              <a:sym typeface="Canva Sans"/>
            </a:rPr>
            <a:t>: Majority of flowlines bypass the frame; some impinge and rebound due to optimized top/bottom cover angles that balance drag reduction and internal volume</a:t>
          </a:r>
          <a:endParaRPr lang="en-US" sz="1200" b="1" dirty="0">
            <a:latin typeface="+mn-lt"/>
          </a:endParaRPr>
        </a:p>
      </dgm:t>
    </dgm:pt>
    <dgm:pt modelId="{33B282F4-A68D-47C4-93FA-F543AAAABDB0}" type="parTrans" cxnId="{F0EECD99-8C06-4928-83AF-894D885BADF5}">
      <dgm:prSet/>
      <dgm:spPr/>
      <dgm:t>
        <a:bodyPr/>
        <a:lstStyle/>
        <a:p>
          <a:endParaRPr lang="en-US"/>
        </a:p>
      </dgm:t>
    </dgm:pt>
    <dgm:pt modelId="{4AE7CD40-2AD8-40DB-8A76-85832B963D1A}" type="sibTrans" cxnId="{F0EECD99-8C06-4928-83AF-894D885BADF5}">
      <dgm:prSet/>
      <dgm:spPr/>
      <dgm:t>
        <a:bodyPr/>
        <a:lstStyle/>
        <a:p>
          <a:endParaRPr lang="en-US"/>
        </a:p>
      </dgm:t>
    </dgm:pt>
    <dgm:pt modelId="{B7BA7741-E143-4B36-BC6C-A6013DA51F98}">
      <dgm:prSet custT="1"/>
      <dgm:spPr/>
      <dgm:t>
        <a:bodyPr/>
        <a:lstStyle/>
        <a:p>
          <a:pPr>
            <a:buFont typeface="Arial"/>
            <a:buChar char="•"/>
          </a:pPr>
          <a:r>
            <a:rPr lang="en-US" sz="1200" b="1" dirty="0">
              <a:solidFill>
                <a:srgbClr val="000000"/>
              </a:solidFill>
              <a:latin typeface="+mn-lt"/>
              <a:ea typeface="Canva Sans"/>
              <a:cs typeface="Canva Sans"/>
              <a:sym typeface="Canva Sans"/>
            </a:rPr>
            <a:t>Rotational</a:t>
          </a:r>
          <a:r>
            <a:rPr lang="en-US" sz="1200" dirty="0">
              <a:solidFill>
                <a:srgbClr val="000000"/>
              </a:solidFill>
              <a:latin typeface="+mn-lt"/>
              <a:ea typeface="Canva Sans"/>
              <a:cs typeface="Canva Sans"/>
              <a:sym typeface="Canva Sans"/>
            </a:rPr>
            <a:t> </a:t>
          </a:r>
          <a:r>
            <a:rPr lang="en-US" sz="1200" b="1" dirty="0">
              <a:solidFill>
                <a:srgbClr val="000000"/>
              </a:solidFill>
              <a:latin typeface="+mn-lt"/>
              <a:ea typeface="Canva Sans"/>
              <a:cs typeface="Canva Sans"/>
              <a:sym typeface="Canva Sans"/>
            </a:rPr>
            <a:t>Domain</a:t>
          </a:r>
          <a:r>
            <a:rPr lang="en-US" sz="1200" dirty="0">
              <a:solidFill>
                <a:srgbClr val="000000"/>
              </a:solidFill>
              <a:latin typeface="+mn-lt"/>
              <a:ea typeface="Canva Sans"/>
              <a:cs typeface="Canva Sans"/>
              <a:sym typeface="Canva Sans"/>
            </a:rPr>
            <a:t>: Cylindrical regions around each of the four propellers, assigned opposite‐spin directions (two clockwise, two counterclockwise)</a:t>
          </a:r>
        </a:p>
      </dgm:t>
    </dgm:pt>
    <dgm:pt modelId="{9740FA53-2A82-4610-ABEF-86637357DD70}" type="parTrans" cxnId="{100C0F44-5A7E-4BB0-873C-2803AF61F713}">
      <dgm:prSet/>
      <dgm:spPr/>
      <dgm:t>
        <a:bodyPr/>
        <a:lstStyle/>
        <a:p>
          <a:endParaRPr lang="en-US"/>
        </a:p>
      </dgm:t>
    </dgm:pt>
    <dgm:pt modelId="{AE66FAE2-E362-4C9F-B47C-1C5D0AA017B1}" type="sibTrans" cxnId="{100C0F44-5A7E-4BB0-873C-2803AF61F713}">
      <dgm:prSet/>
      <dgm:spPr/>
      <dgm:t>
        <a:bodyPr/>
        <a:lstStyle/>
        <a:p>
          <a:endParaRPr lang="en-US"/>
        </a:p>
      </dgm:t>
    </dgm:pt>
    <dgm:pt modelId="{FFBE8379-4625-4228-BF21-C36EE05BCE56}">
      <dgm:prSet custT="1"/>
      <dgm:spPr/>
      <dgm:t>
        <a:bodyPr/>
        <a:lstStyle/>
        <a:p>
          <a:pPr>
            <a:buFont typeface="Arial"/>
            <a:buChar char="•"/>
          </a:pPr>
          <a:r>
            <a:rPr lang="en-US" sz="1200" b="1" dirty="0">
              <a:solidFill>
                <a:srgbClr val="000000"/>
              </a:solidFill>
              <a:latin typeface="+mn-lt"/>
              <a:ea typeface="Canva Sans"/>
              <a:cs typeface="Canva Sans"/>
              <a:sym typeface="Canva Sans"/>
            </a:rPr>
            <a:t>Mesh</a:t>
          </a:r>
          <a:r>
            <a:rPr lang="en-US" sz="1200" dirty="0">
              <a:solidFill>
                <a:srgbClr val="000000"/>
              </a:solidFill>
              <a:latin typeface="+mn-lt"/>
              <a:ea typeface="Canva Sans"/>
              <a:cs typeface="Canva Sans"/>
              <a:sym typeface="Canva Sans"/>
            </a:rPr>
            <a:t>:</a:t>
          </a:r>
        </a:p>
      </dgm:t>
    </dgm:pt>
    <dgm:pt modelId="{6AB276A7-313A-4AE3-9D0B-A23607A50522}" type="parTrans" cxnId="{1FFF3053-5809-4DB9-BFFA-1BB02A566647}">
      <dgm:prSet/>
      <dgm:spPr/>
      <dgm:t>
        <a:bodyPr/>
        <a:lstStyle/>
        <a:p>
          <a:endParaRPr lang="en-US"/>
        </a:p>
      </dgm:t>
    </dgm:pt>
    <dgm:pt modelId="{10C195C6-C062-41E8-B5D0-1D578A5B5E4C}" type="sibTrans" cxnId="{1FFF3053-5809-4DB9-BFFA-1BB02A566647}">
      <dgm:prSet/>
      <dgm:spPr/>
      <dgm:t>
        <a:bodyPr/>
        <a:lstStyle/>
        <a:p>
          <a:endParaRPr lang="en-US"/>
        </a:p>
      </dgm:t>
    </dgm:pt>
    <dgm:pt modelId="{F495AE7F-1936-46E8-B9E5-558631D72F1A}">
      <dgm:prSet custT="1"/>
      <dgm:spPr/>
      <dgm:t>
        <a:bodyPr/>
        <a:lstStyle/>
        <a:p>
          <a:pPr>
            <a:buFont typeface="Arial"/>
            <a:buChar char="•"/>
          </a:pPr>
          <a:r>
            <a:rPr lang="en-US" sz="1200" dirty="0">
              <a:solidFill>
                <a:srgbClr val="000000"/>
              </a:solidFill>
              <a:latin typeface="+mn-lt"/>
              <a:ea typeface="Canva Sans"/>
              <a:cs typeface="Canva Sans"/>
              <a:sym typeface="Canva Sans"/>
            </a:rPr>
            <a:t>Rotational (propeller) domain: 2 mm element size</a:t>
          </a:r>
        </a:p>
      </dgm:t>
    </dgm:pt>
    <dgm:pt modelId="{0782372F-07C0-436E-A2B1-D481141F2098}" type="parTrans" cxnId="{0500D901-E097-40F4-94E5-37C319831284}">
      <dgm:prSet/>
      <dgm:spPr/>
      <dgm:t>
        <a:bodyPr/>
        <a:lstStyle/>
        <a:p>
          <a:endParaRPr lang="en-US"/>
        </a:p>
      </dgm:t>
    </dgm:pt>
    <dgm:pt modelId="{C4F24487-F5FA-4F58-BE57-9CEFD972DBA4}" type="sibTrans" cxnId="{0500D901-E097-40F4-94E5-37C319831284}">
      <dgm:prSet/>
      <dgm:spPr/>
      <dgm:t>
        <a:bodyPr/>
        <a:lstStyle/>
        <a:p>
          <a:endParaRPr lang="en-US"/>
        </a:p>
      </dgm:t>
    </dgm:pt>
    <dgm:pt modelId="{EB1A7FF4-F44F-45DD-9C4C-875649BBA310}">
      <dgm:prSet custT="1"/>
      <dgm:spPr/>
      <dgm:t>
        <a:bodyPr/>
        <a:lstStyle/>
        <a:p>
          <a:pPr>
            <a:buFont typeface="Arial"/>
            <a:buChar char="•"/>
          </a:pPr>
          <a:r>
            <a:rPr lang="en-US" sz="1200" dirty="0">
              <a:solidFill>
                <a:srgbClr val="000000"/>
              </a:solidFill>
              <a:latin typeface="+mn-lt"/>
              <a:ea typeface="Canva Sans"/>
              <a:cs typeface="Canva Sans"/>
              <a:sym typeface="Canva Sans"/>
            </a:rPr>
            <a:t>External (static) domain: 10 mm element size </a:t>
          </a:r>
        </a:p>
      </dgm:t>
    </dgm:pt>
    <dgm:pt modelId="{07229893-092B-43EB-8968-2D10F8693FB3}" type="parTrans" cxnId="{4F10913A-6B58-4DD4-ADC9-031E3F953C6B}">
      <dgm:prSet/>
      <dgm:spPr/>
      <dgm:t>
        <a:bodyPr/>
        <a:lstStyle/>
        <a:p>
          <a:endParaRPr lang="en-US"/>
        </a:p>
      </dgm:t>
    </dgm:pt>
    <dgm:pt modelId="{5204BB5A-6C4D-4427-A04C-07976216A6B7}" type="sibTrans" cxnId="{4F10913A-6B58-4DD4-ADC9-031E3F953C6B}">
      <dgm:prSet/>
      <dgm:spPr/>
      <dgm:t>
        <a:bodyPr/>
        <a:lstStyle/>
        <a:p>
          <a:endParaRPr lang="en-US"/>
        </a:p>
      </dgm:t>
    </dgm:pt>
    <dgm:pt modelId="{3E87816D-4129-417A-A250-61DD11B68CFB}">
      <dgm:prSet custT="1"/>
      <dgm:spPr/>
      <dgm:t>
        <a:bodyPr/>
        <a:lstStyle/>
        <a:p>
          <a:pPr>
            <a:buFont typeface="Arial"/>
            <a:buChar char="•"/>
          </a:pPr>
          <a:r>
            <a:rPr lang="en-US" sz="1200" b="1" dirty="0">
              <a:solidFill>
                <a:srgbClr val="000000"/>
              </a:solidFill>
              <a:latin typeface="+mn-lt"/>
              <a:ea typeface="Canva Sans"/>
              <a:cs typeface="Canva Sans"/>
              <a:sym typeface="Canva Sans"/>
            </a:rPr>
            <a:t>Inlet</a:t>
          </a:r>
          <a:r>
            <a:rPr lang="en-US" sz="1200" dirty="0">
              <a:solidFill>
                <a:srgbClr val="000000"/>
              </a:solidFill>
              <a:latin typeface="+mn-lt"/>
              <a:ea typeface="Canva Sans"/>
              <a:cs typeface="Canva Sans"/>
              <a:sym typeface="Canva Sans"/>
            </a:rPr>
            <a:t> </a:t>
          </a:r>
          <a:r>
            <a:rPr lang="en-US" sz="1200" b="1" dirty="0">
              <a:solidFill>
                <a:srgbClr val="000000"/>
              </a:solidFill>
              <a:latin typeface="+mn-lt"/>
              <a:ea typeface="Canva Sans"/>
              <a:cs typeface="Canva Sans"/>
              <a:sym typeface="Canva Sans"/>
            </a:rPr>
            <a:t>Wind</a:t>
          </a:r>
          <a:r>
            <a:rPr lang="en-US" sz="1200" dirty="0">
              <a:solidFill>
                <a:srgbClr val="000000"/>
              </a:solidFill>
              <a:latin typeface="+mn-lt"/>
              <a:ea typeface="Canva Sans"/>
              <a:cs typeface="Canva Sans"/>
              <a:sym typeface="Canva Sans"/>
            </a:rPr>
            <a:t>: 20 m/s velocity in the X-direction</a:t>
          </a:r>
        </a:p>
      </dgm:t>
    </dgm:pt>
    <dgm:pt modelId="{BEC2F908-58A7-4352-9C66-1D7E71EC8141}" type="parTrans" cxnId="{3887AF66-8C71-4325-8AA4-3DE0A15C5533}">
      <dgm:prSet/>
      <dgm:spPr/>
      <dgm:t>
        <a:bodyPr/>
        <a:lstStyle/>
        <a:p>
          <a:endParaRPr lang="en-US"/>
        </a:p>
      </dgm:t>
    </dgm:pt>
    <dgm:pt modelId="{95DB9D89-8A4D-4417-A639-C00047B414A0}" type="sibTrans" cxnId="{3887AF66-8C71-4325-8AA4-3DE0A15C5533}">
      <dgm:prSet/>
      <dgm:spPr/>
      <dgm:t>
        <a:bodyPr/>
        <a:lstStyle/>
        <a:p>
          <a:endParaRPr lang="en-US"/>
        </a:p>
      </dgm:t>
    </dgm:pt>
    <dgm:pt modelId="{D7DA9A74-141F-4ACA-851C-653270158CBB}">
      <dgm:prSet custT="1"/>
      <dgm:spPr/>
      <dgm:t>
        <a:bodyPr/>
        <a:lstStyle/>
        <a:p>
          <a:pPr>
            <a:buFont typeface="Arial"/>
            <a:buChar char="•"/>
          </a:pPr>
          <a:r>
            <a:rPr lang="en-US" sz="1200" b="1" dirty="0">
              <a:solidFill>
                <a:srgbClr val="000000"/>
              </a:solidFill>
              <a:latin typeface="+mn-lt"/>
              <a:ea typeface="Canva Sans"/>
              <a:cs typeface="Canva Sans"/>
              <a:sym typeface="Canva Sans"/>
            </a:rPr>
            <a:t>Fluid</a:t>
          </a:r>
          <a:r>
            <a:rPr lang="en-US" sz="1200" dirty="0">
              <a:solidFill>
                <a:srgbClr val="000000"/>
              </a:solidFill>
              <a:latin typeface="+mn-lt"/>
              <a:ea typeface="Canva Sans"/>
              <a:cs typeface="Canva Sans"/>
              <a:sym typeface="Canva Sans"/>
            </a:rPr>
            <a:t> </a:t>
          </a:r>
          <a:r>
            <a:rPr lang="en-US" sz="1200" b="1" dirty="0">
              <a:solidFill>
                <a:srgbClr val="000000"/>
              </a:solidFill>
              <a:latin typeface="+mn-lt"/>
              <a:ea typeface="Canva Sans"/>
              <a:cs typeface="Canva Sans"/>
              <a:sym typeface="Canva Sans"/>
            </a:rPr>
            <a:t>&amp;</a:t>
          </a:r>
          <a:r>
            <a:rPr lang="en-US" sz="1200" dirty="0">
              <a:solidFill>
                <a:srgbClr val="000000"/>
              </a:solidFill>
              <a:latin typeface="+mn-lt"/>
              <a:ea typeface="Canva Sans"/>
              <a:cs typeface="Canva Sans"/>
              <a:sym typeface="Canva Sans"/>
            </a:rPr>
            <a:t> </a:t>
          </a:r>
          <a:r>
            <a:rPr lang="en-US" sz="1200" b="1" dirty="0">
              <a:solidFill>
                <a:srgbClr val="000000"/>
              </a:solidFill>
              <a:latin typeface="+mn-lt"/>
              <a:ea typeface="Canva Sans"/>
              <a:cs typeface="Canva Sans"/>
              <a:sym typeface="Canva Sans"/>
            </a:rPr>
            <a:t>Model</a:t>
          </a:r>
          <a:r>
            <a:rPr lang="en-US" sz="1200" dirty="0">
              <a:solidFill>
                <a:srgbClr val="000000"/>
              </a:solidFill>
              <a:latin typeface="+mn-lt"/>
              <a:ea typeface="Canva Sans"/>
              <a:cs typeface="Canva Sans"/>
              <a:sym typeface="Canva Sans"/>
            </a:rPr>
            <a:t>: Air medium; K-omega SST turbulence model; ABS material properties assigned to propeller surfaces</a:t>
          </a:r>
        </a:p>
      </dgm:t>
    </dgm:pt>
    <dgm:pt modelId="{73D5FED6-264F-4DAD-AD7B-F96AE0EB2B55}" type="parTrans" cxnId="{81FB9B32-EF83-48CA-A53E-D2121B2089F0}">
      <dgm:prSet/>
      <dgm:spPr/>
      <dgm:t>
        <a:bodyPr/>
        <a:lstStyle/>
        <a:p>
          <a:endParaRPr lang="en-US"/>
        </a:p>
      </dgm:t>
    </dgm:pt>
    <dgm:pt modelId="{12B5AF24-78FF-44BE-85C3-E909C77757CC}" type="sibTrans" cxnId="{81FB9B32-EF83-48CA-A53E-D2121B2089F0}">
      <dgm:prSet/>
      <dgm:spPr/>
      <dgm:t>
        <a:bodyPr/>
        <a:lstStyle/>
        <a:p>
          <a:endParaRPr lang="en-US"/>
        </a:p>
      </dgm:t>
    </dgm:pt>
    <dgm:pt modelId="{89576452-0326-479C-893B-A05ED6A0851B}">
      <dgm:prSet custT="1"/>
      <dgm:spPr/>
      <dgm:t>
        <a:bodyPr/>
        <a:lstStyle/>
        <a:p>
          <a:pPr>
            <a:buFont typeface="Arial"/>
            <a:buChar char="•"/>
          </a:pPr>
          <a:r>
            <a:rPr lang="en-US" sz="1200" b="1" dirty="0">
              <a:solidFill>
                <a:srgbClr val="000000"/>
              </a:solidFill>
              <a:latin typeface="+mn-lt"/>
              <a:ea typeface="Canva Sans"/>
              <a:cs typeface="Canva Sans"/>
              <a:sym typeface="Canva Sans"/>
            </a:rPr>
            <a:t>Other</a:t>
          </a:r>
          <a:r>
            <a:rPr lang="en-US" sz="1200" dirty="0">
              <a:solidFill>
                <a:srgbClr val="000000"/>
              </a:solidFill>
              <a:latin typeface="+mn-lt"/>
              <a:ea typeface="Canva Sans"/>
              <a:cs typeface="Canva Sans"/>
              <a:sym typeface="Canva Sans"/>
            </a:rPr>
            <a:t> </a:t>
          </a:r>
          <a:r>
            <a:rPr lang="en-US" sz="1200" b="1" dirty="0">
              <a:solidFill>
                <a:srgbClr val="000000"/>
              </a:solidFill>
              <a:latin typeface="+mn-lt"/>
              <a:ea typeface="Canva Sans"/>
              <a:cs typeface="Canva Sans"/>
              <a:sym typeface="Canva Sans"/>
            </a:rPr>
            <a:t>Conditions</a:t>
          </a:r>
          <a:r>
            <a:rPr lang="en-US" sz="1200" dirty="0">
              <a:solidFill>
                <a:srgbClr val="000000"/>
              </a:solidFill>
              <a:latin typeface="+mn-lt"/>
              <a:ea typeface="Canva Sans"/>
              <a:cs typeface="Canva Sans"/>
              <a:sym typeface="Canva Sans"/>
            </a:rPr>
            <a:t>: Standard gravity and atmospheric pressure </a:t>
          </a:r>
        </a:p>
      </dgm:t>
    </dgm:pt>
    <dgm:pt modelId="{B325E8F1-1C59-4A30-A004-B7CC156377B5}" type="parTrans" cxnId="{229094AD-CF40-41E7-A89A-55AF69CD1828}">
      <dgm:prSet/>
      <dgm:spPr/>
      <dgm:t>
        <a:bodyPr/>
        <a:lstStyle/>
        <a:p>
          <a:endParaRPr lang="en-US"/>
        </a:p>
      </dgm:t>
    </dgm:pt>
    <dgm:pt modelId="{0D3C1FDE-F0C1-4E1A-92A5-B747ED43481F}" type="sibTrans" cxnId="{229094AD-CF40-41E7-A89A-55AF69CD1828}">
      <dgm:prSet/>
      <dgm:spPr/>
      <dgm:t>
        <a:bodyPr/>
        <a:lstStyle/>
        <a:p>
          <a:endParaRPr lang="en-US"/>
        </a:p>
      </dgm:t>
    </dgm:pt>
    <dgm:pt modelId="{D6714C93-7EC9-4A1B-9784-3D5AB542305D}">
      <dgm:prSet custT="1"/>
      <dgm:spPr/>
      <dgm:t>
        <a:bodyPr/>
        <a:lstStyle/>
        <a:p>
          <a:r>
            <a:rPr lang="en-US" sz="1200" b="1" dirty="0">
              <a:solidFill>
                <a:srgbClr val="000000"/>
              </a:solidFill>
              <a:latin typeface="+mn-lt"/>
              <a:ea typeface="Canva Sans"/>
              <a:cs typeface="Canva Sans"/>
              <a:sym typeface="Canva Sans"/>
            </a:rPr>
            <a:t>Drag</a:t>
          </a:r>
          <a:r>
            <a:rPr lang="en-US" sz="1200" dirty="0">
              <a:solidFill>
                <a:srgbClr val="000000"/>
              </a:solidFill>
              <a:latin typeface="+mn-lt"/>
              <a:ea typeface="Canva Sans"/>
              <a:cs typeface="Canva Sans"/>
              <a:sym typeface="Canva Sans"/>
            </a:rPr>
            <a:t> </a:t>
          </a:r>
          <a:r>
            <a:rPr lang="en-US" sz="1200" b="1" dirty="0">
              <a:solidFill>
                <a:srgbClr val="000000"/>
              </a:solidFill>
              <a:latin typeface="+mn-lt"/>
              <a:ea typeface="Canva Sans"/>
              <a:cs typeface="Canva Sans"/>
              <a:sym typeface="Canva Sans"/>
            </a:rPr>
            <a:t>Reduction</a:t>
          </a:r>
          <a:r>
            <a:rPr lang="en-US" sz="1200" dirty="0">
              <a:solidFill>
                <a:srgbClr val="000000"/>
              </a:solidFill>
              <a:latin typeface="+mn-lt"/>
              <a:ea typeface="Canva Sans"/>
              <a:cs typeface="Canva Sans"/>
              <a:sym typeface="Canva Sans"/>
            </a:rPr>
            <a:t>: Reduced frontal area and cover angles yield lower drag coefficients while maintaining internal space </a:t>
          </a:r>
        </a:p>
      </dgm:t>
    </dgm:pt>
    <dgm:pt modelId="{A7827373-7393-4786-AB54-A5AD787AC7E1}" type="parTrans" cxnId="{700FAF84-6FCC-4B10-BC96-2F84E4A5C497}">
      <dgm:prSet/>
      <dgm:spPr/>
      <dgm:t>
        <a:bodyPr/>
        <a:lstStyle/>
        <a:p>
          <a:endParaRPr lang="en-US"/>
        </a:p>
      </dgm:t>
    </dgm:pt>
    <dgm:pt modelId="{379B649B-B0C1-442A-AFA5-2AF486E941D7}" type="sibTrans" cxnId="{700FAF84-6FCC-4B10-BC96-2F84E4A5C497}">
      <dgm:prSet/>
      <dgm:spPr/>
      <dgm:t>
        <a:bodyPr/>
        <a:lstStyle/>
        <a:p>
          <a:endParaRPr lang="en-US"/>
        </a:p>
      </dgm:t>
    </dgm:pt>
    <dgm:pt modelId="{F881C956-D380-4DA1-A696-2612AAFD8B54}">
      <dgm:prSet custT="1"/>
      <dgm:spPr/>
      <dgm:t>
        <a:bodyPr/>
        <a:lstStyle/>
        <a:p>
          <a:r>
            <a:rPr lang="en-US" sz="1200" b="1" dirty="0">
              <a:solidFill>
                <a:srgbClr val="000000"/>
              </a:solidFill>
              <a:latin typeface="+mn-lt"/>
              <a:ea typeface="Canva Sans"/>
              <a:cs typeface="Canva Sans"/>
              <a:sym typeface="Canva Sans"/>
            </a:rPr>
            <a:t>Propeller</a:t>
          </a:r>
          <a:r>
            <a:rPr lang="en-US" sz="1200" dirty="0">
              <a:solidFill>
                <a:srgbClr val="000000"/>
              </a:solidFill>
              <a:latin typeface="+mn-lt"/>
              <a:ea typeface="Canva Sans"/>
              <a:cs typeface="Canva Sans"/>
              <a:sym typeface="Canva Sans"/>
            </a:rPr>
            <a:t> </a:t>
          </a:r>
          <a:r>
            <a:rPr lang="en-US" sz="1200" b="1" dirty="0">
              <a:solidFill>
                <a:srgbClr val="000000"/>
              </a:solidFill>
              <a:latin typeface="+mn-lt"/>
              <a:ea typeface="Canva Sans"/>
              <a:cs typeface="Canva Sans"/>
              <a:sym typeface="Canva Sans"/>
            </a:rPr>
            <a:t>Thrust</a:t>
          </a:r>
          <a:r>
            <a:rPr lang="en-US" sz="1200" dirty="0">
              <a:solidFill>
                <a:srgbClr val="000000"/>
              </a:solidFill>
              <a:latin typeface="+mn-lt"/>
              <a:ea typeface="Canva Sans"/>
              <a:cs typeface="Canva Sans"/>
              <a:sym typeface="Canva Sans"/>
            </a:rPr>
            <a:t>: Single-propeller analysis (20,000 RPM, 20 m/s wind) produced a maximum thrust of ≈ 25 N</a:t>
          </a:r>
        </a:p>
      </dgm:t>
    </dgm:pt>
    <dgm:pt modelId="{95A87283-6BE3-4330-AAE0-809B48053BA7}" type="parTrans" cxnId="{4A2F262B-9CBC-4D61-BAC4-820808023E61}">
      <dgm:prSet/>
      <dgm:spPr/>
      <dgm:t>
        <a:bodyPr/>
        <a:lstStyle/>
        <a:p>
          <a:endParaRPr lang="en-US"/>
        </a:p>
      </dgm:t>
    </dgm:pt>
    <dgm:pt modelId="{5E2D259B-17A7-4FB8-9E06-1688ADDFD662}" type="sibTrans" cxnId="{4A2F262B-9CBC-4D61-BAC4-820808023E61}">
      <dgm:prSet/>
      <dgm:spPr/>
      <dgm:t>
        <a:bodyPr/>
        <a:lstStyle/>
        <a:p>
          <a:endParaRPr lang="en-US"/>
        </a:p>
      </dgm:t>
    </dgm:pt>
    <dgm:pt modelId="{48125EEC-7DA5-4837-AD69-3E7848F82701}">
      <dgm:prSet custT="1"/>
      <dgm:spPr/>
      <dgm:t>
        <a:bodyPr/>
        <a:lstStyle/>
        <a:p>
          <a:r>
            <a:rPr lang="en-US" sz="1200" dirty="0">
              <a:solidFill>
                <a:srgbClr val="000000"/>
              </a:solidFill>
              <a:latin typeface="+mn-lt"/>
              <a:ea typeface="Canva Sans"/>
              <a:cs typeface="Canva Sans"/>
              <a:sym typeface="Canva Sans"/>
            </a:rPr>
            <a:t>Coefficient of drag ranged within (–0.8, 0.8) over simulation conditions.</a:t>
          </a:r>
        </a:p>
      </dgm:t>
    </dgm:pt>
    <dgm:pt modelId="{988E35BC-9385-41A4-8928-AD2D5E74759D}" type="parTrans" cxnId="{B63DD820-EFE0-4077-A703-382509ED2822}">
      <dgm:prSet/>
      <dgm:spPr/>
      <dgm:t>
        <a:bodyPr/>
        <a:lstStyle/>
        <a:p>
          <a:endParaRPr lang="en-US"/>
        </a:p>
      </dgm:t>
    </dgm:pt>
    <dgm:pt modelId="{E9D956F2-A342-4149-8595-06FC1381EE7B}" type="sibTrans" cxnId="{B63DD820-EFE0-4077-A703-382509ED2822}">
      <dgm:prSet/>
      <dgm:spPr/>
      <dgm:t>
        <a:bodyPr/>
        <a:lstStyle/>
        <a:p>
          <a:endParaRPr lang="en-US"/>
        </a:p>
      </dgm:t>
    </dgm:pt>
    <dgm:pt modelId="{64A1E8AE-9C2D-4902-A360-DE422B063FF6}" type="pres">
      <dgm:prSet presAssocID="{F9B3111F-C7D1-4BAF-ADE0-E8D21A1DC4B4}" presName="Name0" presStyleCnt="0">
        <dgm:presLayoutVars>
          <dgm:dir/>
          <dgm:animLvl val="lvl"/>
          <dgm:resizeHandles val="exact"/>
        </dgm:presLayoutVars>
      </dgm:prSet>
      <dgm:spPr/>
    </dgm:pt>
    <dgm:pt modelId="{AD88FFF9-5F44-4DCE-BF6D-F9C662DCE206}" type="pres">
      <dgm:prSet presAssocID="{F9B3111F-C7D1-4BAF-ADE0-E8D21A1DC4B4}" presName="tSp" presStyleCnt="0"/>
      <dgm:spPr/>
    </dgm:pt>
    <dgm:pt modelId="{C1D446AB-E90D-4E8C-ADE5-FB7B9CF3DC5E}" type="pres">
      <dgm:prSet presAssocID="{F9B3111F-C7D1-4BAF-ADE0-E8D21A1DC4B4}" presName="bSp" presStyleCnt="0"/>
      <dgm:spPr/>
    </dgm:pt>
    <dgm:pt modelId="{082858DA-B6B4-43DD-B575-F683F447C3E7}" type="pres">
      <dgm:prSet presAssocID="{F9B3111F-C7D1-4BAF-ADE0-E8D21A1DC4B4}" presName="process" presStyleCnt="0"/>
      <dgm:spPr/>
    </dgm:pt>
    <dgm:pt modelId="{7765A3EE-C20B-47F3-A300-4A21109150C9}" type="pres">
      <dgm:prSet presAssocID="{C1BB7BE3-1AE6-42ED-92A5-B8724C887BE9}" presName="composite1" presStyleCnt="0"/>
      <dgm:spPr/>
    </dgm:pt>
    <dgm:pt modelId="{C278FAE1-52D2-40FF-962C-5A2D97EF97F0}" type="pres">
      <dgm:prSet presAssocID="{C1BB7BE3-1AE6-42ED-92A5-B8724C887BE9}" presName="dummyNode1" presStyleLbl="node1" presStyleIdx="0" presStyleCnt="3"/>
      <dgm:spPr/>
    </dgm:pt>
    <dgm:pt modelId="{208AFB81-9C49-4E39-809D-342B5626E929}" type="pres">
      <dgm:prSet presAssocID="{C1BB7BE3-1AE6-42ED-92A5-B8724C887BE9}" presName="childNode1" presStyleLbl="bgAcc1" presStyleIdx="0" presStyleCnt="3" custScaleX="115022" custScaleY="112668" custLinFactNeighborX="-169" custLinFactNeighborY="-20242">
        <dgm:presLayoutVars>
          <dgm:bulletEnabled val="1"/>
        </dgm:presLayoutVars>
      </dgm:prSet>
      <dgm:spPr/>
    </dgm:pt>
    <dgm:pt modelId="{8D06E90C-9165-4AE4-9F36-F1C4FD36D273}" type="pres">
      <dgm:prSet presAssocID="{C1BB7BE3-1AE6-42ED-92A5-B8724C887BE9}" presName="childNode1tx" presStyleLbl="bgAcc1" presStyleIdx="0" presStyleCnt="3">
        <dgm:presLayoutVars>
          <dgm:bulletEnabled val="1"/>
        </dgm:presLayoutVars>
      </dgm:prSet>
      <dgm:spPr/>
    </dgm:pt>
    <dgm:pt modelId="{3ED47477-1A30-45C3-9BB4-5A10DE3684B7}" type="pres">
      <dgm:prSet presAssocID="{C1BB7BE3-1AE6-42ED-92A5-B8724C887BE9}" presName="parentNode1" presStyleLbl="node1" presStyleIdx="0" presStyleCnt="3" custScaleY="50306" custLinFactNeighborX="16675" custLinFactNeighborY="-24678">
        <dgm:presLayoutVars>
          <dgm:chMax val="1"/>
          <dgm:bulletEnabled val="1"/>
        </dgm:presLayoutVars>
      </dgm:prSet>
      <dgm:spPr/>
    </dgm:pt>
    <dgm:pt modelId="{879F13AD-9510-45E0-AD70-E1B87FC5A96C}" type="pres">
      <dgm:prSet presAssocID="{C1BB7BE3-1AE6-42ED-92A5-B8724C887BE9}" presName="connSite1" presStyleCnt="0"/>
      <dgm:spPr/>
    </dgm:pt>
    <dgm:pt modelId="{08DD75CA-136B-45E6-9EDA-5121DCF5FFC2}" type="pres">
      <dgm:prSet presAssocID="{951062C3-868A-4137-BD60-E284BDAE99FC}" presName="Name9" presStyleLbl="sibTrans2D1" presStyleIdx="0" presStyleCnt="2" custAng="0" custLinFactNeighborX="1372" custLinFactNeighborY="1372"/>
      <dgm:spPr/>
    </dgm:pt>
    <dgm:pt modelId="{1CB49022-EDCE-48E4-905C-56852518717D}" type="pres">
      <dgm:prSet presAssocID="{291D5454-382E-4B29-A1DB-1933B31DFB47}" presName="composite2" presStyleCnt="0"/>
      <dgm:spPr/>
    </dgm:pt>
    <dgm:pt modelId="{6F213261-AE3E-49D1-9DA3-D15A361D4775}" type="pres">
      <dgm:prSet presAssocID="{291D5454-382E-4B29-A1DB-1933B31DFB47}" presName="dummyNode2" presStyleLbl="node1" presStyleIdx="0" presStyleCnt="3"/>
      <dgm:spPr/>
    </dgm:pt>
    <dgm:pt modelId="{FEDF83B9-EBD2-443B-8427-37884DFF2BFE}" type="pres">
      <dgm:prSet presAssocID="{291D5454-382E-4B29-A1DB-1933B31DFB47}" presName="childNode2" presStyleLbl="bgAcc1" presStyleIdx="1" presStyleCnt="3" custScaleX="127789" custScaleY="111354" custLinFactNeighborX="-2642" custLinFactNeighborY="21308">
        <dgm:presLayoutVars>
          <dgm:bulletEnabled val="1"/>
        </dgm:presLayoutVars>
      </dgm:prSet>
      <dgm:spPr/>
    </dgm:pt>
    <dgm:pt modelId="{135C9C07-9B2D-4B08-BFFC-DEE7356F8792}" type="pres">
      <dgm:prSet presAssocID="{291D5454-382E-4B29-A1DB-1933B31DFB47}" presName="childNode2tx" presStyleLbl="bgAcc1" presStyleIdx="1" presStyleCnt="3">
        <dgm:presLayoutVars>
          <dgm:bulletEnabled val="1"/>
        </dgm:presLayoutVars>
      </dgm:prSet>
      <dgm:spPr/>
    </dgm:pt>
    <dgm:pt modelId="{BCE6355D-6690-4096-84B4-683A90DC815F}" type="pres">
      <dgm:prSet presAssocID="{291D5454-382E-4B29-A1DB-1933B31DFB47}" presName="parentNode2" presStyleLbl="node1" presStyleIdx="1" presStyleCnt="3" custLinFactNeighborX="-1428" custLinFactNeighborY="39502">
        <dgm:presLayoutVars>
          <dgm:chMax val="0"/>
          <dgm:bulletEnabled val="1"/>
        </dgm:presLayoutVars>
      </dgm:prSet>
      <dgm:spPr/>
    </dgm:pt>
    <dgm:pt modelId="{0D4A9A55-5CF3-4626-8D97-BB4330D28FC8}" type="pres">
      <dgm:prSet presAssocID="{291D5454-382E-4B29-A1DB-1933B31DFB47}" presName="connSite2" presStyleCnt="0"/>
      <dgm:spPr/>
    </dgm:pt>
    <dgm:pt modelId="{C919C95B-C145-48DB-9EC1-8FA91298B162}" type="pres">
      <dgm:prSet presAssocID="{712FFD9F-40A7-4ED0-AB3E-000F5DA109C3}" presName="Name18" presStyleLbl="sibTrans2D1" presStyleIdx="1" presStyleCnt="2"/>
      <dgm:spPr/>
    </dgm:pt>
    <dgm:pt modelId="{5E629A34-DFDE-4795-A303-7C5DF632E4C5}" type="pres">
      <dgm:prSet presAssocID="{1A66924D-0B19-4D63-BF28-F24DF5ED1842}" presName="composite1" presStyleCnt="0"/>
      <dgm:spPr/>
    </dgm:pt>
    <dgm:pt modelId="{B05D222D-8F43-4A5E-A6F6-B09EC2088AF3}" type="pres">
      <dgm:prSet presAssocID="{1A66924D-0B19-4D63-BF28-F24DF5ED1842}" presName="dummyNode1" presStyleLbl="node1" presStyleIdx="1" presStyleCnt="3"/>
      <dgm:spPr/>
    </dgm:pt>
    <dgm:pt modelId="{323ADCC7-D991-4817-816C-CACB5539B241}" type="pres">
      <dgm:prSet presAssocID="{1A66924D-0B19-4D63-BF28-F24DF5ED1842}" presName="childNode1" presStyleLbl="bgAcc1" presStyleIdx="2" presStyleCnt="3" custScaleX="125207" custScaleY="137411" custLinFactNeighborX="-6059" custLinFactNeighborY="-14935">
        <dgm:presLayoutVars>
          <dgm:bulletEnabled val="1"/>
        </dgm:presLayoutVars>
      </dgm:prSet>
      <dgm:spPr/>
    </dgm:pt>
    <dgm:pt modelId="{19C1E7BD-512E-493A-B7A5-3317B68D54FF}" type="pres">
      <dgm:prSet presAssocID="{1A66924D-0B19-4D63-BF28-F24DF5ED1842}" presName="childNode1tx" presStyleLbl="bgAcc1" presStyleIdx="2" presStyleCnt="3">
        <dgm:presLayoutVars>
          <dgm:bulletEnabled val="1"/>
        </dgm:presLayoutVars>
      </dgm:prSet>
      <dgm:spPr/>
    </dgm:pt>
    <dgm:pt modelId="{CA88590D-E790-4434-A5EF-6B933D9B2BB1}" type="pres">
      <dgm:prSet presAssocID="{1A66924D-0B19-4D63-BF28-F24DF5ED1842}" presName="parentNode1" presStyleLbl="node1" presStyleIdx="2" presStyleCnt="3" custScaleY="71608" custLinFactNeighborX="-25" custLinFactNeighborY="14408">
        <dgm:presLayoutVars>
          <dgm:chMax val="1"/>
          <dgm:bulletEnabled val="1"/>
        </dgm:presLayoutVars>
      </dgm:prSet>
      <dgm:spPr/>
    </dgm:pt>
    <dgm:pt modelId="{1449F0B2-597B-4DB3-804E-BE4A6D06A972}" type="pres">
      <dgm:prSet presAssocID="{1A66924D-0B19-4D63-BF28-F24DF5ED1842}" presName="connSite1" presStyleCnt="0"/>
      <dgm:spPr/>
    </dgm:pt>
  </dgm:ptLst>
  <dgm:cxnLst>
    <dgm:cxn modelId="{0500D901-E097-40F4-94E5-37C319831284}" srcId="{C1BB7BE3-1AE6-42ED-92A5-B8724C887BE9}" destId="{F495AE7F-1936-46E8-B9E5-558631D72F1A}" srcOrd="3" destOrd="0" parTransId="{0782372F-07C0-436E-A2B1-D481141F2098}" sibTransId="{C4F24487-F5FA-4F58-BE57-9CEFD972DBA4}"/>
    <dgm:cxn modelId="{2390F405-FA1D-4432-BCF3-B57ED3AD27FC}" type="presOf" srcId="{697F60E2-ECD6-480D-BCBA-236D7F84C52F}" destId="{8D06E90C-9165-4AE4-9F36-F1C4FD36D273}" srcOrd="1" destOrd="0" presId="urn:microsoft.com/office/officeart/2005/8/layout/hProcess4"/>
    <dgm:cxn modelId="{D97C9707-3963-4760-A952-2DBA810A6CBD}" type="presOf" srcId="{B7BA7741-E143-4B36-BC6C-A6013DA51F98}" destId="{8D06E90C-9165-4AE4-9F36-F1C4FD36D273}" srcOrd="1" destOrd="1" presId="urn:microsoft.com/office/officeart/2005/8/layout/hProcess4"/>
    <dgm:cxn modelId="{5AF9D507-BA86-459E-B7E0-37193240C0A5}" type="presOf" srcId="{D7DA9A74-141F-4ACA-851C-653270158CBB}" destId="{135C9C07-9B2D-4B08-BFFC-DEE7356F8792}" srcOrd="1" destOrd="2" presId="urn:microsoft.com/office/officeart/2005/8/layout/hProcess4"/>
    <dgm:cxn modelId="{0E477E0C-3344-4C6B-ABCD-47345D082FB7}" type="presOf" srcId="{89576452-0326-479C-893B-A05ED6A0851B}" destId="{FEDF83B9-EBD2-443B-8427-37884DFF2BFE}" srcOrd="0" destOrd="3" presId="urn:microsoft.com/office/officeart/2005/8/layout/hProcess4"/>
    <dgm:cxn modelId="{FE5F780F-3DE3-4407-89AA-9A881F3DC5F6}" type="presOf" srcId="{F881C956-D380-4DA1-A696-2612AAFD8B54}" destId="{19C1E7BD-512E-493A-B7A5-3317B68D54FF}" srcOrd="1" destOrd="2" presId="urn:microsoft.com/office/officeart/2005/8/layout/hProcess4"/>
    <dgm:cxn modelId="{A5361513-F12E-4AC4-BEFF-EBE906B37212}" type="presOf" srcId="{FFBE8379-4625-4228-BF21-C36EE05BCE56}" destId="{8D06E90C-9165-4AE4-9F36-F1C4FD36D273}" srcOrd="1" destOrd="2" presId="urn:microsoft.com/office/officeart/2005/8/layout/hProcess4"/>
    <dgm:cxn modelId="{EC892813-3B9E-45BB-8D23-29716AC086BE}" type="presOf" srcId="{697F60E2-ECD6-480D-BCBA-236D7F84C52F}" destId="{208AFB81-9C49-4E39-809D-342B5626E929}" srcOrd="0" destOrd="0" presId="urn:microsoft.com/office/officeart/2005/8/layout/hProcess4"/>
    <dgm:cxn modelId="{D257C313-D144-49CD-908B-C27710885D98}" type="presOf" srcId="{48125EEC-7DA5-4837-AD69-3E7848F82701}" destId="{323ADCC7-D991-4817-816C-CACB5539B241}" srcOrd="0" destOrd="3" presId="urn:microsoft.com/office/officeart/2005/8/layout/hProcess4"/>
    <dgm:cxn modelId="{58A2FD15-AD96-4F6A-9B13-BF3AD2FE0A81}" type="presOf" srcId="{951062C3-868A-4137-BD60-E284BDAE99FC}" destId="{08DD75CA-136B-45E6-9EDA-5121DCF5FFC2}" srcOrd="0" destOrd="0" presId="urn:microsoft.com/office/officeart/2005/8/layout/hProcess4"/>
    <dgm:cxn modelId="{83A42120-CE90-48E0-909E-4DC147F6E710}" srcId="{C1BB7BE3-1AE6-42ED-92A5-B8724C887BE9}" destId="{697F60E2-ECD6-480D-BCBA-236D7F84C52F}" srcOrd="0" destOrd="0" parTransId="{4E80E91B-9A59-4C24-B4D9-F3E43131A91F}" sibTransId="{D8995AA9-E7A9-47A6-A470-CA9D1363D89C}"/>
    <dgm:cxn modelId="{B63DD820-EFE0-4077-A703-382509ED2822}" srcId="{1A66924D-0B19-4D63-BF28-F24DF5ED1842}" destId="{48125EEC-7DA5-4837-AD69-3E7848F82701}" srcOrd="3" destOrd="0" parTransId="{988E35BC-9385-41A4-8928-AD2D5E74759D}" sibTransId="{E9D956F2-A342-4149-8595-06FC1381EE7B}"/>
    <dgm:cxn modelId="{CAE0F421-9DA6-46BD-8D73-C29CA835BBEB}" srcId="{F9B3111F-C7D1-4BAF-ADE0-E8D21A1DC4B4}" destId="{291D5454-382E-4B29-A1DB-1933B31DFB47}" srcOrd="1" destOrd="0" parTransId="{7006CE3F-72F0-407B-B0EC-946E52004169}" sibTransId="{712FFD9F-40A7-4ED0-AB3E-000F5DA109C3}"/>
    <dgm:cxn modelId="{29EA1622-1775-4F0C-B62D-A2D5F2A3D293}" type="presOf" srcId="{D6714C93-7EC9-4A1B-9784-3D5AB542305D}" destId="{323ADCC7-D991-4817-816C-CACB5539B241}" srcOrd="0" destOrd="1" presId="urn:microsoft.com/office/officeart/2005/8/layout/hProcess4"/>
    <dgm:cxn modelId="{64998929-178A-4746-AD92-14D30ABB6A3C}" type="presOf" srcId="{FFBE8379-4625-4228-BF21-C36EE05BCE56}" destId="{208AFB81-9C49-4E39-809D-342B5626E929}" srcOrd="0" destOrd="2" presId="urn:microsoft.com/office/officeart/2005/8/layout/hProcess4"/>
    <dgm:cxn modelId="{4A2F262B-9CBC-4D61-BAC4-820808023E61}" srcId="{1A66924D-0B19-4D63-BF28-F24DF5ED1842}" destId="{F881C956-D380-4DA1-A696-2612AAFD8B54}" srcOrd="2" destOrd="0" parTransId="{95A87283-6BE3-4330-AAE0-809B48053BA7}" sibTransId="{5E2D259B-17A7-4FB8-9E06-1688ADDFD662}"/>
    <dgm:cxn modelId="{81FB9B32-EF83-48CA-A53E-D2121B2089F0}" srcId="{291D5454-382E-4B29-A1DB-1933B31DFB47}" destId="{D7DA9A74-141F-4ACA-851C-653270158CBB}" srcOrd="2" destOrd="0" parTransId="{73D5FED6-264F-4DAD-AD7B-F96AE0EB2B55}" sibTransId="{12B5AF24-78FF-44BE-85C3-E909C77757CC}"/>
    <dgm:cxn modelId="{4F10913A-6B58-4DD4-ADC9-031E3F953C6B}" srcId="{C1BB7BE3-1AE6-42ED-92A5-B8724C887BE9}" destId="{EB1A7FF4-F44F-45DD-9C4C-875649BBA310}" srcOrd="4" destOrd="0" parTransId="{07229893-092B-43EB-8968-2D10F8693FB3}" sibTransId="{5204BB5A-6C4D-4427-A04C-07976216A6B7}"/>
    <dgm:cxn modelId="{C64E1A5C-CE56-484A-A4B6-AA2583F3D39F}" type="presOf" srcId="{D7DA9A74-141F-4ACA-851C-653270158CBB}" destId="{FEDF83B9-EBD2-443B-8427-37884DFF2BFE}" srcOrd="0" destOrd="2" presId="urn:microsoft.com/office/officeart/2005/8/layout/hProcess4"/>
    <dgm:cxn modelId="{0835A15E-1CBF-405B-AF58-715B5FB005ED}" type="presOf" srcId="{3E87816D-4129-417A-A250-61DD11B68CFB}" destId="{FEDF83B9-EBD2-443B-8427-37884DFF2BFE}" srcOrd="0" destOrd="1" presId="urn:microsoft.com/office/officeart/2005/8/layout/hProcess4"/>
    <dgm:cxn modelId="{926D045F-203E-4441-AFAD-5C6BBCA93C40}" type="presOf" srcId="{1A66924D-0B19-4D63-BF28-F24DF5ED1842}" destId="{CA88590D-E790-4434-A5EF-6B933D9B2BB1}" srcOrd="0" destOrd="0" presId="urn:microsoft.com/office/officeart/2005/8/layout/hProcess4"/>
    <dgm:cxn modelId="{100C0F44-5A7E-4BB0-873C-2803AF61F713}" srcId="{C1BB7BE3-1AE6-42ED-92A5-B8724C887BE9}" destId="{B7BA7741-E143-4B36-BC6C-A6013DA51F98}" srcOrd="1" destOrd="0" parTransId="{9740FA53-2A82-4610-ABEF-86637357DD70}" sibTransId="{AE66FAE2-E362-4C9F-B47C-1C5D0AA017B1}"/>
    <dgm:cxn modelId="{3887AF66-8C71-4325-8AA4-3DE0A15C5533}" srcId="{291D5454-382E-4B29-A1DB-1933B31DFB47}" destId="{3E87816D-4129-417A-A250-61DD11B68CFB}" srcOrd="1" destOrd="0" parTransId="{BEC2F908-58A7-4352-9C66-1D7E71EC8141}" sibTransId="{95DB9D89-8A4D-4417-A639-C00047B414A0}"/>
    <dgm:cxn modelId="{1FFF3053-5809-4DB9-BFFA-1BB02A566647}" srcId="{C1BB7BE3-1AE6-42ED-92A5-B8724C887BE9}" destId="{FFBE8379-4625-4228-BF21-C36EE05BCE56}" srcOrd="2" destOrd="0" parTransId="{6AB276A7-313A-4AE3-9D0B-A23607A50522}" sibTransId="{10C195C6-C062-41E8-B5D0-1D578A5B5E4C}"/>
    <dgm:cxn modelId="{700FAF84-6FCC-4B10-BC96-2F84E4A5C497}" srcId="{1A66924D-0B19-4D63-BF28-F24DF5ED1842}" destId="{D6714C93-7EC9-4A1B-9784-3D5AB542305D}" srcOrd="1" destOrd="0" parTransId="{A7827373-7393-4786-AB54-A5AD787AC7E1}" sibTransId="{379B649B-B0C1-442A-AFA5-2AF486E941D7}"/>
    <dgm:cxn modelId="{46271488-B887-43D0-B870-E066CCC5F9D1}" type="presOf" srcId="{712FFD9F-40A7-4ED0-AB3E-000F5DA109C3}" destId="{C919C95B-C145-48DB-9EC1-8FA91298B162}" srcOrd="0" destOrd="0" presId="urn:microsoft.com/office/officeart/2005/8/layout/hProcess4"/>
    <dgm:cxn modelId="{8B254789-4B55-4F4B-80D7-83BC39C48771}" type="presOf" srcId="{AABE9649-B2A3-4966-8D0A-4F3B03F06EA4}" destId="{323ADCC7-D991-4817-816C-CACB5539B241}" srcOrd="0" destOrd="0" presId="urn:microsoft.com/office/officeart/2005/8/layout/hProcess4"/>
    <dgm:cxn modelId="{0897E590-B1A1-4FDB-B0D2-63109F74C497}" type="presOf" srcId="{E3614C20-3CB6-4368-BA64-08B87C889F99}" destId="{135C9C07-9B2D-4B08-BFFC-DEE7356F8792}" srcOrd="1" destOrd="0" presId="urn:microsoft.com/office/officeart/2005/8/layout/hProcess4"/>
    <dgm:cxn modelId="{84351E91-32EF-4425-8B00-13808008FE44}" type="presOf" srcId="{48125EEC-7DA5-4837-AD69-3E7848F82701}" destId="{19C1E7BD-512E-493A-B7A5-3317B68D54FF}" srcOrd="1" destOrd="3" presId="urn:microsoft.com/office/officeart/2005/8/layout/hProcess4"/>
    <dgm:cxn modelId="{F0EECD99-8C06-4928-83AF-894D885BADF5}" srcId="{1A66924D-0B19-4D63-BF28-F24DF5ED1842}" destId="{AABE9649-B2A3-4966-8D0A-4F3B03F06EA4}" srcOrd="0" destOrd="0" parTransId="{33B282F4-A68D-47C4-93FA-F543AAAABDB0}" sibTransId="{4AE7CD40-2AD8-40DB-8A76-85832B963D1A}"/>
    <dgm:cxn modelId="{24A5AC9A-127C-4582-AF23-5FB10E8B2B10}" srcId="{291D5454-382E-4B29-A1DB-1933B31DFB47}" destId="{E3614C20-3CB6-4368-BA64-08B87C889F99}" srcOrd="0" destOrd="0" parTransId="{F4FC5A74-6130-41E4-9082-A46332D84616}" sibTransId="{0C9C1AAC-82E4-4B49-951E-59DBE071F7AC}"/>
    <dgm:cxn modelId="{146B96A1-B9A5-4919-8CEE-46348467B7DE}" type="presOf" srcId="{89576452-0326-479C-893B-A05ED6A0851B}" destId="{135C9C07-9B2D-4B08-BFFC-DEE7356F8792}" srcOrd="1" destOrd="3" presId="urn:microsoft.com/office/officeart/2005/8/layout/hProcess4"/>
    <dgm:cxn modelId="{229094AD-CF40-41E7-A89A-55AF69CD1828}" srcId="{291D5454-382E-4B29-A1DB-1933B31DFB47}" destId="{89576452-0326-479C-893B-A05ED6A0851B}" srcOrd="3" destOrd="0" parTransId="{B325E8F1-1C59-4A30-A004-B7CC156377B5}" sibTransId="{0D3C1FDE-F0C1-4E1A-92A5-B747ED43481F}"/>
    <dgm:cxn modelId="{DFE7F1AF-197E-405B-AC3B-6141249C54D5}" type="presOf" srcId="{C1BB7BE3-1AE6-42ED-92A5-B8724C887BE9}" destId="{3ED47477-1A30-45C3-9BB4-5A10DE3684B7}" srcOrd="0" destOrd="0" presId="urn:microsoft.com/office/officeart/2005/8/layout/hProcess4"/>
    <dgm:cxn modelId="{F3CAB5B4-7C2A-44AD-9C91-A710751F0BEC}" type="presOf" srcId="{EB1A7FF4-F44F-45DD-9C4C-875649BBA310}" destId="{208AFB81-9C49-4E39-809D-342B5626E929}" srcOrd="0" destOrd="4" presId="urn:microsoft.com/office/officeart/2005/8/layout/hProcess4"/>
    <dgm:cxn modelId="{6264A2C3-F0C2-4BF8-926F-C79570895A78}" type="presOf" srcId="{D6714C93-7EC9-4A1B-9784-3D5AB542305D}" destId="{19C1E7BD-512E-493A-B7A5-3317B68D54FF}" srcOrd="1" destOrd="1" presId="urn:microsoft.com/office/officeart/2005/8/layout/hProcess4"/>
    <dgm:cxn modelId="{102E49C7-D812-40C2-80A2-2F7A234A7FAA}" type="presOf" srcId="{F881C956-D380-4DA1-A696-2612AAFD8B54}" destId="{323ADCC7-D991-4817-816C-CACB5539B241}" srcOrd="0" destOrd="2" presId="urn:microsoft.com/office/officeart/2005/8/layout/hProcess4"/>
    <dgm:cxn modelId="{0B30B2CD-DE45-4365-BEE3-5BF7394C6AFF}" type="presOf" srcId="{3E87816D-4129-417A-A250-61DD11B68CFB}" destId="{135C9C07-9B2D-4B08-BFFC-DEE7356F8792}" srcOrd="1" destOrd="1" presId="urn:microsoft.com/office/officeart/2005/8/layout/hProcess4"/>
    <dgm:cxn modelId="{74AFB5DF-45A9-4F50-BDE4-3880187EFA5A}" type="presOf" srcId="{AABE9649-B2A3-4966-8D0A-4F3B03F06EA4}" destId="{19C1E7BD-512E-493A-B7A5-3317B68D54FF}" srcOrd="1" destOrd="0" presId="urn:microsoft.com/office/officeart/2005/8/layout/hProcess4"/>
    <dgm:cxn modelId="{67569FE5-6144-49DE-B7F0-04EEC4711FBC}" srcId="{F9B3111F-C7D1-4BAF-ADE0-E8D21A1DC4B4}" destId="{1A66924D-0B19-4D63-BF28-F24DF5ED1842}" srcOrd="2" destOrd="0" parTransId="{0E5A30C2-0009-4CEE-90B6-D264207D607D}" sibTransId="{FB16AA82-3B6F-4534-A4C9-FCC95A398726}"/>
    <dgm:cxn modelId="{B18EECE7-9D62-4785-9B62-21F1DC59369E}" type="presOf" srcId="{F495AE7F-1936-46E8-B9E5-558631D72F1A}" destId="{208AFB81-9C49-4E39-809D-342B5626E929}" srcOrd="0" destOrd="3" presId="urn:microsoft.com/office/officeart/2005/8/layout/hProcess4"/>
    <dgm:cxn modelId="{A05887E8-D62E-4EDC-8C2E-8AD98FE70276}" srcId="{F9B3111F-C7D1-4BAF-ADE0-E8D21A1DC4B4}" destId="{C1BB7BE3-1AE6-42ED-92A5-B8724C887BE9}" srcOrd="0" destOrd="0" parTransId="{9140D4B7-DA02-4343-9A6C-42D9B3180DBB}" sibTransId="{951062C3-868A-4137-BD60-E284BDAE99FC}"/>
    <dgm:cxn modelId="{9D9FB8F3-748A-4ABC-BAB2-848866E45C28}" type="presOf" srcId="{B7BA7741-E143-4B36-BC6C-A6013DA51F98}" destId="{208AFB81-9C49-4E39-809D-342B5626E929}" srcOrd="0" destOrd="1" presId="urn:microsoft.com/office/officeart/2005/8/layout/hProcess4"/>
    <dgm:cxn modelId="{75CD95F6-997A-439B-A725-5609220E9655}" type="presOf" srcId="{F495AE7F-1936-46E8-B9E5-558631D72F1A}" destId="{8D06E90C-9165-4AE4-9F36-F1C4FD36D273}" srcOrd="1" destOrd="3" presId="urn:microsoft.com/office/officeart/2005/8/layout/hProcess4"/>
    <dgm:cxn modelId="{3F5122F9-139F-43FB-9ACA-EAEA465FF118}" type="presOf" srcId="{291D5454-382E-4B29-A1DB-1933B31DFB47}" destId="{BCE6355D-6690-4096-84B4-683A90DC815F}" srcOrd="0" destOrd="0" presId="urn:microsoft.com/office/officeart/2005/8/layout/hProcess4"/>
    <dgm:cxn modelId="{04D523FA-3C6E-46FC-9251-E93AB8F564C1}" type="presOf" srcId="{E3614C20-3CB6-4368-BA64-08B87C889F99}" destId="{FEDF83B9-EBD2-443B-8427-37884DFF2BFE}" srcOrd="0" destOrd="0" presId="urn:microsoft.com/office/officeart/2005/8/layout/hProcess4"/>
    <dgm:cxn modelId="{02D0EDFC-7E37-414C-8C7E-9FBE3FC3626D}" type="presOf" srcId="{F9B3111F-C7D1-4BAF-ADE0-E8D21A1DC4B4}" destId="{64A1E8AE-9C2D-4902-A360-DE422B063FF6}" srcOrd="0" destOrd="0" presId="urn:microsoft.com/office/officeart/2005/8/layout/hProcess4"/>
    <dgm:cxn modelId="{B5B448FD-25FF-449F-B709-38370D14E7B4}" type="presOf" srcId="{EB1A7FF4-F44F-45DD-9C4C-875649BBA310}" destId="{8D06E90C-9165-4AE4-9F36-F1C4FD36D273}" srcOrd="1" destOrd="4" presId="urn:microsoft.com/office/officeart/2005/8/layout/hProcess4"/>
    <dgm:cxn modelId="{CB62AC03-24B9-426F-B06E-13802C84D46B}" type="presParOf" srcId="{64A1E8AE-9C2D-4902-A360-DE422B063FF6}" destId="{AD88FFF9-5F44-4DCE-BF6D-F9C662DCE206}" srcOrd="0" destOrd="0" presId="urn:microsoft.com/office/officeart/2005/8/layout/hProcess4"/>
    <dgm:cxn modelId="{6E3A4780-1AC5-434D-AE4A-ACA02AA9AF9F}" type="presParOf" srcId="{64A1E8AE-9C2D-4902-A360-DE422B063FF6}" destId="{C1D446AB-E90D-4E8C-ADE5-FB7B9CF3DC5E}" srcOrd="1" destOrd="0" presId="urn:microsoft.com/office/officeart/2005/8/layout/hProcess4"/>
    <dgm:cxn modelId="{A634BCA4-CB67-4B8D-9719-E21D852BABA4}" type="presParOf" srcId="{64A1E8AE-9C2D-4902-A360-DE422B063FF6}" destId="{082858DA-B6B4-43DD-B575-F683F447C3E7}" srcOrd="2" destOrd="0" presId="urn:microsoft.com/office/officeart/2005/8/layout/hProcess4"/>
    <dgm:cxn modelId="{DCB563B6-8F14-4869-9A6F-DB6A4B640C3A}" type="presParOf" srcId="{082858DA-B6B4-43DD-B575-F683F447C3E7}" destId="{7765A3EE-C20B-47F3-A300-4A21109150C9}" srcOrd="0" destOrd="0" presId="urn:microsoft.com/office/officeart/2005/8/layout/hProcess4"/>
    <dgm:cxn modelId="{521FF64E-2CE0-42CD-99BC-3BEFCDB7A401}" type="presParOf" srcId="{7765A3EE-C20B-47F3-A300-4A21109150C9}" destId="{C278FAE1-52D2-40FF-962C-5A2D97EF97F0}" srcOrd="0" destOrd="0" presId="urn:microsoft.com/office/officeart/2005/8/layout/hProcess4"/>
    <dgm:cxn modelId="{965CF066-63DC-4E0D-83A8-DFC68C4FD646}" type="presParOf" srcId="{7765A3EE-C20B-47F3-A300-4A21109150C9}" destId="{208AFB81-9C49-4E39-809D-342B5626E929}" srcOrd="1" destOrd="0" presId="urn:microsoft.com/office/officeart/2005/8/layout/hProcess4"/>
    <dgm:cxn modelId="{4ED04BE1-403F-466D-837A-377F52BB3DB2}" type="presParOf" srcId="{7765A3EE-C20B-47F3-A300-4A21109150C9}" destId="{8D06E90C-9165-4AE4-9F36-F1C4FD36D273}" srcOrd="2" destOrd="0" presId="urn:microsoft.com/office/officeart/2005/8/layout/hProcess4"/>
    <dgm:cxn modelId="{81D9872A-BFD7-4646-96F2-215880A85B02}" type="presParOf" srcId="{7765A3EE-C20B-47F3-A300-4A21109150C9}" destId="{3ED47477-1A30-45C3-9BB4-5A10DE3684B7}" srcOrd="3" destOrd="0" presId="urn:microsoft.com/office/officeart/2005/8/layout/hProcess4"/>
    <dgm:cxn modelId="{82A4C0D0-E8A3-46DC-B932-81078C4AF34E}" type="presParOf" srcId="{7765A3EE-C20B-47F3-A300-4A21109150C9}" destId="{879F13AD-9510-45E0-AD70-E1B87FC5A96C}" srcOrd="4" destOrd="0" presId="urn:microsoft.com/office/officeart/2005/8/layout/hProcess4"/>
    <dgm:cxn modelId="{FF9981D5-518B-473F-ADB8-50953C3118C2}" type="presParOf" srcId="{082858DA-B6B4-43DD-B575-F683F447C3E7}" destId="{08DD75CA-136B-45E6-9EDA-5121DCF5FFC2}" srcOrd="1" destOrd="0" presId="urn:microsoft.com/office/officeart/2005/8/layout/hProcess4"/>
    <dgm:cxn modelId="{EE869997-7400-4E52-9436-4F285B9AFA74}" type="presParOf" srcId="{082858DA-B6B4-43DD-B575-F683F447C3E7}" destId="{1CB49022-EDCE-48E4-905C-56852518717D}" srcOrd="2" destOrd="0" presId="urn:microsoft.com/office/officeart/2005/8/layout/hProcess4"/>
    <dgm:cxn modelId="{599F3115-7353-401E-B298-1871764B1F0C}" type="presParOf" srcId="{1CB49022-EDCE-48E4-905C-56852518717D}" destId="{6F213261-AE3E-49D1-9DA3-D15A361D4775}" srcOrd="0" destOrd="0" presId="urn:microsoft.com/office/officeart/2005/8/layout/hProcess4"/>
    <dgm:cxn modelId="{FE30F1EA-CCAB-4262-B19E-672699A7DF3C}" type="presParOf" srcId="{1CB49022-EDCE-48E4-905C-56852518717D}" destId="{FEDF83B9-EBD2-443B-8427-37884DFF2BFE}" srcOrd="1" destOrd="0" presId="urn:microsoft.com/office/officeart/2005/8/layout/hProcess4"/>
    <dgm:cxn modelId="{14B2635E-B22C-4C89-95F5-D978E3182805}" type="presParOf" srcId="{1CB49022-EDCE-48E4-905C-56852518717D}" destId="{135C9C07-9B2D-4B08-BFFC-DEE7356F8792}" srcOrd="2" destOrd="0" presId="urn:microsoft.com/office/officeart/2005/8/layout/hProcess4"/>
    <dgm:cxn modelId="{9C42452C-A86F-446B-8553-FBCA93A37AC4}" type="presParOf" srcId="{1CB49022-EDCE-48E4-905C-56852518717D}" destId="{BCE6355D-6690-4096-84B4-683A90DC815F}" srcOrd="3" destOrd="0" presId="urn:microsoft.com/office/officeart/2005/8/layout/hProcess4"/>
    <dgm:cxn modelId="{BFDB3052-8962-4841-B50A-7E30AD3AECD5}" type="presParOf" srcId="{1CB49022-EDCE-48E4-905C-56852518717D}" destId="{0D4A9A55-5CF3-4626-8D97-BB4330D28FC8}" srcOrd="4" destOrd="0" presId="urn:microsoft.com/office/officeart/2005/8/layout/hProcess4"/>
    <dgm:cxn modelId="{A47FFCF3-849F-4744-9F61-226FB1BA0AF0}" type="presParOf" srcId="{082858DA-B6B4-43DD-B575-F683F447C3E7}" destId="{C919C95B-C145-48DB-9EC1-8FA91298B162}" srcOrd="3" destOrd="0" presId="urn:microsoft.com/office/officeart/2005/8/layout/hProcess4"/>
    <dgm:cxn modelId="{5FF96688-6960-436A-BA53-687DC728BBCB}" type="presParOf" srcId="{082858DA-B6B4-43DD-B575-F683F447C3E7}" destId="{5E629A34-DFDE-4795-A303-7C5DF632E4C5}" srcOrd="4" destOrd="0" presId="urn:microsoft.com/office/officeart/2005/8/layout/hProcess4"/>
    <dgm:cxn modelId="{823A8DD6-AE19-46D7-ADB7-0B124C00492C}" type="presParOf" srcId="{5E629A34-DFDE-4795-A303-7C5DF632E4C5}" destId="{B05D222D-8F43-4A5E-A6F6-B09EC2088AF3}" srcOrd="0" destOrd="0" presId="urn:microsoft.com/office/officeart/2005/8/layout/hProcess4"/>
    <dgm:cxn modelId="{E0B03058-A158-4FF2-A50B-471399E57195}" type="presParOf" srcId="{5E629A34-DFDE-4795-A303-7C5DF632E4C5}" destId="{323ADCC7-D991-4817-816C-CACB5539B241}" srcOrd="1" destOrd="0" presId="urn:microsoft.com/office/officeart/2005/8/layout/hProcess4"/>
    <dgm:cxn modelId="{D2F7DA28-35B5-4467-8129-183CCDD909E2}" type="presParOf" srcId="{5E629A34-DFDE-4795-A303-7C5DF632E4C5}" destId="{19C1E7BD-512E-493A-B7A5-3317B68D54FF}" srcOrd="2" destOrd="0" presId="urn:microsoft.com/office/officeart/2005/8/layout/hProcess4"/>
    <dgm:cxn modelId="{331BDA94-7ED8-4F33-B464-ECEBF622C9A6}" type="presParOf" srcId="{5E629A34-DFDE-4795-A303-7C5DF632E4C5}" destId="{CA88590D-E790-4434-A5EF-6B933D9B2BB1}" srcOrd="3" destOrd="0" presId="urn:microsoft.com/office/officeart/2005/8/layout/hProcess4"/>
    <dgm:cxn modelId="{98135D35-EF91-44AE-B2FC-C2BB4DE8DD71}" type="presParOf" srcId="{5E629A34-DFDE-4795-A303-7C5DF632E4C5}" destId="{1449F0B2-597B-4DB3-804E-BE4A6D06A972}"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AA763E7-FDDF-4B19-AE73-3DE160F25B83}" type="doc">
      <dgm:prSet loTypeId="urn:microsoft.com/office/officeart/2005/8/layout/bProcess3" loCatId="process" qsTypeId="urn:microsoft.com/office/officeart/2005/8/quickstyle/simple1" qsCatId="simple" csTypeId="urn:microsoft.com/office/officeart/2005/8/colors/accent0_1" csCatId="mainScheme" phldr="1"/>
      <dgm:spPr/>
      <dgm:t>
        <a:bodyPr/>
        <a:lstStyle/>
        <a:p>
          <a:endParaRPr lang="en-US"/>
        </a:p>
      </dgm:t>
    </dgm:pt>
    <dgm:pt modelId="{DE114C77-A745-47EB-A49D-C3EF343FCCB6}">
      <dgm:prSet phldrT="[Text]"/>
      <dgm:spPr/>
      <dgm:t>
        <a:bodyPr/>
        <a:lstStyle/>
        <a:p>
          <a:pPr algn="ctr"/>
          <a:r>
            <a:rPr lang="en-US">
              <a:latin typeface="Arial" panose="020B0604020202020204" pitchFamily="34" charset="0"/>
              <a:cs typeface="Arial" panose="020B0604020202020204" pitchFamily="34" charset="0"/>
            </a:rPr>
            <a:t>Target Confirmed</a:t>
          </a:r>
        </a:p>
      </dgm:t>
    </dgm:pt>
    <dgm:pt modelId="{469ACFA3-42DB-498E-A94E-F207B61DA500}" type="parTrans" cxnId="{F740A51C-AF0B-4D6B-9BA6-D147AD512742}">
      <dgm:prSet/>
      <dgm:spPr/>
      <dgm:t>
        <a:bodyPr/>
        <a:lstStyle/>
        <a:p>
          <a:pPr algn="ctr"/>
          <a:endParaRPr lang="en-US"/>
        </a:p>
      </dgm:t>
    </dgm:pt>
    <dgm:pt modelId="{43E6FB52-C72A-4B43-BFCB-D24E0ECA6849}" type="sibTrans" cxnId="{F740A51C-AF0B-4D6B-9BA6-D147AD512742}">
      <dgm:prSet/>
      <dgm:spPr/>
      <dgm:t>
        <a:bodyPr/>
        <a:lstStyle/>
        <a:p>
          <a:pPr algn="ctr"/>
          <a:endParaRPr lang="en-US">
            <a:latin typeface="Arial" panose="020B0604020202020204" pitchFamily="34" charset="0"/>
            <a:cs typeface="Arial" panose="020B0604020202020204" pitchFamily="34" charset="0"/>
          </a:endParaRPr>
        </a:p>
      </dgm:t>
    </dgm:pt>
    <dgm:pt modelId="{B06648B0-7B6C-4E90-9245-2EBCFC0D9D3B}">
      <dgm:prSet phldrT="[Text]"/>
      <dgm:spPr/>
      <dgm:t>
        <a:bodyPr/>
        <a:lstStyle/>
        <a:p>
          <a:pPr algn="ctr"/>
          <a:r>
            <a:rPr lang="en-US">
              <a:latin typeface="Arial" panose="020B0604020202020204" pitchFamily="34" charset="0"/>
              <a:cs typeface="Arial" panose="020B0604020202020204" pitchFamily="34" charset="0"/>
            </a:rPr>
            <a:t>Hover &amp; Stabilize</a:t>
          </a:r>
        </a:p>
      </dgm:t>
    </dgm:pt>
    <dgm:pt modelId="{FC079604-6640-45CC-9A06-7503637BA66C}" type="parTrans" cxnId="{86B8955E-ACBE-4C68-9685-834D1B03ABFE}">
      <dgm:prSet/>
      <dgm:spPr/>
      <dgm:t>
        <a:bodyPr/>
        <a:lstStyle/>
        <a:p>
          <a:pPr algn="ctr"/>
          <a:endParaRPr lang="en-US"/>
        </a:p>
      </dgm:t>
    </dgm:pt>
    <dgm:pt modelId="{D6B2B38A-7825-41BD-8985-6DDFEF450369}" type="sibTrans" cxnId="{86B8955E-ACBE-4C68-9685-834D1B03ABFE}">
      <dgm:prSet/>
      <dgm:spPr/>
      <dgm:t>
        <a:bodyPr/>
        <a:lstStyle/>
        <a:p>
          <a:pPr algn="ctr"/>
          <a:endParaRPr lang="en-US">
            <a:latin typeface="Arial" panose="020B0604020202020204" pitchFamily="34" charset="0"/>
            <a:cs typeface="Arial" panose="020B0604020202020204" pitchFamily="34" charset="0"/>
          </a:endParaRPr>
        </a:p>
      </dgm:t>
    </dgm:pt>
    <dgm:pt modelId="{D4ECE28C-6F66-4ACD-95DC-24FB6B140C37}">
      <dgm:prSet phldrT="[Text]"/>
      <dgm:spPr/>
      <dgm:t>
        <a:bodyPr/>
        <a:lstStyle/>
        <a:p>
          <a:pPr algn="ctr"/>
          <a:r>
            <a:rPr lang="en-US">
              <a:latin typeface="Arial" panose="020B0604020202020204" pitchFamily="34" charset="0"/>
              <a:cs typeface="Arial" panose="020B0604020202020204" pitchFamily="34" charset="0"/>
            </a:rPr>
            <a:t>Estimate Distance (Monocular Depth)</a:t>
          </a:r>
        </a:p>
      </dgm:t>
    </dgm:pt>
    <dgm:pt modelId="{2499B170-953A-4534-A8B1-315AFF31A6C9}" type="parTrans" cxnId="{452A2A0F-80AF-4E43-ABC2-3E4827F30DDC}">
      <dgm:prSet/>
      <dgm:spPr/>
      <dgm:t>
        <a:bodyPr/>
        <a:lstStyle/>
        <a:p>
          <a:pPr algn="ctr"/>
          <a:endParaRPr lang="en-US"/>
        </a:p>
      </dgm:t>
    </dgm:pt>
    <dgm:pt modelId="{69ADAB9E-B7D3-447E-8CC2-22EB9A4BC614}" type="sibTrans" cxnId="{452A2A0F-80AF-4E43-ABC2-3E4827F30DDC}">
      <dgm:prSet/>
      <dgm:spPr/>
      <dgm:t>
        <a:bodyPr/>
        <a:lstStyle/>
        <a:p>
          <a:pPr algn="ctr"/>
          <a:endParaRPr lang="en-US">
            <a:latin typeface="Arial" panose="020B0604020202020204" pitchFamily="34" charset="0"/>
            <a:cs typeface="Arial" panose="020B0604020202020204" pitchFamily="34" charset="0"/>
          </a:endParaRPr>
        </a:p>
      </dgm:t>
    </dgm:pt>
    <dgm:pt modelId="{94C2FCD1-ACD4-476B-8DFA-5B5F98748F97}">
      <dgm:prSet phldrT="[Text]"/>
      <dgm:spPr/>
      <dgm:t>
        <a:bodyPr/>
        <a:lstStyle/>
        <a:p>
          <a:pPr algn="ctr"/>
          <a:r>
            <a:rPr lang="en-US">
              <a:latin typeface="Arial" panose="020B0604020202020204" pitchFamily="34" charset="0"/>
              <a:cs typeface="Arial" panose="020B0604020202020204" pitchFamily="34" charset="0"/>
            </a:rPr>
            <a:t>Generate Waypoint (Align over Target)</a:t>
          </a:r>
        </a:p>
      </dgm:t>
    </dgm:pt>
    <dgm:pt modelId="{E2777D6D-FB90-444D-8123-4D08FCD5775C}" type="parTrans" cxnId="{EE6C05D8-7600-46C6-820A-89B6DD4BA970}">
      <dgm:prSet/>
      <dgm:spPr/>
      <dgm:t>
        <a:bodyPr/>
        <a:lstStyle/>
        <a:p>
          <a:pPr algn="ctr"/>
          <a:endParaRPr lang="en-US"/>
        </a:p>
      </dgm:t>
    </dgm:pt>
    <dgm:pt modelId="{87F0BB1E-1377-4BA3-9765-6E1208C70CCD}" type="sibTrans" cxnId="{EE6C05D8-7600-46C6-820A-89B6DD4BA970}">
      <dgm:prSet/>
      <dgm:spPr/>
      <dgm:t>
        <a:bodyPr/>
        <a:lstStyle/>
        <a:p>
          <a:pPr algn="ctr"/>
          <a:endParaRPr lang="en-US">
            <a:latin typeface="Arial" panose="020B0604020202020204" pitchFamily="34" charset="0"/>
            <a:cs typeface="Arial" panose="020B0604020202020204" pitchFamily="34" charset="0"/>
          </a:endParaRPr>
        </a:p>
      </dgm:t>
    </dgm:pt>
    <dgm:pt modelId="{48F17E11-3AA5-4287-A3BA-D3A9A2C55AFD}">
      <dgm:prSet phldrT="[Text]"/>
      <dgm:spPr/>
      <dgm:t>
        <a:bodyPr/>
        <a:lstStyle/>
        <a:p>
          <a:pPr algn="ctr"/>
          <a:r>
            <a:rPr lang="en-US">
              <a:latin typeface="Arial" panose="020B0604020202020204" pitchFamily="34" charset="0"/>
              <a:cs typeface="Arial" panose="020B0604020202020204" pitchFamily="34" charset="0"/>
            </a:rPr>
            <a:t>Descend to Low Altitude (10 m)</a:t>
          </a:r>
        </a:p>
      </dgm:t>
    </dgm:pt>
    <dgm:pt modelId="{9B1A39AE-23BF-44A9-A374-6150A37CCB4B}" type="parTrans" cxnId="{5F0C481B-2C2A-4509-9A37-831B6751A628}">
      <dgm:prSet/>
      <dgm:spPr/>
      <dgm:t>
        <a:bodyPr/>
        <a:lstStyle/>
        <a:p>
          <a:pPr algn="ctr"/>
          <a:endParaRPr lang="en-US"/>
        </a:p>
      </dgm:t>
    </dgm:pt>
    <dgm:pt modelId="{9B20DF69-D269-4D7A-8899-475948A75A72}" type="sibTrans" cxnId="{5F0C481B-2C2A-4509-9A37-831B6751A628}">
      <dgm:prSet/>
      <dgm:spPr/>
      <dgm:t>
        <a:bodyPr/>
        <a:lstStyle/>
        <a:p>
          <a:pPr algn="ctr"/>
          <a:endParaRPr lang="en-US">
            <a:latin typeface="Arial" panose="020B0604020202020204" pitchFamily="34" charset="0"/>
            <a:cs typeface="Arial" panose="020B0604020202020204" pitchFamily="34" charset="0"/>
          </a:endParaRPr>
        </a:p>
      </dgm:t>
    </dgm:pt>
    <dgm:pt modelId="{F5619775-1E8A-406C-AB2A-33907A619349}">
      <dgm:prSet phldrT="[Text]"/>
      <dgm:spPr/>
      <dgm:t>
        <a:bodyPr/>
        <a:lstStyle/>
        <a:p>
          <a:pPr algn="ctr"/>
          <a:r>
            <a:rPr lang="en-US">
              <a:latin typeface="Arial" panose="020B0604020202020204" pitchFamily="34" charset="0"/>
              <a:cs typeface="Arial" panose="020B0604020202020204" pitchFamily="34" charset="0"/>
            </a:rPr>
            <a:t>Verify Drop Success</a:t>
          </a:r>
        </a:p>
      </dgm:t>
    </dgm:pt>
    <dgm:pt modelId="{18C1441C-857F-48CC-A1D3-CDF39D5F7779}" type="parTrans" cxnId="{CBB2D09A-B6AB-477E-B8F7-87E3290F03C8}">
      <dgm:prSet/>
      <dgm:spPr/>
      <dgm:t>
        <a:bodyPr/>
        <a:lstStyle/>
        <a:p>
          <a:pPr algn="ctr"/>
          <a:endParaRPr lang="en-US"/>
        </a:p>
      </dgm:t>
    </dgm:pt>
    <dgm:pt modelId="{4D962AEB-4B23-48DE-88D7-046D8FF4C4A3}" type="sibTrans" cxnId="{CBB2D09A-B6AB-477E-B8F7-87E3290F03C8}">
      <dgm:prSet/>
      <dgm:spPr/>
      <dgm:t>
        <a:bodyPr/>
        <a:lstStyle/>
        <a:p>
          <a:pPr algn="ctr"/>
          <a:endParaRPr lang="en-US">
            <a:latin typeface="Arial" panose="020B0604020202020204" pitchFamily="34" charset="0"/>
            <a:cs typeface="Arial" panose="020B0604020202020204" pitchFamily="34" charset="0"/>
          </a:endParaRPr>
        </a:p>
      </dgm:t>
    </dgm:pt>
    <dgm:pt modelId="{C892D385-244D-498D-8085-C78A65FEACEF}">
      <dgm:prSet phldrT="[Text]"/>
      <dgm:spPr/>
      <dgm:t>
        <a:bodyPr/>
        <a:lstStyle/>
        <a:p>
          <a:pPr algn="ctr"/>
          <a:r>
            <a:rPr lang="en-US">
              <a:latin typeface="Arial" panose="020B0604020202020204" pitchFamily="34" charset="0"/>
              <a:cs typeface="Arial" panose="020B0604020202020204" pitchFamily="34" charset="0"/>
            </a:rPr>
            <a:t>Activate Servo Motors (Release Payload)</a:t>
          </a:r>
        </a:p>
      </dgm:t>
    </dgm:pt>
    <dgm:pt modelId="{952A3ED3-0FF3-4123-A4D2-60B8A6CB3EC7}" type="parTrans" cxnId="{3DF8581D-574F-4761-9ADA-A507CC7DADB2}">
      <dgm:prSet/>
      <dgm:spPr/>
      <dgm:t>
        <a:bodyPr/>
        <a:lstStyle/>
        <a:p>
          <a:pPr algn="ctr"/>
          <a:endParaRPr lang="en-US"/>
        </a:p>
      </dgm:t>
    </dgm:pt>
    <dgm:pt modelId="{2CDCD87E-0315-43A4-9030-3A0AE2FA0A67}" type="sibTrans" cxnId="{3DF8581D-574F-4761-9ADA-A507CC7DADB2}">
      <dgm:prSet/>
      <dgm:spPr/>
      <dgm:t>
        <a:bodyPr/>
        <a:lstStyle/>
        <a:p>
          <a:pPr algn="ctr"/>
          <a:endParaRPr lang="en-US">
            <a:latin typeface="Arial" panose="020B0604020202020204" pitchFamily="34" charset="0"/>
            <a:cs typeface="Arial" panose="020B0604020202020204" pitchFamily="34" charset="0"/>
          </a:endParaRPr>
        </a:p>
      </dgm:t>
    </dgm:pt>
    <dgm:pt modelId="{7B1362E1-4650-4DFD-8E37-36976ACF40C5}">
      <dgm:prSet phldrT="[Text]"/>
      <dgm:spPr/>
      <dgm:t>
        <a:bodyPr/>
        <a:lstStyle/>
        <a:p>
          <a:pPr algn="ctr"/>
          <a:r>
            <a:rPr lang="en-US">
              <a:latin typeface="Arial" panose="020B0604020202020204" pitchFamily="34" charset="0"/>
              <a:cs typeface="Arial" panose="020B0604020202020204" pitchFamily="34" charset="0"/>
            </a:rPr>
            <a:t>Ascend &amp; Return</a:t>
          </a:r>
        </a:p>
      </dgm:t>
    </dgm:pt>
    <dgm:pt modelId="{540057F9-5E56-4B41-B693-A71ABA84EFC6}" type="parTrans" cxnId="{52BF2535-540C-4628-8A4D-5EFC0D453F5F}">
      <dgm:prSet/>
      <dgm:spPr/>
      <dgm:t>
        <a:bodyPr/>
        <a:lstStyle/>
        <a:p>
          <a:pPr algn="ctr"/>
          <a:endParaRPr lang="en-US"/>
        </a:p>
      </dgm:t>
    </dgm:pt>
    <dgm:pt modelId="{0B7993DA-6EB7-4DAF-AED4-7B80507AF862}" type="sibTrans" cxnId="{52BF2535-540C-4628-8A4D-5EFC0D453F5F}">
      <dgm:prSet/>
      <dgm:spPr/>
      <dgm:t>
        <a:bodyPr/>
        <a:lstStyle/>
        <a:p>
          <a:pPr algn="ctr"/>
          <a:endParaRPr lang="en-US"/>
        </a:p>
      </dgm:t>
    </dgm:pt>
    <dgm:pt modelId="{78614F1D-A93D-4406-B51E-6DE652FF57B9}" type="pres">
      <dgm:prSet presAssocID="{9AA763E7-FDDF-4B19-AE73-3DE160F25B83}" presName="Name0" presStyleCnt="0">
        <dgm:presLayoutVars>
          <dgm:dir/>
          <dgm:resizeHandles val="exact"/>
        </dgm:presLayoutVars>
      </dgm:prSet>
      <dgm:spPr/>
    </dgm:pt>
    <dgm:pt modelId="{5A1083D5-9C0E-4A66-BA60-B18172EBE9C6}" type="pres">
      <dgm:prSet presAssocID="{DE114C77-A745-47EB-A49D-C3EF343FCCB6}" presName="node" presStyleLbl="node1" presStyleIdx="0" presStyleCnt="8">
        <dgm:presLayoutVars>
          <dgm:bulletEnabled val="1"/>
        </dgm:presLayoutVars>
      </dgm:prSet>
      <dgm:spPr/>
    </dgm:pt>
    <dgm:pt modelId="{E11B226D-CD3C-4283-B736-FF4D0105B315}" type="pres">
      <dgm:prSet presAssocID="{43E6FB52-C72A-4B43-BFCB-D24E0ECA6849}" presName="sibTrans" presStyleLbl="sibTrans1D1" presStyleIdx="0" presStyleCnt="7"/>
      <dgm:spPr/>
    </dgm:pt>
    <dgm:pt modelId="{A0B56B8A-2671-4835-A7AF-DDAB53BFA9EB}" type="pres">
      <dgm:prSet presAssocID="{43E6FB52-C72A-4B43-BFCB-D24E0ECA6849}" presName="connectorText" presStyleLbl="sibTrans1D1" presStyleIdx="0" presStyleCnt="7"/>
      <dgm:spPr/>
    </dgm:pt>
    <dgm:pt modelId="{1E48B2F6-28FD-4644-A3DC-63422E17D803}" type="pres">
      <dgm:prSet presAssocID="{B06648B0-7B6C-4E90-9245-2EBCFC0D9D3B}" presName="node" presStyleLbl="node1" presStyleIdx="1" presStyleCnt="8">
        <dgm:presLayoutVars>
          <dgm:bulletEnabled val="1"/>
        </dgm:presLayoutVars>
      </dgm:prSet>
      <dgm:spPr/>
    </dgm:pt>
    <dgm:pt modelId="{A77C89D7-77E7-4515-BF64-F7575DE35F7C}" type="pres">
      <dgm:prSet presAssocID="{D6B2B38A-7825-41BD-8985-6DDFEF450369}" presName="sibTrans" presStyleLbl="sibTrans1D1" presStyleIdx="1" presStyleCnt="7"/>
      <dgm:spPr/>
    </dgm:pt>
    <dgm:pt modelId="{A0AC29DD-72CF-4415-BED7-7E57773CEDA1}" type="pres">
      <dgm:prSet presAssocID="{D6B2B38A-7825-41BD-8985-6DDFEF450369}" presName="connectorText" presStyleLbl="sibTrans1D1" presStyleIdx="1" presStyleCnt="7"/>
      <dgm:spPr/>
    </dgm:pt>
    <dgm:pt modelId="{21A25AAF-6E34-49DB-8840-D732F47B180A}" type="pres">
      <dgm:prSet presAssocID="{D4ECE28C-6F66-4ACD-95DC-24FB6B140C37}" presName="node" presStyleLbl="node1" presStyleIdx="2" presStyleCnt="8">
        <dgm:presLayoutVars>
          <dgm:bulletEnabled val="1"/>
        </dgm:presLayoutVars>
      </dgm:prSet>
      <dgm:spPr/>
    </dgm:pt>
    <dgm:pt modelId="{4CABA2C4-D822-415E-9D64-49FABF410667}" type="pres">
      <dgm:prSet presAssocID="{69ADAB9E-B7D3-447E-8CC2-22EB9A4BC614}" presName="sibTrans" presStyleLbl="sibTrans1D1" presStyleIdx="2" presStyleCnt="7"/>
      <dgm:spPr/>
    </dgm:pt>
    <dgm:pt modelId="{7137B086-8B6F-474D-9185-8AA65D9E10C1}" type="pres">
      <dgm:prSet presAssocID="{69ADAB9E-B7D3-447E-8CC2-22EB9A4BC614}" presName="connectorText" presStyleLbl="sibTrans1D1" presStyleIdx="2" presStyleCnt="7"/>
      <dgm:spPr/>
    </dgm:pt>
    <dgm:pt modelId="{2CF94470-CBE8-4E74-8FB6-26F3FDB5B11E}" type="pres">
      <dgm:prSet presAssocID="{94C2FCD1-ACD4-476B-8DFA-5B5F98748F97}" presName="node" presStyleLbl="node1" presStyleIdx="3" presStyleCnt="8">
        <dgm:presLayoutVars>
          <dgm:bulletEnabled val="1"/>
        </dgm:presLayoutVars>
      </dgm:prSet>
      <dgm:spPr/>
    </dgm:pt>
    <dgm:pt modelId="{8F8F1F69-527A-4162-816F-4FBED71C036C}" type="pres">
      <dgm:prSet presAssocID="{87F0BB1E-1377-4BA3-9765-6E1208C70CCD}" presName="sibTrans" presStyleLbl="sibTrans1D1" presStyleIdx="3" presStyleCnt="7"/>
      <dgm:spPr/>
    </dgm:pt>
    <dgm:pt modelId="{265FD63E-5964-4BDF-B0EA-9550EA4ED6AD}" type="pres">
      <dgm:prSet presAssocID="{87F0BB1E-1377-4BA3-9765-6E1208C70CCD}" presName="connectorText" presStyleLbl="sibTrans1D1" presStyleIdx="3" presStyleCnt="7"/>
      <dgm:spPr/>
    </dgm:pt>
    <dgm:pt modelId="{5AFC716A-FF80-4C1C-A7A3-2343C8347760}" type="pres">
      <dgm:prSet presAssocID="{48F17E11-3AA5-4287-A3BA-D3A9A2C55AFD}" presName="node" presStyleLbl="node1" presStyleIdx="4" presStyleCnt="8">
        <dgm:presLayoutVars>
          <dgm:bulletEnabled val="1"/>
        </dgm:presLayoutVars>
      </dgm:prSet>
      <dgm:spPr/>
    </dgm:pt>
    <dgm:pt modelId="{38504FB3-0703-4848-A5D7-78F48B663B5A}" type="pres">
      <dgm:prSet presAssocID="{9B20DF69-D269-4D7A-8899-475948A75A72}" presName="sibTrans" presStyleLbl="sibTrans1D1" presStyleIdx="4" presStyleCnt="7"/>
      <dgm:spPr/>
    </dgm:pt>
    <dgm:pt modelId="{64C0E5FB-732E-4922-B6C1-8EE6E84D2368}" type="pres">
      <dgm:prSet presAssocID="{9B20DF69-D269-4D7A-8899-475948A75A72}" presName="connectorText" presStyleLbl="sibTrans1D1" presStyleIdx="4" presStyleCnt="7"/>
      <dgm:spPr/>
    </dgm:pt>
    <dgm:pt modelId="{62BD388D-5FD3-4DD8-81EB-154700EA8E84}" type="pres">
      <dgm:prSet presAssocID="{C892D385-244D-498D-8085-C78A65FEACEF}" presName="node" presStyleLbl="node1" presStyleIdx="5" presStyleCnt="8">
        <dgm:presLayoutVars>
          <dgm:bulletEnabled val="1"/>
        </dgm:presLayoutVars>
      </dgm:prSet>
      <dgm:spPr/>
    </dgm:pt>
    <dgm:pt modelId="{2A56A002-1B61-43D9-9296-53A5964612E9}" type="pres">
      <dgm:prSet presAssocID="{2CDCD87E-0315-43A4-9030-3A0AE2FA0A67}" presName="sibTrans" presStyleLbl="sibTrans1D1" presStyleIdx="5" presStyleCnt="7"/>
      <dgm:spPr/>
    </dgm:pt>
    <dgm:pt modelId="{E6937676-D81A-4A58-9F2E-B170CF330B0A}" type="pres">
      <dgm:prSet presAssocID="{2CDCD87E-0315-43A4-9030-3A0AE2FA0A67}" presName="connectorText" presStyleLbl="sibTrans1D1" presStyleIdx="5" presStyleCnt="7"/>
      <dgm:spPr/>
    </dgm:pt>
    <dgm:pt modelId="{14274536-D1F4-40E1-9D23-92C18688F3B3}" type="pres">
      <dgm:prSet presAssocID="{F5619775-1E8A-406C-AB2A-33907A619349}" presName="node" presStyleLbl="node1" presStyleIdx="6" presStyleCnt="8">
        <dgm:presLayoutVars>
          <dgm:bulletEnabled val="1"/>
        </dgm:presLayoutVars>
      </dgm:prSet>
      <dgm:spPr/>
    </dgm:pt>
    <dgm:pt modelId="{847DE61D-1F85-4DB8-934E-2428C3A76F18}" type="pres">
      <dgm:prSet presAssocID="{4D962AEB-4B23-48DE-88D7-046D8FF4C4A3}" presName="sibTrans" presStyleLbl="sibTrans1D1" presStyleIdx="6" presStyleCnt="7"/>
      <dgm:spPr/>
    </dgm:pt>
    <dgm:pt modelId="{8E1FFBBD-9E74-41E8-82EC-4BCC1A90C243}" type="pres">
      <dgm:prSet presAssocID="{4D962AEB-4B23-48DE-88D7-046D8FF4C4A3}" presName="connectorText" presStyleLbl="sibTrans1D1" presStyleIdx="6" presStyleCnt="7"/>
      <dgm:spPr/>
    </dgm:pt>
    <dgm:pt modelId="{F29C31B0-FC80-4280-966D-17F1AEAF4946}" type="pres">
      <dgm:prSet presAssocID="{7B1362E1-4650-4DFD-8E37-36976ACF40C5}" presName="node" presStyleLbl="node1" presStyleIdx="7" presStyleCnt="8">
        <dgm:presLayoutVars>
          <dgm:bulletEnabled val="1"/>
        </dgm:presLayoutVars>
      </dgm:prSet>
      <dgm:spPr/>
    </dgm:pt>
  </dgm:ptLst>
  <dgm:cxnLst>
    <dgm:cxn modelId="{3C16D105-D5A1-4D51-84F7-FA8BCD69C789}" type="presOf" srcId="{9AA763E7-FDDF-4B19-AE73-3DE160F25B83}" destId="{78614F1D-A93D-4406-B51E-6DE652FF57B9}" srcOrd="0" destOrd="0" presId="urn:microsoft.com/office/officeart/2005/8/layout/bProcess3"/>
    <dgm:cxn modelId="{1878D205-7A59-4996-B71D-309ADA80FE86}" type="presOf" srcId="{4D962AEB-4B23-48DE-88D7-046D8FF4C4A3}" destId="{847DE61D-1F85-4DB8-934E-2428C3A76F18}" srcOrd="0" destOrd="0" presId="urn:microsoft.com/office/officeart/2005/8/layout/bProcess3"/>
    <dgm:cxn modelId="{452A2A0F-80AF-4E43-ABC2-3E4827F30DDC}" srcId="{9AA763E7-FDDF-4B19-AE73-3DE160F25B83}" destId="{D4ECE28C-6F66-4ACD-95DC-24FB6B140C37}" srcOrd="2" destOrd="0" parTransId="{2499B170-953A-4534-A8B1-315AFF31A6C9}" sibTransId="{69ADAB9E-B7D3-447E-8CC2-22EB9A4BC614}"/>
    <dgm:cxn modelId="{5F0C481B-2C2A-4509-9A37-831B6751A628}" srcId="{9AA763E7-FDDF-4B19-AE73-3DE160F25B83}" destId="{48F17E11-3AA5-4287-A3BA-D3A9A2C55AFD}" srcOrd="4" destOrd="0" parTransId="{9B1A39AE-23BF-44A9-A374-6150A37CCB4B}" sibTransId="{9B20DF69-D269-4D7A-8899-475948A75A72}"/>
    <dgm:cxn modelId="{F740A51C-AF0B-4D6B-9BA6-D147AD512742}" srcId="{9AA763E7-FDDF-4B19-AE73-3DE160F25B83}" destId="{DE114C77-A745-47EB-A49D-C3EF343FCCB6}" srcOrd="0" destOrd="0" parTransId="{469ACFA3-42DB-498E-A94E-F207B61DA500}" sibTransId="{43E6FB52-C72A-4B43-BFCB-D24E0ECA6849}"/>
    <dgm:cxn modelId="{3DF8581D-574F-4761-9ADA-A507CC7DADB2}" srcId="{9AA763E7-FDDF-4B19-AE73-3DE160F25B83}" destId="{C892D385-244D-498D-8085-C78A65FEACEF}" srcOrd="5" destOrd="0" parTransId="{952A3ED3-0FF3-4123-A4D2-60B8A6CB3EC7}" sibTransId="{2CDCD87E-0315-43A4-9030-3A0AE2FA0A67}"/>
    <dgm:cxn modelId="{11366021-11F2-42DD-A7BF-72E4AF90C000}" type="presOf" srcId="{DE114C77-A745-47EB-A49D-C3EF343FCCB6}" destId="{5A1083D5-9C0E-4A66-BA60-B18172EBE9C6}" srcOrd="0" destOrd="0" presId="urn:microsoft.com/office/officeart/2005/8/layout/bProcess3"/>
    <dgm:cxn modelId="{7A4C582A-B1F4-45B1-9E4F-C3FE1BD97862}" type="presOf" srcId="{87F0BB1E-1377-4BA3-9765-6E1208C70CCD}" destId="{265FD63E-5964-4BDF-B0EA-9550EA4ED6AD}" srcOrd="1" destOrd="0" presId="urn:microsoft.com/office/officeart/2005/8/layout/bProcess3"/>
    <dgm:cxn modelId="{9EED802B-EEA4-456A-A1D9-9E7EC7957B65}" type="presOf" srcId="{94C2FCD1-ACD4-476B-8DFA-5B5F98748F97}" destId="{2CF94470-CBE8-4E74-8FB6-26F3FDB5B11E}" srcOrd="0" destOrd="0" presId="urn:microsoft.com/office/officeart/2005/8/layout/bProcess3"/>
    <dgm:cxn modelId="{E8ABA52C-9867-47B3-8110-DD11FC2585B8}" type="presOf" srcId="{B06648B0-7B6C-4E90-9245-2EBCFC0D9D3B}" destId="{1E48B2F6-28FD-4644-A3DC-63422E17D803}" srcOrd="0" destOrd="0" presId="urn:microsoft.com/office/officeart/2005/8/layout/bProcess3"/>
    <dgm:cxn modelId="{4302C131-8238-4C06-A3BB-78B78938D838}" type="presOf" srcId="{7B1362E1-4650-4DFD-8E37-36976ACF40C5}" destId="{F29C31B0-FC80-4280-966D-17F1AEAF4946}" srcOrd="0" destOrd="0" presId="urn:microsoft.com/office/officeart/2005/8/layout/bProcess3"/>
    <dgm:cxn modelId="{52BF2535-540C-4628-8A4D-5EFC0D453F5F}" srcId="{9AA763E7-FDDF-4B19-AE73-3DE160F25B83}" destId="{7B1362E1-4650-4DFD-8E37-36976ACF40C5}" srcOrd="7" destOrd="0" parTransId="{540057F9-5E56-4B41-B693-A71ABA84EFC6}" sibTransId="{0B7993DA-6EB7-4DAF-AED4-7B80507AF862}"/>
    <dgm:cxn modelId="{12B7DA3C-DBA7-4F99-969B-4951DEC7E628}" type="presOf" srcId="{D4ECE28C-6F66-4ACD-95DC-24FB6B140C37}" destId="{21A25AAF-6E34-49DB-8840-D732F47B180A}" srcOrd="0" destOrd="0" presId="urn:microsoft.com/office/officeart/2005/8/layout/bProcess3"/>
    <dgm:cxn modelId="{86B8955E-ACBE-4C68-9685-834D1B03ABFE}" srcId="{9AA763E7-FDDF-4B19-AE73-3DE160F25B83}" destId="{B06648B0-7B6C-4E90-9245-2EBCFC0D9D3B}" srcOrd="1" destOrd="0" parTransId="{FC079604-6640-45CC-9A06-7503637BA66C}" sibTransId="{D6B2B38A-7825-41BD-8985-6DDFEF450369}"/>
    <dgm:cxn modelId="{18411F47-8AF5-4886-BA22-34E8C64ACFF6}" type="presOf" srcId="{9B20DF69-D269-4D7A-8899-475948A75A72}" destId="{64C0E5FB-732E-4922-B6C1-8EE6E84D2368}" srcOrd="1" destOrd="0" presId="urn:microsoft.com/office/officeart/2005/8/layout/bProcess3"/>
    <dgm:cxn modelId="{B341FB68-9CE7-4291-8A89-603F6AA8E20F}" type="presOf" srcId="{2CDCD87E-0315-43A4-9030-3A0AE2FA0A67}" destId="{2A56A002-1B61-43D9-9296-53A5964612E9}" srcOrd="0" destOrd="0" presId="urn:microsoft.com/office/officeart/2005/8/layout/bProcess3"/>
    <dgm:cxn modelId="{2C9B954D-1CCD-4606-962E-0BEAB5E2684E}" type="presOf" srcId="{D6B2B38A-7825-41BD-8985-6DDFEF450369}" destId="{A77C89D7-77E7-4515-BF64-F7575DE35F7C}" srcOrd="0" destOrd="0" presId="urn:microsoft.com/office/officeart/2005/8/layout/bProcess3"/>
    <dgm:cxn modelId="{CBB2D09A-B6AB-477E-B8F7-87E3290F03C8}" srcId="{9AA763E7-FDDF-4B19-AE73-3DE160F25B83}" destId="{F5619775-1E8A-406C-AB2A-33907A619349}" srcOrd="6" destOrd="0" parTransId="{18C1441C-857F-48CC-A1D3-CDF39D5F7779}" sibTransId="{4D962AEB-4B23-48DE-88D7-046D8FF4C4A3}"/>
    <dgm:cxn modelId="{FD8FAD9D-9192-4044-B30D-C9D09C31F03A}" type="presOf" srcId="{69ADAB9E-B7D3-447E-8CC2-22EB9A4BC614}" destId="{4CABA2C4-D822-415E-9D64-49FABF410667}" srcOrd="0" destOrd="0" presId="urn:microsoft.com/office/officeart/2005/8/layout/bProcess3"/>
    <dgm:cxn modelId="{E8F9C19E-CA75-4E9E-A259-C5E8E2DFFAD3}" type="presOf" srcId="{9B20DF69-D269-4D7A-8899-475948A75A72}" destId="{38504FB3-0703-4848-A5D7-78F48B663B5A}" srcOrd="0" destOrd="0" presId="urn:microsoft.com/office/officeart/2005/8/layout/bProcess3"/>
    <dgm:cxn modelId="{B31BBAA9-B62C-4B3F-99C6-6A40CEAB0D15}" type="presOf" srcId="{C892D385-244D-498D-8085-C78A65FEACEF}" destId="{62BD388D-5FD3-4DD8-81EB-154700EA8E84}" srcOrd="0" destOrd="0" presId="urn:microsoft.com/office/officeart/2005/8/layout/bProcess3"/>
    <dgm:cxn modelId="{822C18B1-08DA-406B-AC07-C16CED4AEF09}" type="presOf" srcId="{2CDCD87E-0315-43A4-9030-3A0AE2FA0A67}" destId="{E6937676-D81A-4A58-9F2E-B170CF330B0A}" srcOrd="1" destOrd="0" presId="urn:microsoft.com/office/officeart/2005/8/layout/bProcess3"/>
    <dgm:cxn modelId="{1DE84CBE-D13A-4945-AB8E-9739ED72A6F0}" type="presOf" srcId="{43E6FB52-C72A-4B43-BFCB-D24E0ECA6849}" destId="{A0B56B8A-2671-4835-A7AF-DDAB53BFA9EB}" srcOrd="1" destOrd="0" presId="urn:microsoft.com/office/officeart/2005/8/layout/bProcess3"/>
    <dgm:cxn modelId="{AFD4D4D5-DB87-492B-8E92-3A7A75F3B489}" type="presOf" srcId="{4D962AEB-4B23-48DE-88D7-046D8FF4C4A3}" destId="{8E1FFBBD-9E74-41E8-82EC-4BCC1A90C243}" srcOrd="1" destOrd="0" presId="urn:microsoft.com/office/officeart/2005/8/layout/bProcess3"/>
    <dgm:cxn modelId="{EE6C05D8-7600-46C6-820A-89B6DD4BA970}" srcId="{9AA763E7-FDDF-4B19-AE73-3DE160F25B83}" destId="{94C2FCD1-ACD4-476B-8DFA-5B5F98748F97}" srcOrd="3" destOrd="0" parTransId="{E2777D6D-FB90-444D-8123-4D08FCD5775C}" sibTransId="{87F0BB1E-1377-4BA3-9765-6E1208C70CCD}"/>
    <dgm:cxn modelId="{453BFFD9-157F-452A-B4CA-8A957C88B3E3}" type="presOf" srcId="{43E6FB52-C72A-4B43-BFCB-D24E0ECA6849}" destId="{E11B226D-CD3C-4283-B736-FF4D0105B315}" srcOrd="0" destOrd="0" presId="urn:microsoft.com/office/officeart/2005/8/layout/bProcess3"/>
    <dgm:cxn modelId="{487D74DC-E77B-42A7-A4E1-0CBA64FFD5A9}" type="presOf" srcId="{48F17E11-3AA5-4287-A3BA-D3A9A2C55AFD}" destId="{5AFC716A-FF80-4C1C-A7A3-2343C8347760}" srcOrd="0" destOrd="0" presId="urn:microsoft.com/office/officeart/2005/8/layout/bProcess3"/>
    <dgm:cxn modelId="{99EAE7E1-A066-4EC5-ABDF-7AA315C953FA}" type="presOf" srcId="{87F0BB1E-1377-4BA3-9765-6E1208C70CCD}" destId="{8F8F1F69-527A-4162-816F-4FBED71C036C}" srcOrd="0" destOrd="0" presId="urn:microsoft.com/office/officeart/2005/8/layout/bProcess3"/>
    <dgm:cxn modelId="{FFCD1CF5-5DAE-442C-B86F-2228877FA3AB}" type="presOf" srcId="{F5619775-1E8A-406C-AB2A-33907A619349}" destId="{14274536-D1F4-40E1-9D23-92C18688F3B3}" srcOrd="0" destOrd="0" presId="urn:microsoft.com/office/officeart/2005/8/layout/bProcess3"/>
    <dgm:cxn modelId="{5B356BF5-3F8B-472A-9E02-63360AAE3EA6}" type="presOf" srcId="{D6B2B38A-7825-41BD-8985-6DDFEF450369}" destId="{A0AC29DD-72CF-4415-BED7-7E57773CEDA1}" srcOrd="1" destOrd="0" presId="urn:microsoft.com/office/officeart/2005/8/layout/bProcess3"/>
    <dgm:cxn modelId="{1ED378FC-E5B0-4509-AA35-93E3D661C6BF}" type="presOf" srcId="{69ADAB9E-B7D3-447E-8CC2-22EB9A4BC614}" destId="{7137B086-8B6F-474D-9185-8AA65D9E10C1}" srcOrd="1" destOrd="0" presId="urn:microsoft.com/office/officeart/2005/8/layout/bProcess3"/>
    <dgm:cxn modelId="{72BCE777-FF4D-4CA7-85D1-B0B3B03373E3}" type="presParOf" srcId="{78614F1D-A93D-4406-B51E-6DE652FF57B9}" destId="{5A1083D5-9C0E-4A66-BA60-B18172EBE9C6}" srcOrd="0" destOrd="0" presId="urn:microsoft.com/office/officeart/2005/8/layout/bProcess3"/>
    <dgm:cxn modelId="{E139E026-5FE0-4B63-A067-567C918612F3}" type="presParOf" srcId="{78614F1D-A93D-4406-B51E-6DE652FF57B9}" destId="{E11B226D-CD3C-4283-B736-FF4D0105B315}" srcOrd="1" destOrd="0" presId="urn:microsoft.com/office/officeart/2005/8/layout/bProcess3"/>
    <dgm:cxn modelId="{68FF3C88-9026-4ACC-8CF0-CF89255DFF0A}" type="presParOf" srcId="{E11B226D-CD3C-4283-B736-FF4D0105B315}" destId="{A0B56B8A-2671-4835-A7AF-DDAB53BFA9EB}" srcOrd="0" destOrd="0" presId="urn:microsoft.com/office/officeart/2005/8/layout/bProcess3"/>
    <dgm:cxn modelId="{0EF64FAB-F552-4F94-B77A-924748A8660F}" type="presParOf" srcId="{78614F1D-A93D-4406-B51E-6DE652FF57B9}" destId="{1E48B2F6-28FD-4644-A3DC-63422E17D803}" srcOrd="2" destOrd="0" presId="urn:microsoft.com/office/officeart/2005/8/layout/bProcess3"/>
    <dgm:cxn modelId="{3D832E47-AA32-4A5A-A80D-EEEADF49397C}" type="presParOf" srcId="{78614F1D-A93D-4406-B51E-6DE652FF57B9}" destId="{A77C89D7-77E7-4515-BF64-F7575DE35F7C}" srcOrd="3" destOrd="0" presId="urn:microsoft.com/office/officeart/2005/8/layout/bProcess3"/>
    <dgm:cxn modelId="{FE785ABE-EC4C-4738-9B6B-F8F96EF17ADD}" type="presParOf" srcId="{A77C89D7-77E7-4515-BF64-F7575DE35F7C}" destId="{A0AC29DD-72CF-4415-BED7-7E57773CEDA1}" srcOrd="0" destOrd="0" presId="urn:microsoft.com/office/officeart/2005/8/layout/bProcess3"/>
    <dgm:cxn modelId="{CE0F7BF9-DB2E-44E3-8CED-80D62CFDD4D1}" type="presParOf" srcId="{78614F1D-A93D-4406-B51E-6DE652FF57B9}" destId="{21A25AAF-6E34-49DB-8840-D732F47B180A}" srcOrd="4" destOrd="0" presId="urn:microsoft.com/office/officeart/2005/8/layout/bProcess3"/>
    <dgm:cxn modelId="{AD4B34E3-7C9F-4922-B646-9713E9978CBE}" type="presParOf" srcId="{78614F1D-A93D-4406-B51E-6DE652FF57B9}" destId="{4CABA2C4-D822-415E-9D64-49FABF410667}" srcOrd="5" destOrd="0" presId="urn:microsoft.com/office/officeart/2005/8/layout/bProcess3"/>
    <dgm:cxn modelId="{A75E79AA-42DC-4A70-984E-F1A5B2C16FED}" type="presParOf" srcId="{4CABA2C4-D822-415E-9D64-49FABF410667}" destId="{7137B086-8B6F-474D-9185-8AA65D9E10C1}" srcOrd="0" destOrd="0" presId="urn:microsoft.com/office/officeart/2005/8/layout/bProcess3"/>
    <dgm:cxn modelId="{30B574C0-4301-4200-AA1A-529FA9915D63}" type="presParOf" srcId="{78614F1D-A93D-4406-B51E-6DE652FF57B9}" destId="{2CF94470-CBE8-4E74-8FB6-26F3FDB5B11E}" srcOrd="6" destOrd="0" presId="urn:microsoft.com/office/officeart/2005/8/layout/bProcess3"/>
    <dgm:cxn modelId="{7D76E279-EFE2-448B-B5E8-56491F6F20A5}" type="presParOf" srcId="{78614F1D-A93D-4406-B51E-6DE652FF57B9}" destId="{8F8F1F69-527A-4162-816F-4FBED71C036C}" srcOrd="7" destOrd="0" presId="urn:microsoft.com/office/officeart/2005/8/layout/bProcess3"/>
    <dgm:cxn modelId="{A5D6EBF2-7517-4983-97EF-9F917B8CE8FA}" type="presParOf" srcId="{8F8F1F69-527A-4162-816F-4FBED71C036C}" destId="{265FD63E-5964-4BDF-B0EA-9550EA4ED6AD}" srcOrd="0" destOrd="0" presId="urn:microsoft.com/office/officeart/2005/8/layout/bProcess3"/>
    <dgm:cxn modelId="{240A5448-DE28-4059-910A-845032C3C5A8}" type="presParOf" srcId="{78614F1D-A93D-4406-B51E-6DE652FF57B9}" destId="{5AFC716A-FF80-4C1C-A7A3-2343C8347760}" srcOrd="8" destOrd="0" presId="urn:microsoft.com/office/officeart/2005/8/layout/bProcess3"/>
    <dgm:cxn modelId="{27C4EB75-FC61-48D9-9E73-14929A8CA3A9}" type="presParOf" srcId="{78614F1D-A93D-4406-B51E-6DE652FF57B9}" destId="{38504FB3-0703-4848-A5D7-78F48B663B5A}" srcOrd="9" destOrd="0" presId="urn:microsoft.com/office/officeart/2005/8/layout/bProcess3"/>
    <dgm:cxn modelId="{F51FADEF-A8F9-4453-B6B4-12DB96A647FB}" type="presParOf" srcId="{38504FB3-0703-4848-A5D7-78F48B663B5A}" destId="{64C0E5FB-732E-4922-B6C1-8EE6E84D2368}" srcOrd="0" destOrd="0" presId="urn:microsoft.com/office/officeart/2005/8/layout/bProcess3"/>
    <dgm:cxn modelId="{8A52707F-542A-4A98-9AAD-02A3B59D510E}" type="presParOf" srcId="{78614F1D-A93D-4406-B51E-6DE652FF57B9}" destId="{62BD388D-5FD3-4DD8-81EB-154700EA8E84}" srcOrd="10" destOrd="0" presId="urn:microsoft.com/office/officeart/2005/8/layout/bProcess3"/>
    <dgm:cxn modelId="{0EFB78EA-BA29-4596-9A74-8976F67A9DAE}" type="presParOf" srcId="{78614F1D-A93D-4406-B51E-6DE652FF57B9}" destId="{2A56A002-1B61-43D9-9296-53A5964612E9}" srcOrd="11" destOrd="0" presId="urn:microsoft.com/office/officeart/2005/8/layout/bProcess3"/>
    <dgm:cxn modelId="{5273AD95-2A20-4998-8190-50DC105EA255}" type="presParOf" srcId="{2A56A002-1B61-43D9-9296-53A5964612E9}" destId="{E6937676-D81A-4A58-9F2E-B170CF330B0A}" srcOrd="0" destOrd="0" presId="urn:microsoft.com/office/officeart/2005/8/layout/bProcess3"/>
    <dgm:cxn modelId="{E260EAD7-0832-46EF-8380-01F36C36001E}" type="presParOf" srcId="{78614F1D-A93D-4406-B51E-6DE652FF57B9}" destId="{14274536-D1F4-40E1-9D23-92C18688F3B3}" srcOrd="12" destOrd="0" presId="urn:microsoft.com/office/officeart/2005/8/layout/bProcess3"/>
    <dgm:cxn modelId="{BDE795D8-E994-43D7-8F87-DFEEC7E3E20F}" type="presParOf" srcId="{78614F1D-A93D-4406-B51E-6DE652FF57B9}" destId="{847DE61D-1F85-4DB8-934E-2428C3A76F18}" srcOrd="13" destOrd="0" presId="urn:microsoft.com/office/officeart/2005/8/layout/bProcess3"/>
    <dgm:cxn modelId="{0B79AEAF-A76D-4122-A203-D00F2E1990AE}" type="presParOf" srcId="{847DE61D-1F85-4DB8-934E-2428C3A76F18}" destId="{8E1FFBBD-9E74-41E8-82EC-4BCC1A90C243}" srcOrd="0" destOrd="0" presId="urn:microsoft.com/office/officeart/2005/8/layout/bProcess3"/>
    <dgm:cxn modelId="{05464365-A57D-48E9-B1EF-4903E5CD10FE}" type="presParOf" srcId="{78614F1D-A93D-4406-B51E-6DE652FF57B9}" destId="{F29C31B0-FC80-4280-966D-17F1AEAF4946}" srcOrd="14"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345D5B-2FB5-4378-8AB8-8D4FD5772678}">
      <dsp:nvSpPr>
        <dsp:cNvPr id="0" name=""/>
        <dsp:cNvSpPr/>
      </dsp:nvSpPr>
      <dsp:spPr>
        <a:xfrm>
          <a:off x="-4695340" y="-719763"/>
          <a:ext cx="5592802" cy="5592802"/>
        </a:xfrm>
        <a:prstGeom prst="blockArc">
          <a:avLst>
            <a:gd name="adj1" fmla="val 18900000"/>
            <a:gd name="adj2" fmla="val 2700000"/>
            <a:gd name="adj3" fmla="val 386"/>
          </a:avLst>
        </a:prstGeom>
        <a:noFill/>
        <a:ln w="2222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3F1CC88-07D5-4FAD-BA6E-F71F89EAAE4C}">
      <dsp:nvSpPr>
        <dsp:cNvPr id="0" name=""/>
        <dsp:cNvSpPr/>
      </dsp:nvSpPr>
      <dsp:spPr>
        <a:xfrm>
          <a:off x="577193" y="415327"/>
          <a:ext cx="5801734" cy="830655"/>
        </a:xfrm>
        <a:prstGeom prst="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59333" tIns="114300" rIns="114300" bIns="114300" numCol="1" spcCol="1270" anchor="ctr" anchorCtr="0">
          <a:noAutofit/>
        </a:bodyPr>
        <a:lstStyle/>
        <a:p>
          <a:pPr marL="0" lvl="0" indent="0" algn="l" defTabSz="2000250">
            <a:lnSpc>
              <a:spcPct val="90000"/>
            </a:lnSpc>
            <a:spcBef>
              <a:spcPct val="0"/>
            </a:spcBef>
            <a:spcAft>
              <a:spcPct val="35000"/>
            </a:spcAft>
            <a:buNone/>
          </a:pPr>
          <a:r>
            <a:rPr lang="en-US" sz="4500" kern="1200" dirty="0"/>
            <a:t>Mechanical System</a:t>
          </a:r>
        </a:p>
      </dsp:txBody>
      <dsp:txXfrm>
        <a:off x="577193" y="415327"/>
        <a:ext cx="5801734" cy="830655"/>
      </dsp:txXfrm>
    </dsp:sp>
    <dsp:sp modelId="{4E878555-BB1F-4960-91E1-6B91FBB697D4}">
      <dsp:nvSpPr>
        <dsp:cNvPr id="0" name=""/>
        <dsp:cNvSpPr/>
      </dsp:nvSpPr>
      <dsp:spPr>
        <a:xfrm>
          <a:off x="58033" y="311495"/>
          <a:ext cx="1038319" cy="1038319"/>
        </a:xfrm>
        <a:prstGeom prst="ellipse">
          <a:avLst/>
        </a:prstGeom>
        <a:solidFill>
          <a:schemeClr val="lt1">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4EB065D-8317-45B4-88BC-B878AFA0D013}">
      <dsp:nvSpPr>
        <dsp:cNvPr id="0" name=""/>
        <dsp:cNvSpPr/>
      </dsp:nvSpPr>
      <dsp:spPr>
        <a:xfrm>
          <a:off x="879136" y="1661310"/>
          <a:ext cx="5499790" cy="830655"/>
        </a:xfrm>
        <a:prstGeom prst="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59333" tIns="114300" rIns="114300" bIns="114300" numCol="1" spcCol="1270" anchor="ctr" anchorCtr="0">
          <a:noAutofit/>
        </a:bodyPr>
        <a:lstStyle/>
        <a:p>
          <a:pPr marL="0" lvl="0" indent="0" algn="l" defTabSz="2000250">
            <a:lnSpc>
              <a:spcPct val="90000"/>
            </a:lnSpc>
            <a:spcBef>
              <a:spcPct val="0"/>
            </a:spcBef>
            <a:spcAft>
              <a:spcPct val="35000"/>
            </a:spcAft>
            <a:buNone/>
          </a:pPr>
          <a:r>
            <a:rPr lang="en-US" sz="4500" kern="1200" dirty="0"/>
            <a:t>Electronics System</a:t>
          </a:r>
        </a:p>
      </dsp:txBody>
      <dsp:txXfrm>
        <a:off x="879136" y="1661310"/>
        <a:ext cx="5499790" cy="830655"/>
      </dsp:txXfrm>
    </dsp:sp>
    <dsp:sp modelId="{65595ADF-51A9-495F-91A7-72262B7BDC94}">
      <dsp:nvSpPr>
        <dsp:cNvPr id="0" name=""/>
        <dsp:cNvSpPr/>
      </dsp:nvSpPr>
      <dsp:spPr>
        <a:xfrm>
          <a:off x="359976" y="1557478"/>
          <a:ext cx="1038319" cy="1038319"/>
        </a:xfrm>
        <a:prstGeom prst="ellipse">
          <a:avLst/>
        </a:prstGeom>
        <a:solidFill>
          <a:schemeClr val="lt1">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E97287A-6BD6-4ADA-8F88-07F11B61F013}">
      <dsp:nvSpPr>
        <dsp:cNvPr id="0" name=""/>
        <dsp:cNvSpPr/>
      </dsp:nvSpPr>
      <dsp:spPr>
        <a:xfrm>
          <a:off x="577193" y="2907293"/>
          <a:ext cx="5801734" cy="830655"/>
        </a:xfrm>
        <a:prstGeom prst="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59333" tIns="114300" rIns="114300" bIns="114300" numCol="1" spcCol="1270" anchor="ctr" anchorCtr="0">
          <a:noAutofit/>
        </a:bodyPr>
        <a:lstStyle/>
        <a:p>
          <a:pPr marL="0" lvl="0" indent="0" algn="l" defTabSz="2000250">
            <a:lnSpc>
              <a:spcPct val="90000"/>
            </a:lnSpc>
            <a:spcBef>
              <a:spcPct val="0"/>
            </a:spcBef>
            <a:spcAft>
              <a:spcPct val="35000"/>
            </a:spcAft>
            <a:buNone/>
          </a:pPr>
          <a:r>
            <a:rPr lang="en-US" sz="4500" kern="1200" dirty="0"/>
            <a:t>Autonomous System</a:t>
          </a:r>
        </a:p>
      </dsp:txBody>
      <dsp:txXfrm>
        <a:off x="577193" y="2907293"/>
        <a:ext cx="5801734" cy="830655"/>
      </dsp:txXfrm>
    </dsp:sp>
    <dsp:sp modelId="{336C08E9-C194-486B-939A-2BE9C2E57D5F}">
      <dsp:nvSpPr>
        <dsp:cNvPr id="0" name=""/>
        <dsp:cNvSpPr/>
      </dsp:nvSpPr>
      <dsp:spPr>
        <a:xfrm>
          <a:off x="58033" y="2803461"/>
          <a:ext cx="1038319" cy="1038319"/>
        </a:xfrm>
        <a:prstGeom prst="ellipse">
          <a:avLst/>
        </a:prstGeom>
        <a:solidFill>
          <a:schemeClr val="lt1">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8AFB81-9C49-4E39-809D-342B5626E929}">
      <dsp:nvSpPr>
        <dsp:cNvPr id="0" name=""/>
        <dsp:cNvSpPr/>
      </dsp:nvSpPr>
      <dsp:spPr>
        <a:xfrm>
          <a:off x="0" y="415187"/>
          <a:ext cx="2634943" cy="2559505"/>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57150" lvl="1" indent="-57150" algn="l" defTabSz="488950">
            <a:lnSpc>
              <a:spcPct val="90000"/>
            </a:lnSpc>
            <a:spcBef>
              <a:spcPct val="0"/>
            </a:spcBef>
            <a:spcAft>
              <a:spcPct val="15000"/>
            </a:spcAft>
            <a:buFont typeface="Arial"/>
            <a:buChar char="•"/>
          </a:pPr>
          <a:r>
            <a:rPr lang="en-US" sz="1100" b="1" kern="1200" dirty="0">
              <a:solidFill>
                <a:srgbClr val="000000"/>
              </a:solidFill>
              <a:latin typeface="Canva Sans"/>
              <a:ea typeface="Canva Sans"/>
              <a:cs typeface="Canva Sans"/>
              <a:sym typeface="Canva Sans"/>
            </a:rPr>
            <a:t>Materials</a:t>
          </a:r>
          <a:r>
            <a:rPr lang="en-US" sz="1100" kern="1200" dirty="0">
              <a:solidFill>
                <a:srgbClr val="000000"/>
              </a:solidFill>
              <a:latin typeface="Canva Sans"/>
              <a:ea typeface="Canva Sans"/>
              <a:cs typeface="Canva Sans"/>
              <a:sym typeface="Canva Sans"/>
            </a:rPr>
            <a:t>: Carbon Fiber (230 GPa) and ABS Plastic (High Impact)</a:t>
          </a:r>
          <a:endParaRPr lang="en-US" sz="1100" kern="1200" dirty="0"/>
        </a:p>
        <a:p>
          <a:pPr marL="57150" lvl="1" indent="-57150" algn="l" defTabSz="488950">
            <a:lnSpc>
              <a:spcPct val="90000"/>
            </a:lnSpc>
            <a:spcBef>
              <a:spcPct val="0"/>
            </a:spcBef>
            <a:spcAft>
              <a:spcPct val="15000"/>
            </a:spcAft>
            <a:buChar char="•"/>
          </a:pPr>
          <a:r>
            <a:rPr lang="en-US" sz="1100" b="1" kern="1200" dirty="0">
              <a:solidFill>
                <a:srgbClr val="000000"/>
              </a:solidFill>
              <a:latin typeface="Canva Sans"/>
              <a:ea typeface="Canva Sans"/>
              <a:cs typeface="Canva Sans"/>
              <a:sym typeface="Canva Sans"/>
            </a:rPr>
            <a:t>Contacts</a:t>
          </a:r>
          <a:r>
            <a:rPr lang="en-US" sz="1100" kern="1200" dirty="0">
              <a:solidFill>
                <a:srgbClr val="000000"/>
              </a:solidFill>
              <a:latin typeface="Canva Sans"/>
              <a:ea typeface="Canva Sans"/>
              <a:cs typeface="Canva Sans"/>
              <a:sym typeface="Canva Sans"/>
            </a:rPr>
            <a:t>: Bonded between mating surfaces</a:t>
          </a:r>
        </a:p>
        <a:p>
          <a:pPr marL="57150" lvl="1" indent="-57150" algn="l" defTabSz="488950">
            <a:lnSpc>
              <a:spcPct val="90000"/>
            </a:lnSpc>
            <a:spcBef>
              <a:spcPct val="0"/>
            </a:spcBef>
            <a:spcAft>
              <a:spcPct val="15000"/>
            </a:spcAft>
            <a:buChar char="•"/>
          </a:pPr>
          <a:r>
            <a:rPr lang="en-US" sz="1100" b="1" kern="1200" dirty="0">
              <a:solidFill>
                <a:srgbClr val="000000"/>
              </a:solidFill>
              <a:latin typeface="Canva Sans"/>
              <a:ea typeface="Canva Sans"/>
              <a:cs typeface="Canva Sans"/>
              <a:sym typeface="Canva Sans"/>
            </a:rPr>
            <a:t>Mesh Details:</a:t>
          </a:r>
        </a:p>
        <a:p>
          <a:pPr marL="114300" lvl="2" indent="-57150" algn="l" defTabSz="488950">
            <a:lnSpc>
              <a:spcPct val="90000"/>
            </a:lnSpc>
            <a:spcBef>
              <a:spcPct val="0"/>
            </a:spcBef>
            <a:spcAft>
              <a:spcPct val="15000"/>
            </a:spcAft>
            <a:buChar char="•"/>
          </a:pPr>
          <a:r>
            <a:rPr lang="en-US" sz="1100" kern="1200" dirty="0">
              <a:solidFill>
                <a:srgbClr val="000000"/>
              </a:solidFill>
              <a:latin typeface="Canva Sans"/>
              <a:ea typeface="Canva Sans"/>
              <a:cs typeface="Canva Sans"/>
              <a:sym typeface="Canva Sans"/>
            </a:rPr>
            <a:t>Motor mount, rotor arm, landing gear: 2 mm element size</a:t>
          </a:r>
        </a:p>
        <a:p>
          <a:pPr marL="114300" lvl="2" indent="-57150" algn="l" defTabSz="488950">
            <a:lnSpc>
              <a:spcPct val="90000"/>
            </a:lnSpc>
            <a:spcBef>
              <a:spcPct val="0"/>
            </a:spcBef>
            <a:spcAft>
              <a:spcPct val="15000"/>
            </a:spcAft>
            <a:buChar char="•"/>
          </a:pPr>
          <a:r>
            <a:rPr lang="en-US" sz="1100" kern="1200" dirty="0">
              <a:solidFill>
                <a:srgbClr val="000000"/>
              </a:solidFill>
              <a:latin typeface="Canva Sans"/>
              <a:ea typeface="Canva Sans"/>
              <a:cs typeface="Canva Sans"/>
              <a:sym typeface="Canva Sans"/>
            </a:rPr>
            <a:t>Central hub: 3 mm element size</a:t>
          </a:r>
        </a:p>
        <a:p>
          <a:pPr marL="114300" lvl="2" indent="-57150" algn="l" defTabSz="488950">
            <a:lnSpc>
              <a:spcPct val="90000"/>
            </a:lnSpc>
            <a:spcBef>
              <a:spcPct val="0"/>
            </a:spcBef>
            <a:spcAft>
              <a:spcPct val="15000"/>
            </a:spcAft>
            <a:buChar char="•"/>
          </a:pPr>
          <a:r>
            <a:rPr lang="en-US" sz="1100" kern="1200">
              <a:solidFill>
                <a:srgbClr val="000000"/>
              </a:solidFill>
              <a:latin typeface="Canva Sans"/>
              <a:ea typeface="Canva Sans"/>
              <a:cs typeface="Canva Sans"/>
              <a:sym typeface="Canva Sans"/>
            </a:rPr>
            <a:t>Payload mechanism: 2.5 mm element size</a:t>
          </a:r>
          <a:endParaRPr lang="en-US" sz="1100" kern="1200" dirty="0">
            <a:solidFill>
              <a:srgbClr val="000000"/>
            </a:solidFill>
            <a:latin typeface="Canva Sans"/>
            <a:ea typeface="Canva Sans"/>
            <a:cs typeface="Canva Sans"/>
            <a:sym typeface="Canva Sans"/>
          </a:endParaRPr>
        </a:p>
        <a:p>
          <a:pPr marL="114300" lvl="2" indent="-57150" algn="l" defTabSz="488950">
            <a:lnSpc>
              <a:spcPct val="90000"/>
            </a:lnSpc>
            <a:spcBef>
              <a:spcPct val="0"/>
            </a:spcBef>
            <a:spcAft>
              <a:spcPct val="15000"/>
            </a:spcAft>
            <a:buChar char="•"/>
          </a:pPr>
          <a:r>
            <a:rPr lang="en-US" sz="1100" kern="1200" dirty="0">
              <a:solidFill>
                <a:srgbClr val="000000"/>
              </a:solidFill>
              <a:latin typeface="Canva Sans"/>
              <a:ea typeface="Canva Sans"/>
              <a:cs typeface="Canva Sans"/>
              <a:sym typeface="Canva Sans"/>
            </a:rPr>
            <a:t>Element quality target: ≥ 0.20 (majority of elements meet this criterion)</a:t>
          </a:r>
        </a:p>
      </dsp:txBody>
      <dsp:txXfrm>
        <a:off x="58901" y="474088"/>
        <a:ext cx="2517141" cy="1893238"/>
      </dsp:txXfrm>
    </dsp:sp>
    <dsp:sp modelId="{08DD75CA-136B-45E6-9EDA-5121DCF5FFC2}">
      <dsp:nvSpPr>
        <dsp:cNvPr id="0" name=""/>
        <dsp:cNvSpPr/>
      </dsp:nvSpPr>
      <dsp:spPr>
        <a:xfrm>
          <a:off x="1637836" y="1375784"/>
          <a:ext cx="2434947" cy="2434947"/>
        </a:xfrm>
        <a:prstGeom prst="leftCircularArrow">
          <a:avLst>
            <a:gd name="adj1" fmla="val 2882"/>
            <a:gd name="adj2" fmla="val 352431"/>
            <a:gd name="adj3" fmla="val 2555338"/>
            <a:gd name="adj4" fmla="val 9451885"/>
            <a:gd name="adj5" fmla="val 336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ED47477-1A30-45C3-9BB4-5A10DE3684B7}">
      <dsp:nvSpPr>
        <dsp:cNvPr id="0" name=""/>
        <dsp:cNvSpPr/>
      </dsp:nvSpPr>
      <dsp:spPr>
        <a:xfrm>
          <a:off x="831447" y="2641139"/>
          <a:ext cx="1938131" cy="388352"/>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Pre-Processing</a:t>
          </a:r>
        </a:p>
      </dsp:txBody>
      <dsp:txXfrm>
        <a:off x="842821" y="2652513"/>
        <a:ext cx="1915383" cy="365604"/>
      </dsp:txXfrm>
    </dsp:sp>
    <dsp:sp modelId="{FEDF83B9-EBD2-443B-8427-37884DFF2BFE}">
      <dsp:nvSpPr>
        <dsp:cNvPr id="0" name=""/>
        <dsp:cNvSpPr/>
      </dsp:nvSpPr>
      <dsp:spPr>
        <a:xfrm>
          <a:off x="2972019" y="753401"/>
          <a:ext cx="2483278" cy="2620195"/>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57150" lvl="1" indent="-57150" algn="l" defTabSz="488950">
            <a:lnSpc>
              <a:spcPct val="90000"/>
            </a:lnSpc>
            <a:spcBef>
              <a:spcPct val="0"/>
            </a:spcBef>
            <a:spcAft>
              <a:spcPct val="15000"/>
            </a:spcAft>
            <a:buFont typeface="Arial"/>
            <a:buChar char="•"/>
          </a:pPr>
          <a:r>
            <a:rPr lang="en-US" sz="1100" b="1" kern="1200" dirty="0">
              <a:solidFill>
                <a:srgbClr val="000000"/>
              </a:solidFill>
              <a:latin typeface="Canva Sans"/>
              <a:ea typeface="Canva Sans"/>
              <a:cs typeface="Canva Sans"/>
              <a:sym typeface="Canva Sans"/>
            </a:rPr>
            <a:t>Boundary Conditions</a:t>
          </a:r>
          <a:r>
            <a:rPr lang="en-US" sz="1100" kern="1200" dirty="0">
              <a:solidFill>
                <a:srgbClr val="000000"/>
              </a:solidFill>
              <a:latin typeface="Canva Sans"/>
              <a:ea typeface="Canva Sans"/>
              <a:cs typeface="Canva Sans"/>
              <a:sym typeface="Canva Sans"/>
            </a:rPr>
            <a:t>: Base of landing gears fixed</a:t>
          </a:r>
          <a:endParaRPr lang="en-US" sz="1100" kern="1200" dirty="0"/>
        </a:p>
        <a:p>
          <a:pPr marL="57150" lvl="1" indent="-57150" algn="l" defTabSz="488950">
            <a:lnSpc>
              <a:spcPct val="90000"/>
            </a:lnSpc>
            <a:spcBef>
              <a:spcPct val="0"/>
            </a:spcBef>
            <a:spcAft>
              <a:spcPct val="15000"/>
            </a:spcAft>
            <a:buChar char="•"/>
          </a:pPr>
          <a:r>
            <a:rPr lang="en-US" sz="1100" b="1" kern="1200" dirty="0">
              <a:solidFill>
                <a:srgbClr val="000000"/>
              </a:solidFill>
              <a:latin typeface="Canva Sans"/>
              <a:ea typeface="Canva Sans"/>
              <a:cs typeface="Canva Sans"/>
              <a:sym typeface="Canva Sans"/>
            </a:rPr>
            <a:t>Loads</a:t>
          </a:r>
          <a:r>
            <a:rPr lang="en-US" sz="1100" kern="1200" dirty="0">
              <a:solidFill>
                <a:srgbClr val="000000"/>
              </a:solidFill>
              <a:latin typeface="Canva Sans"/>
              <a:ea typeface="Canva Sans"/>
              <a:cs typeface="Canva Sans"/>
              <a:sym typeface="Canva Sans"/>
            </a:rPr>
            <a:t>:</a:t>
          </a:r>
        </a:p>
        <a:p>
          <a:pPr marL="114300" lvl="2" indent="-57150" algn="l" defTabSz="488950">
            <a:lnSpc>
              <a:spcPct val="90000"/>
            </a:lnSpc>
            <a:spcBef>
              <a:spcPct val="0"/>
            </a:spcBef>
            <a:spcAft>
              <a:spcPct val="15000"/>
            </a:spcAft>
            <a:buChar char="•"/>
          </a:pPr>
          <a:r>
            <a:rPr lang="en-US" sz="1100" kern="1200" dirty="0">
              <a:solidFill>
                <a:srgbClr val="000000"/>
              </a:solidFill>
              <a:latin typeface="Canva Sans"/>
              <a:ea typeface="Canva Sans"/>
              <a:cs typeface="Canva Sans"/>
              <a:sym typeface="Canva Sans"/>
            </a:rPr>
            <a:t>Thrust: 25 N upward on each motor mount base</a:t>
          </a:r>
        </a:p>
        <a:p>
          <a:pPr marL="114300" lvl="2" indent="-57150" algn="l" defTabSz="488950">
            <a:lnSpc>
              <a:spcPct val="90000"/>
            </a:lnSpc>
            <a:spcBef>
              <a:spcPct val="0"/>
            </a:spcBef>
            <a:spcAft>
              <a:spcPct val="15000"/>
            </a:spcAft>
            <a:buChar char="•"/>
          </a:pPr>
          <a:r>
            <a:rPr lang="en-US" sz="1100" kern="1200">
              <a:solidFill>
                <a:srgbClr val="000000"/>
              </a:solidFill>
              <a:latin typeface="Canva Sans"/>
              <a:ea typeface="Canva Sans"/>
              <a:cs typeface="Canva Sans"/>
              <a:sym typeface="Canva Sans"/>
            </a:rPr>
            <a:t>Gravity: Standard Earth gravity downward</a:t>
          </a:r>
          <a:endParaRPr lang="en-US" sz="1100" kern="1200" dirty="0">
            <a:solidFill>
              <a:srgbClr val="000000"/>
            </a:solidFill>
            <a:latin typeface="Canva Sans"/>
            <a:ea typeface="Canva Sans"/>
            <a:cs typeface="Canva Sans"/>
            <a:sym typeface="Canva Sans"/>
          </a:endParaRPr>
        </a:p>
        <a:p>
          <a:pPr marL="114300" lvl="2" indent="-57150" algn="l" defTabSz="488950">
            <a:lnSpc>
              <a:spcPct val="90000"/>
            </a:lnSpc>
            <a:spcBef>
              <a:spcPct val="0"/>
            </a:spcBef>
            <a:spcAft>
              <a:spcPct val="15000"/>
            </a:spcAft>
            <a:buChar char="•"/>
          </a:pPr>
          <a:r>
            <a:rPr lang="en-US" sz="1100" kern="1200">
              <a:solidFill>
                <a:srgbClr val="000000"/>
              </a:solidFill>
              <a:latin typeface="Canva Sans"/>
              <a:ea typeface="Canva Sans"/>
              <a:cs typeface="Canva Sans"/>
              <a:sym typeface="Canva Sans"/>
            </a:rPr>
            <a:t>Payload: 2 N on gripping arm</a:t>
          </a:r>
          <a:endParaRPr lang="en-US" sz="1100" kern="1200" dirty="0">
            <a:solidFill>
              <a:srgbClr val="000000"/>
            </a:solidFill>
            <a:latin typeface="Canva Sans"/>
            <a:ea typeface="Canva Sans"/>
            <a:cs typeface="Canva Sans"/>
            <a:sym typeface="Canva Sans"/>
          </a:endParaRPr>
        </a:p>
        <a:p>
          <a:pPr marL="114300" lvl="2" indent="-57150" algn="l" defTabSz="488950">
            <a:lnSpc>
              <a:spcPct val="90000"/>
            </a:lnSpc>
            <a:spcBef>
              <a:spcPct val="0"/>
            </a:spcBef>
            <a:spcAft>
              <a:spcPct val="15000"/>
            </a:spcAft>
            <a:buChar char="•"/>
          </a:pPr>
          <a:r>
            <a:rPr lang="en-US" sz="1100" kern="1200" dirty="0">
              <a:solidFill>
                <a:srgbClr val="000000"/>
              </a:solidFill>
              <a:latin typeface="Canva Sans"/>
              <a:ea typeface="Canva Sans"/>
              <a:cs typeface="Canva Sans"/>
              <a:sym typeface="Canva Sans"/>
            </a:rPr>
            <a:t>Component weight: 13 N applied at hub base</a:t>
          </a:r>
        </a:p>
      </dsp:txBody>
      <dsp:txXfrm>
        <a:off x="3032317" y="1375170"/>
        <a:ext cx="2362682" cy="1938128"/>
      </dsp:txXfrm>
    </dsp:sp>
    <dsp:sp modelId="{C919C95B-C145-48DB-9EC1-8FA91298B162}">
      <dsp:nvSpPr>
        <dsp:cNvPr id="0" name=""/>
        <dsp:cNvSpPr/>
      </dsp:nvSpPr>
      <dsp:spPr>
        <a:xfrm>
          <a:off x="4490495" y="193992"/>
          <a:ext cx="2460951" cy="2460951"/>
        </a:xfrm>
        <a:prstGeom prst="circularArrow">
          <a:avLst>
            <a:gd name="adj1" fmla="val 2852"/>
            <a:gd name="adj2" fmla="val 348459"/>
            <a:gd name="adj3" fmla="val 19442360"/>
            <a:gd name="adj4" fmla="val 12541840"/>
            <a:gd name="adj5" fmla="val 332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CE6355D-6690-4096-84B4-683A90DC815F}">
      <dsp:nvSpPr>
        <dsp:cNvPr id="0" name=""/>
        <dsp:cNvSpPr/>
      </dsp:nvSpPr>
      <dsp:spPr>
        <a:xfrm>
          <a:off x="3923524" y="864241"/>
          <a:ext cx="1576089" cy="388352"/>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Processing</a:t>
          </a:r>
        </a:p>
      </dsp:txBody>
      <dsp:txXfrm>
        <a:off x="3934898" y="875615"/>
        <a:ext cx="1553341" cy="365604"/>
      </dsp:txXfrm>
    </dsp:sp>
    <dsp:sp modelId="{323ADCC7-D991-4817-816C-CACB5539B241}">
      <dsp:nvSpPr>
        <dsp:cNvPr id="0" name=""/>
        <dsp:cNvSpPr/>
      </dsp:nvSpPr>
      <dsp:spPr>
        <a:xfrm>
          <a:off x="5720822" y="897447"/>
          <a:ext cx="2428746" cy="2314199"/>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57150" lvl="1" indent="-57150" algn="l" defTabSz="488950">
            <a:lnSpc>
              <a:spcPct val="90000"/>
            </a:lnSpc>
            <a:spcBef>
              <a:spcPct val="0"/>
            </a:spcBef>
            <a:spcAft>
              <a:spcPct val="15000"/>
            </a:spcAft>
            <a:buChar char="•"/>
          </a:pPr>
          <a:r>
            <a:rPr lang="en-US" sz="1100" b="1" u="none" kern="1200" dirty="0">
              <a:solidFill>
                <a:srgbClr val="000000"/>
              </a:solidFill>
              <a:latin typeface="Canva Sans"/>
              <a:ea typeface="Canva Sans"/>
              <a:cs typeface="Canva Sans"/>
              <a:sym typeface="Canva Sans"/>
            </a:rPr>
            <a:t>Total Deformation</a:t>
          </a:r>
          <a:r>
            <a:rPr lang="en-US" sz="1100" b="1" u="sng" kern="1200" dirty="0">
              <a:solidFill>
                <a:srgbClr val="000000"/>
              </a:solidFill>
              <a:latin typeface="Canva Sans"/>
              <a:ea typeface="Canva Sans"/>
              <a:cs typeface="Canva Sans"/>
              <a:sym typeface="Canva Sans"/>
            </a:rPr>
            <a:t>: </a:t>
          </a:r>
          <a:r>
            <a:rPr lang="en-US" sz="1100" kern="1200" dirty="0">
              <a:solidFill>
                <a:srgbClr val="000000"/>
              </a:solidFill>
              <a:latin typeface="Canva Sans"/>
              <a:ea typeface="Canva Sans"/>
              <a:cs typeface="Canva Sans"/>
              <a:sym typeface="Canva Sans"/>
            </a:rPr>
            <a:t>Highest deformation observed at distal end of carbon-fiber motor mounts (well within material limits)</a:t>
          </a:r>
          <a:endParaRPr lang="en-US" sz="1100" b="1" kern="1200" dirty="0"/>
        </a:p>
        <a:p>
          <a:pPr marL="57150" lvl="1" indent="-57150" algn="l" defTabSz="488950">
            <a:lnSpc>
              <a:spcPct val="90000"/>
            </a:lnSpc>
            <a:spcBef>
              <a:spcPct val="0"/>
            </a:spcBef>
            <a:spcAft>
              <a:spcPct val="15000"/>
            </a:spcAft>
            <a:buChar char="•"/>
          </a:pPr>
          <a:r>
            <a:rPr lang="en-US" sz="1100" b="1" u="none" kern="1200" dirty="0">
              <a:solidFill>
                <a:srgbClr val="000000"/>
              </a:solidFill>
              <a:latin typeface="Canva Sans"/>
              <a:ea typeface="Canva Sans"/>
              <a:cs typeface="Canva Sans"/>
              <a:sym typeface="Canva Sans"/>
            </a:rPr>
            <a:t>Equivalent (Von Mises) Stress</a:t>
          </a:r>
          <a:r>
            <a:rPr lang="en-US" sz="1100" b="1" u="sng" kern="1200" dirty="0">
              <a:solidFill>
                <a:srgbClr val="000000"/>
              </a:solidFill>
              <a:latin typeface="Canva Sans"/>
              <a:ea typeface="Canva Sans"/>
              <a:cs typeface="Canva Sans"/>
              <a:sym typeface="Canva Sans"/>
            </a:rPr>
            <a:t>: </a:t>
          </a:r>
          <a:r>
            <a:rPr lang="en-US" sz="1100" kern="1200" dirty="0">
              <a:solidFill>
                <a:srgbClr val="000000"/>
              </a:solidFill>
              <a:latin typeface="Canva Sans"/>
              <a:ea typeface="Canva Sans"/>
              <a:cs typeface="Canva Sans"/>
              <a:sym typeface="Canva Sans"/>
            </a:rPr>
            <a:t>Maximum stress appears at the rotor arm–hub junction (carbon fiber), remaining below carbon fiber’s yield stress; fasteners will secure components at these high-stress locations </a:t>
          </a:r>
          <a:endParaRPr lang="en-US" sz="1100" b="1" u="sng" kern="1200" dirty="0">
            <a:solidFill>
              <a:srgbClr val="000000"/>
            </a:solidFill>
            <a:latin typeface="Canva Sans"/>
            <a:ea typeface="Canva Sans"/>
            <a:cs typeface="Canva Sans"/>
            <a:sym typeface="Canva Sans"/>
          </a:endParaRPr>
        </a:p>
      </dsp:txBody>
      <dsp:txXfrm>
        <a:off x="5774078" y="950703"/>
        <a:ext cx="2322234" cy="1711787"/>
      </dsp:txXfrm>
    </dsp:sp>
    <dsp:sp modelId="{CA88590D-E790-4434-A5EF-6B933D9B2BB1}">
      <dsp:nvSpPr>
        <dsp:cNvPr id="0" name=""/>
        <dsp:cNvSpPr/>
      </dsp:nvSpPr>
      <dsp:spPr>
        <a:xfrm>
          <a:off x="6298049" y="2796773"/>
          <a:ext cx="1576089" cy="388352"/>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Results</a:t>
          </a:r>
        </a:p>
      </dsp:txBody>
      <dsp:txXfrm>
        <a:off x="6309423" y="2808147"/>
        <a:ext cx="1553341" cy="36560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8AFB81-9C49-4E39-809D-342B5626E929}">
      <dsp:nvSpPr>
        <dsp:cNvPr id="0" name=""/>
        <dsp:cNvSpPr/>
      </dsp:nvSpPr>
      <dsp:spPr>
        <a:xfrm>
          <a:off x="44461" y="966791"/>
          <a:ext cx="2434419" cy="3657039"/>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Font typeface="Arial"/>
            <a:buChar char="•"/>
          </a:pPr>
          <a:r>
            <a:rPr lang="en-US" sz="1200" b="1" kern="1200" dirty="0">
              <a:solidFill>
                <a:srgbClr val="000000"/>
              </a:solidFill>
              <a:latin typeface="Canva Sans"/>
              <a:ea typeface="Canva Sans"/>
              <a:cs typeface="Canva Sans"/>
              <a:sym typeface="Canva Sans"/>
            </a:rPr>
            <a:t>Materials</a:t>
          </a:r>
          <a:r>
            <a:rPr lang="en-US" sz="1200" kern="1200" dirty="0">
              <a:solidFill>
                <a:srgbClr val="000000"/>
              </a:solidFill>
              <a:latin typeface="Canva Sans"/>
              <a:ea typeface="Canva Sans"/>
              <a:cs typeface="Canva Sans"/>
              <a:sym typeface="Canva Sans"/>
            </a:rPr>
            <a:t>: Carbon Fiber (230 GPa) and ABS Plastic (High Impact)</a:t>
          </a:r>
          <a:endParaRPr lang="en-US" sz="1200" kern="1200" dirty="0"/>
        </a:p>
        <a:p>
          <a:pPr marL="114300" lvl="1" indent="-114300" algn="l" defTabSz="533400">
            <a:lnSpc>
              <a:spcPct val="90000"/>
            </a:lnSpc>
            <a:spcBef>
              <a:spcPct val="0"/>
            </a:spcBef>
            <a:spcAft>
              <a:spcPct val="15000"/>
            </a:spcAft>
            <a:buChar char="•"/>
          </a:pPr>
          <a:r>
            <a:rPr lang="en-US" sz="1200" b="1" kern="1200" dirty="0">
              <a:solidFill>
                <a:srgbClr val="000000"/>
              </a:solidFill>
              <a:latin typeface="Canva Sans"/>
              <a:ea typeface="Canva Sans"/>
              <a:cs typeface="Canva Sans"/>
              <a:sym typeface="Canva Sans"/>
            </a:rPr>
            <a:t>Contacts</a:t>
          </a:r>
          <a:r>
            <a:rPr lang="en-US" sz="1200" kern="1200" dirty="0">
              <a:solidFill>
                <a:srgbClr val="000000"/>
              </a:solidFill>
              <a:latin typeface="Canva Sans"/>
              <a:ea typeface="Canva Sans"/>
              <a:cs typeface="Canva Sans"/>
              <a:sym typeface="Canva Sans"/>
            </a:rPr>
            <a:t>: Bonded between mating surfaces</a:t>
          </a:r>
        </a:p>
        <a:p>
          <a:pPr marL="114300" lvl="1" indent="-114300" algn="l" defTabSz="533400">
            <a:lnSpc>
              <a:spcPct val="90000"/>
            </a:lnSpc>
            <a:spcBef>
              <a:spcPct val="0"/>
            </a:spcBef>
            <a:spcAft>
              <a:spcPct val="15000"/>
            </a:spcAft>
            <a:buChar char="•"/>
          </a:pPr>
          <a:r>
            <a:rPr lang="en-US" sz="1200" b="1" kern="1200" dirty="0">
              <a:solidFill>
                <a:srgbClr val="000000"/>
              </a:solidFill>
              <a:latin typeface="Canva Sans"/>
              <a:ea typeface="Canva Sans"/>
              <a:cs typeface="Canva Sans"/>
              <a:sym typeface="Canva Sans"/>
            </a:rPr>
            <a:t>Mesh Details:</a:t>
          </a:r>
        </a:p>
        <a:p>
          <a:pPr marL="228600" lvl="2" indent="-114300" algn="l" defTabSz="533400">
            <a:lnSpc>
              <a:spcPct val="90000"/>
            </a:lnSpc>
            <a:spcBef>
              <a:spcPct val="0"/>
            </a:spcBef>
            <a:spcAft>
              <a:spcPct val="15000"/>
            </a:spcAft>
            <a:buChar char="•"/>
          </a:pPr>
          <a:r>
            <a:rPr lang="en-US" sz="1200" kern="1200" dirty="0">
              <a:solidFill>
                <a:srgbClr val="000000"/>
              </a:solidFill>
              <a:latin typeface="Canva Sans"/>
              <a:ea typeface="Canva Sans"/>
              <a:cs typeface="Canva Sans"/>
              <a:sym typeface="Canva Sans"/>
            </a:rPr>
            <a:t>Motor mount, rotor arm, landing gear: 2 mm element size</a:t>
          </a:r>
        </a:p>
        <a:p>
          <a:pPr marL="228600" lvl="2" indent="-114300" algn="l" defTabSz="533400">
            <a:lnSpc>
              <a:spcPct val="90000"/>
            </a:lnSpc>
            <a:spcBef>
              <a:spcPct val="0"/>
            </a:spcBef>
            <a:spcAft>
              <a:spcPct val="15000"/>
            </a:spcAft>
            <a:buChar char="•"/>
          </a:pPr>
          <a:r>
            <a:rPr lang="en-US" sz="1200" kern="1200" dirty="0">
              <a:solidFill>
                <a:srgbClr val="000000"/>
              </a:solidFill>
              <a:latin typeface="Canva Sans"/>
              <a:ea typeface="Canva Sans"/>
              <a:cs typeface="Canva Sans"/>
              <a:sym typeface="Canva Sans"/>
            </a:rPr>
            <a:t>Central hub: 3 mm element size</a:t>
          </a:r>
        </a:p>
        <a:p>
          <a:pPr marL="228600" lvl="2" indent="-114300" algn="l" defTabSz="533400">
            <a:lnSpc>
              <a:spcPct val="90000"/>
            </a:lnSpc>
            <a:spcBef>
              <a:spcPct val="0"/>
            </a:spcBef>
            <a:spcAft>
              <a:spcPct val="15000"/>
            </a:spcAft>
            <a:buChar char="•"/>
          </a:pPr>
          <a:r>
            <a:rPr lang="en-US" sz="1200" kern="1200">
              <a:solidFill>
                <a:srgbClr val="000000"/>
              </a:solidFill>
              <a:latin typeface="Canva Sans"/>
              <a:ea typeface="Canva Sans"/>
              <a:cs typeface="Canva Sans"/>
              <a:sym typeface="Canva Sans"/>
            </a:rPr>
            <a:t>Payload mechanism: 2.5 mm element size</a:t>
          </a:r>
          <a:endParaRPr lang="en-US" sz="1200" kern="1200" dirty="0">
            <a:solidFill>
              <a:srgbClr val="000000"/>
            </a:solidFill>
            <a:latin typeface="Canva Sans"/>
            <a:ea typeface="Canva Sans"/>
            <a:cs typeface="Canva Sans"/>
            <a:sym typeface="Canva Sans"/>
          </a:endParaRPr>
        </a:p>
        <a:p>
          <a:pPr marL="228600" lvl="2" indent="-114300" algn="l" defTabSz="533400">
            <a:lnSpc>
              <a:spcPct val="90000"/>
            </a:lnSpc>
            <a:spcBef>
              <a:spcPct val="0"/>
            </a:spcBef>
            <a:spcAft>
              <a:spcPct val="15000"/>
            </a:spcAft>
            <a:buChar char="•"/>
          </a:pPr>
          <a:r>
            <a:rPr lang="en-US" sz="1200" kern="1200" dirty="0">
              <a:solidFill>
                <a:srgbClr val="000000"/>
              </a:solidFill>
              <a:latin typeface="Canva Sans"/>
              <a:ea typeface="Canva Sans"/>
              <a:cs typeface="Canva Sans"/>
              <a:sym typeface="Canva Sans"/>
            </a:rPr>
            <a:t>Element quality target: ≥ 0.20 (majority of elements meet this criterion)</a:t>
          </a:r>
        </a:p>
      </dsp:txBody>
      <dsp:txXfrm>
        <a:off x="115763" y="1038093"/>
        <a:ext cx="2291815" cy="2730783"/>
      </dsp:txXfrm>
    </dsp:sp>
    <dsp:sp modelId="{08DD75CA-136B-45E6-9EDA-5121DCF5FFC2}">
      <dsp:nvSpPr>
        <dsp:cNvPr id="0" name=""/>
        <dsp:cNvSpPr/>
      </dsp:nvSpPr>
      <dsp:spPr>
        <a:xfrm>
          <a:off x="1489269" y="3239730"/>
          <a:ext cx="2029646" cy="2029646"/>
        </a:xfrm>
        <a:prstGeom prst="leftCircularArrow">
          <a:avLst>
            <a:gd name="adj1" fmla="val 3178"/>
            <a:gd name="adj2" fmla="val 391310"/>
            <a:gd name="adj3" fmla="val 1567409"/>
            <a:gd name="adj4" fmla="val 8425077"/>
            <a:gd name="adj5" fmla="val 3708"/>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ED47477-1A30-45C3-9BB4-5A10DE3684B7}">
      <dsp:nvSpPr>
        <dsp:cNvPr id="0" name=""/>
        <dsp:cNvSpPr/>
      </dsp:nvSpPr>
      <dsp:spPr>
        <a:xfrm>
          <a:off x="834869" y="4216812"/>
          <a:ext cx="1826186" cy="611997"/>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Pre-Processing</a:t>
          </a:r>
        </a:p>
      </dsp:txBody>
      <dsp:txXfrm>
        <a:off x="852794" y="4234737"/>
        <a:ext cx="1790336" cy="576147"/>
      </dsp:txXfrm>
    </dsp:sp>
    <dsp:sp modelId="{FEDF83B9-EBD2-443B-8427-37884DFF2BFE}">
      <dsp:nvSpPr>
        <dsp:cNvPr id="0" name=""/>
        <dsp:cNvSpPr/>
      </dsp:nvSpPr>
      <dsp:spPr>
        <a:xfrm>
          <a:off x="2812480" y="2128435"/>
          <a:ext cx="2091173" cy="2152930"/>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Font typeface="Arial"/>
            <a:buChar char="•"/>
          </a:pPr>
          <a:r>
            <a:rPr lang="en-US" sz="1200" b="1" kern="1200" dirty="0">
              <a:solidFill>
                <a:srgbClr val="000000"/>
              </a:solidFill>
              <a:latin typeface="Canva Sans"/>
              <a:ea typeface="Canva Sans"/>
              <a:cs typeface="Canva Sans"/>
              <a:sym typeface="Canva Sans"/>
            </a:rPr>
            <a:t>Boundary Conditions</a:t>
          </a:r>
          <a:r>
            <a:rPr lang="en-US" sz="1200" kern="1200" dirty="0">
              <a:solidFill>
                <a:srgbClr val="000000"/>
              </a:solidFill>
              <a:latin typeface="Canva Sans"/>
              <a:ea typeface="Canva Sans"/>
              <a:cs typeface="Canva Sans"/>
              <a:sym typeface="Canva Sans"/>
            </a:rPr>
            <a:t>: Base of landing gears fixed</a:t>
          </a:r>
          <a:endParaRPr lang="en-US" sz="1200" kern="1200" dirty="0"/>
        </a:p>
        <a:p>
          <a:pPr marL="114300" lvl="1" indent="-114300" algn="l" defTabSz="533400">
            <a:lnSpc>
              <a:spcPct val="90000"/>
            </a:lnSpc>
            <a:spcBef>
              <a:spcPct val="0"/>
            </a:spcBef>
            <a:spcAft>
              <a:spcPct val="15000"/>
            </a:spcAft>
            <a:buChar char="•"/>
          </a:pPr>
          <a:r>
            <a:rPr lang="en-US" sz="1200" kern="1200" dirty="0">
              <a:solidFill>
                <a:srgbClr val="000000"/>
              </a:solidFill>
              <a:latin typeface="Canva Sans"/>
              <a:ea typeface="Canva Sans"/>
              <a:cs typeface="Canva Sans"/>
              <a:sym typeface="Canva Sans"/>
            </a:rPr>
            <a:t>Computed first </a:t>
          </a:r>
          <a:r>
            <a:rPr lang="en-US" sz="1200" b="1" kern="1200" dirty="0">
              <a:solidFill>
                <a:srgbClr val="000000"/>
              </a:solidFill>
              <a:latin typeface="Canva Sans"/>
              <a:ea typeface="Canva Sans"/>
              <a:cs typeface="Canva Sans"/>
              <a:sym typeface="Canva Sans"/>
            </a:rPr>
            <a:t>20 natural frequencies </a:t>
          </a:r>
          <a:r>
            <a:rPr lang="en-US" sz="1200" kern="1200" dirty="0">
              <a:solidFill>
                <a:srgbClr val="000000"/>
              </a:solidFill>
              <a:latin typeface="Canva Sans"/>
              <a:ea typeface="Canva Sans"/>
              <a:cs typeface="Canva Sans"/>
              <a:sym typeface="Canva Sans"/>
            </a:rPr>
            <a:t>(modal frequencies) of entire structure </a:t>
          </a:r>
        </a:p>
      </dsp:txBody>
      <dsp:txXfrm>
        <a:off x="2862025" y="2639322"/>
        <a:ext cx="1992083" cy="1592497"/>
      </dsp:txXfrm>
    </dsp:sp>
    <dsp:sp modelId="{C919C95B-C145-48DB-9EC1-8FA91298B162}">
      <dsp:nvSpPr>
        <dsp:cNvPr id="0" name=""/>
        <dsp:cNvSpPr/>
      </dsp:nvSpPr>
      <dsp:spPr>
        <a:xfrm>
          <a:off x="4229897" y="524592"/>
          <a:ext cx="2700964" cy="2700964"/>
        </a:xfrm>
        <a:prstGeom prst="circularArrow">
          <a:avLst>
            <a:gd name="adj1" fmla="val 2388"/>
            <a:gd name="adj2" fmla="val 288673"/>
            <a:gd name="adj3" fmla="val 17373549"/>
            <a:gd name="adj4" fmla="val 10413244"/>
            <a:gd name="adj5" fmla="val 2786"/>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CE6355D-6690-4096-84B4-683A90DC815F}">
      <dsp:nvSpPr>
        <dsp:cNvPr id="0" name=""/>
        <dsp:cNvSpPr/>
      </dsp:nvSpPr>
      <dsp:spPr>
        <a:xfrm>
          <a:off x="3299383" y="2018843"/>
          <a:ext cx="2016971" cy="611997"/>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Processing</a:t>
          </a:r>
        </a:p>
      </dsp:txBody>
      <dsp:txXfrm>
        <a:off x="3317308" y="2036768"/>
        <a:ext cx="1981121" cy="576147"/>
      </dsp:txXfrm>
    </dsp:sp>
    <dsp:sp modelId="{323ADCC7-D991-4817-816C-CACB5539B241}">
      <dsp:nvSpPr>
        <dsp:cNvPr id="0" name=""/>
        <dsp:cNvSpPr/>
      </dsp:nvSpPr>
      <dsp:spPr>
        <a:xfrm>
          <a:off x="5469211" y="831902"/>
          <a:ext cx="1758206" cy="2435006"/>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Char char="•"/>
          </a:pPr>
          <a:r>
            <a:rPr lang="en-US" sz="1200" kern="1200" dirty="0">
              <a:solidFill>
                <a:srgbClr val="000000"/>
              </a:solidFill>
              <a:latin typeface="Canva Sans"/>
              <a:ea typeface="Canva Sans"/>
              <a:cs typeface="Canva Sans"/>
              <a:sym typeface="Canva Sans"/>
            </a:rPr>
            <a:t>Identified modal frequencies; confirmed that typical operating motor RPM (&gt; 11,000 RPM) falls outside critical modal frequency ranges, ensuring safe operation without resonance-induced failure</a:t>
          </a:r>
          <a:endParaRPr lang="en-US" sz="1200" b="1" kern="1200" dirty="0"/>
        </a:p>
      </dsp:txBody>
      <dsp:txXfrm>
        <a:off x="5520707" y="883398"/>
        <a:ext cx="1655214" cy="1810227"/>
      </dsp:txXfrm>
    </dsp:sp>
    <dsp:sp modelId="{CA88590D-E790-4434-A5EF-6B933D9B2BB1}">
      <dsp:nvSpPr>
        <dsp:cNvPr id="0" name=""/>
        <dsp:cNvSpPr/>
      </dsp:nvSpPr>
      <dsp:spPr>
        <a:xfrm>
          <a:off x="6277257" y="3040051"/>
          <a:ext cx="1579228" cy="611997"/>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Results</a:t>
          </a:r>
        </a:p>
      </dsp:txBody>
      <dsp:txXfrm>
        <a:off x="6295182" y="3057976"/>
        <a:ext cx="1543378" cy="57614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8AFB81-9C49-4E39-809D-342B5626E929}">
      <dsp:nvSpPr>
        <dsp:cNvPr id="0" name=""/>
        <dsp:cNvSpPr/>
      </dsp:nvSpPr>
      <dsp:spPr>
        <a:xfrm>
          <a:off x="0" y="574562"/>
          <a:ext cx="2833971" cy="2289597"/>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Char char="•"/>
          </a:pPr>
          <a:r>
            <a:rPr lang="en-US" sz="1200" b="1" kern="1200" dirty="0">
              <a:solidFill>
                <a:srgbClr val="000000"/>
              </a:solidFill>
              <a:latin typeface="+mn-lt"/>
              <a:ea typeface="Canva Sans"/>
              <a:cs typeface="Canva Sans"/>
              <a:sym typeface="Canva Sans"/>
            </a:rPr>
            <a:t>Geometry</a:t>
          </a:r>
          <a:r>
            <a:rPr lang="en-US" sz="1200" kern="1200" dirty="0">
              <a:solidFill>
                <a:srgbClr val="000000"/>
              </a:solidFill>
              <a:latin typeface="+mn-lt"/>
              <a:ea typeface="Canva Sans"/>
              <a:cs typeface="Canva Sans"/>
              <a:sym typeface="Canva Sans"/>
            </a:rPr>
            <a:t>: Enclosed “box” around full UAS geometry</a:t>
          </a:r>
          <a:endParaRPr lang="en-US" sz="1200" kern="1200" dirty="0">
            <a:latin typeface="+mn-lt"/>
          </a:endParaRPr>
        </a:p>
        <a:p>
          <a:pPr marL="114300" lvl="1" indent="-114300" algn="l" defTabSz="533400">
            <a:lnSpc>
              <a:spcPct val="90000"/>
            </a:lnSpc>
            <a:spcBef>
              <a:spcPct val="0"/>
            </a:spcBef>
            <a:spcAft>
              <a:spcPct val="15000"/>
            </a:spcAft>
            <a:buFont typeface="Arial"/>
            <a:buChar char="•"/>
          </a:pPr>
          <a:r>
            <a:rPr lang="en-US" sz="1200" b="1" kern="1200" dirty="0">
              <a:solidFill>
                <a:srgbClr val="000000"/>
              </a:solidFill>
              <a:latin typeface="+mn-lt"/>
              <a:ea typeface="Canva Sans"/>
              <a:cs typeface="Canva Sans"/>
              <a:sym typeface="Canva Sans"/>
            </a:rPr>
            <a:t>Rotational</a:t>
          </a:r>
          <a:r>
            <a:rPr lang="en-US" sz="1200" kern="1200" dirty="0">
              <a:solidFill>
                <a:srgbClr val="000000"/>
              </a:solidFill>
              <a:latin typeface="+mn-lt"/>
              <a:ea typeface="Canva Sans"/>
              <a:cs typeface="Canva Sans"/>
              <a:sym typeface="Canva Sans"/>
            </a:rPr>
            <a:t> </a:t>
          </a:r>
          <a:r>
            <a:rPr lang="en-US" sz="1200" b="1" kern="1200" dirty="0">
              <a:solidFill>
                <a:srgbClr val="000000"/>
              </a:solidFill>
              <a:latin typeface="+mn-lt"/>
              <a:ea typeface="Canva Sans"/>
              <a:cs typeface="Canva Sans"/>
              <a:sym typeface="Canva Sans"/>
            </a:rPr>
            <a:t>Domain</a:t>
          </a:r>
          <a:r>
            <a:rPr lang="en-US" sz="1200" kern="1200" dirty="0">
              <a:solidFill>
                <a:srgbClr val="000000"/>
              </a:solidFill>
              <a:latin typeface="+mn-lt"/>
              <a:ea typeface="Canva Sans"/>
              <a:cs typeface="Canva Sans"/>
              <a:sym typeface="Canva Sans"/>
            </a:rPr>
            <a:t>: Cylindrical regions around each of the four propellers, assigned opposite‐spin directions (two clockwise, two counterclockwise)</a:t>
          </a:r>
        </a:p>
        <a:p>
          <a:pPr marL="114300" lvl="1" indent="-114300" algn="l" defTabSz="533400">
            <a:lnSpc>
              <a:spcPct val="90000"/>
            </a:lnSpc>
            <a:spcBef>
              <a:spcPct val="0"/>
            </a:spcBef>
            <a:spcAft>
              <a:spcPct val="15000"/>
            </a:spcAft>
            <a:buFont typeface="Arial"/>
            <a:buChar char="•"/>
          </a:pPr>
          <a:r>
            <a:rPr lang="en-US" sz="1200" b="1" kern="1200" dirty="0">
              <a:solidFill>
                <a:srgbClr val="000000"/>
              </a:solidFill>
              <a:latin typeface="+mn-lt"/>
              <a:ea typeface="Canva Sans"/>
              <a:cs typeface="Canva Sans"/>
              <a:sym typeface="Canva Sans"/>
            </a:rPr>
            <a:t>Mesh</a:t>
          </a:r>
          <a:r>
            <a:rPr lang="en-US" sz="1200" kern="1200" dirty="0">
              <a:solidFill>
                <a:srgbClr val="000000"/>
              </a:solidFill>
              <a:latin typeface="+mn-lt"/>
              <a:ea typeface="Canva Sans"/>
              <a:cs typeface="Canva Sans"/>
              <a:sym typeface="Canva Sans"/>
            </a:rPr>
            <a:t>:</a:t>
          </a:r>
        </a:p>
        <a:p>
          <a:pPr marL="114300" lvl="1" indent="-114300" algn="l" defTabSz="533400">
            <a:lnSpc>
              <a:spcPct val="90000"/>
            </a:lnSpc>
            <a:spcBef>
              <a:spcPct val="0"/>
            </a:spcBef>
            <a:spcAft>
              <a:spcPct val="15000"/>
            </a:spcAft>
            <a:buFont typeface="Arial"/>
            <a:buChar char="•"/>
          </a:pPr>
          <a:r>
            <a:rPr lang="en-US" sz="1200" kern="1200" dirty="0">
              <a:solidFill>
                <a:srgbClr val="000000"/>
              </a:solidFill>
              <a:latin typeface="+mn-lt"/>
              <a:ea typeface="Canva Sans"/>
              <a:cs typeface="Canva Sans"/>
              <a:sym typeface="Canva Sans"/>
            </a:rPr>
            <a:t>Rotational (propeller) domain: 2 mm element size</a:t>
          </a:r>
        </a:p>
        <a:p>
          <a:pPr marL="114300" lvl="1" indent="-114300" algn="l" defTabSz="533400">
            <a:lnSpc>
              <a:spcPct val="90000"/>
            </a:lnSpc>
            <a:spcBef>
              <a:spcPct val="0"/>
            </a:spcBef>
            <a:spcAft>
              <a:spcPct val="15000"/>
            </a:spcAft>
            <a:buFont typeface="Arial"/>
            <a:buChar char="•"/>
          </a:pPr>
          <a:r>
            <a:rPr lang="en-US" sz="1200" kern="1200" dirty="0">
              <a:solidFill>
                <a:srgbClr val="000000"/>
              </a:solidFill>
              <a:latin typeface="+mn-lt"/>
              <a:ea typeface="Canva Sans"/>
              <a:cs typeface="Canva Sans"/>
              <a:sym typeface="Canva Sans"/>
            </a:rPr>
            <a:t>External (static) domain: 10 mm element size </a:t>
          </a:r>
        </a:p>
      </dsp:txBody>
      <dsp:txXfrm>
        <a:off x="52690" y="627252"/>
        <a:ext cx="2728591" cy="1693589"/>
      </dsp:txXfrm>
    </dsp:sp>
    <dsp:sp modelId="{08DD75CA-136B-45E6-9EDA-5121DCF5FFC2}">
      <dsp:nvSpPr>
        <dsp:cNvPr id="0" name=""/>
        <dsp:cNvSpPr/>
      </dsp:nvSpPr>
      <dsp:spPr>
        <a:xfrm>
          <a:off x="2110576" y="1527716"/>
          <a:ext cx="2942405" cy="2942405"/>
        </a:xfrm>
        <a:prstGeom prst="leftCircularArrow">
          <a:avLst>
            <a:gd name="adj1" fmla="val 3527"/>
            <a:gd name="adj2" fmla="val 437909"/>
            <a:gd name="adj3" fmla="val 3500560"/>
            <a:gd name="adj4" fmla="val 10311630"/>
            <a:gd name="adj5" fmla="val 4115"/>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ED47477-1A30-45C3-9BB4-5A10DE3684B7}">
      <dsp:nvSpPr>
        <dsp:cNvPr id="0" name=""/>
        <dsp:cNvSpPr/>
      </dsp:nvSpPr>
      <dsp:spPr>
        <a:xfrm>
          <a:off x="1101277" y="2712801"/>
          <a:ext cx="2190090" cy="438128"/>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33020" rIns="49530" bIns="33020" numCol="1" spcCol="1270" anchor="ctr" anchorCtr="0">
          <a:noAutofit/>
        </a:bodyPr>
        <a:lstStyle/>
        <a:p>
          <a:pPr marL="0" lvl="0" indent="0" algn="ctr" defTabSz="1155700">
            <a:lnSpc>
              <a:spcPct val="90000"/>
            </a:lnSpc>
            <a:spcBef>
              <a:spcPct val="0"/>
            </a:spcBef>
            <a:spcAft>
              <a:spcPct val="35000"/>
            </a:spcAft>
            <a:buNone/>
          </a:pPr>
          <a:r>
            <a:rPr lang="en-US" sz="2600" kern="1200" dirty="0"/>
            <a:t>Domain Setup</a:t>
          </a:r>
        </a:p>
      </dsp:txBody>
      <dsp:txXfrm>
        <a:off x="1114109" y="2725633"/>
        <a:ext cx="2164426" cy="412464"/>
      </dsp:txXfrm>
    </dsp:sp>
    <dsp:sp modelId="{FEDF83B9-EBD2-443B-8427-37884DFF2BFE}">
      <dsp:nvSpPr>
        <dsp:cNvPr id="0" name=""/>
        <dsp:cNvSpPr/>
      </dsp:nvSpPr>
      <dsp:spPr>
        <a:xfrm>
          <a:off x="3355267" y="1430533"/>
          <a:ext cx="3148531" cy="2262894"/>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Char char="•"/>
          </a:pPr>
          <a:r>
            <a:rPr lang="en-US" sz="1200" b="1" kern="1200" dirty="0">
              <a:solidFill>
                <a:srgbClr val="000000"/>
              </a:solidFill>
              <a:latin typeface="+mn-lt"/>
              <a:ea typeface="Canva Sans"/>
              <a:cs typeface="Canva Sans"/>
              <a:sym typeface="Canva Sans"/>
            </a:rPr>
            <a:t>Propellers</a:t>
          </a:r>
          <a:r>
            <a:rPr lang="en-US" sz="1200" kern="1200" dirty="0">
              <a:solidFill>
                <a:srgbClr val="000000"/>
              </a:solidFill>
              <a:latin typeface="+mn-lt"/>
              <a:ea typeface="Canva Sans"/>
              <a:cs typeface="Canva Sans"/>
              <a:sym typeface="Canva Sans"/>
            </a:rPr>
            <a:t>: 23,000 RPM imposed on rotational domains</a:t>
          </a:r>
          <a:endParaRPr lang="en-US" sz="1200" kern="1200" dirty="0">
            <a:latin typeface="+mn-lt"/>
          </a:endParaRPr>
        </a:p>
        <a:p>
          <a:pPr marL="114300" lvl="1" indent="-114300" algn="l" defTabSz="533400">
            <a:lnSpc>
              <a:spcPct val="90000"/>
            </a:lnSpc>
            <a:spcBef>
              <a:spcPct val="0"/>
            </a:spcBef>
            <a:spcAft>
              <a:spcPct val="15000"/>
            </a:spcAft>
            <a:buFont typeface="Arial"/>
            <a:buChar char="•"/>
          </a:pPr>
          <a:r>
            <a:rPr lang="en-US" sz="1200" b="1" kern="1200" dirty="0">
              <a:solidFill>
                <a:srgbClr val="000000"/>
              </a:solidFill>
              <a:latin typeface="+mn-lt"/>
              <a:ea typeface="Canva Sans"/>
              <a:cs typeface="Canva Sans"/>
              <a:sym typeface="Canva Sans"/>
            </a:rPr>
            <a:t>Inlet</a:t>
          </a:r>
          <a:r>
            <a:rPr lang="en-US" sz="1200" kern="1200" dirty="0">
              <a:solidFill>
                <a:srgbClr val="000000"/>
              </a:solidFill>
              <a:latin typeface="+mn-lt"/>
              <a:ea typeface="Canva Sans"/>
              <a:cs typeface="Canva Sans"/>
              <a:sym typeface="Canva Sans"/>
            </a:rPr>
            <a:t> </a:t>
          </a:r>
          <a:r>
            <a:rPr lang="en-US" sz="1200" b="1" kern="1200" dirty="0">
              <a:solidFill>
                <a:srgbClr val="000000"/>
              </a:solidFill>
              <a:latin typeface="+mn-lt"/>
              <a:ea typeface="Canva Sans"/>
              <a:cs typeface="Canva Sans"/>
              <a:sym typeface="Canva Sans"/>
            </a:rPr>
            <a:t>Wind</a:t>
          </a:r>
          <a:r>
            <a:rPr lang="en-US" sz="1200" kern="1200" dirty="0">
              <a:solidFill>
                <a:srgbClr val="000000"/>
              </a:solidFill>
              <a:latin typeface="+mn-lt"/>
              <a:ea typeface="Canva Sans"/>
              <a:cs typeface="Canva Sans"/>
              <a:sym typeface="Canva Sans"/>
            </a:rPr>
            <a:t>: 20 m/s velocity in the X-direction</a:t>
          </a:r>
        </a:p>
        <a:p>
          <a:pPr marL="114300" lvl="1" indent="-114300" algn="l" defTabSz="533400">
            <a:lnSpc>
              <a:spcPct val="90000"/>
            </a:lnSpc>
            <a:spcBef>
              <a:spcPct val="0"/>
            </a:spcBef>
            <a:spcAft>
              <a:spcPct val="15000"/>
            </a:spcAft>
            <a:buFont typeface="Arial"/>
            <a:buChar char="•"/>
          </a:pPr>
          <a:r>
            <a:rPr lang="en-US" sz="1200" b="1" kern="1200" dirty="0">
              <a:solidFill>
                <a:srgbClr val="000000"/>
              </a:solidFill>
              <a:latin typeface="+mn-lt"/>
              <a:ea typeface="Canva Sans"/>
              <a:cs typeface="Canva Sans"/>
              <a:sym typeface="Canva Sans"/>
            </a:rPr>
            <a:t>Fluid</a:t>
          </a:r>
          <a:r>
            <a:rPr lang="en-US" sz="1200" kern="1200" dirty="0">
              <a:solidFill>
                <a:srgbClr val="000000"/>
              </a:solidFill>
              <a:latin typeface="+mn-lt"/>
              <a:ea typeface="Canva Sans"/>
              <a:cs typeface="Canva Sans"/>
              <a:sym typeface="Canva Sans"/>
            </a:rPr>
            <a:t> </a:t>
          </a:r>
          <a:r>
            <a:rPr lang="en-US" sz="1200" b="1" kern="1200" dirty="0">
              <a:solidFill>
                <a:srgbClr val="000000"/>
              </a:solidFill>
              <a:latin typeface="+mn-lt"/>
              <a:ea typeface="Canva Sans"/>
              <a:cs typeface="Canva Sans"/>
              <a:sym typeface="Canva Sans"/>
            </a:rPr>
            <a:t>&amp;</a:t>
          </a:r>
          <a:r>
            <a:rPr lang="en-US" sz="1200" kern="1200" dirty="0">
              <a:solidFill>
                <a:srgbClr val="000000"/>
              </a:solidFill>
              <a:latin typeface="+mn-lt"/>
              <a:ea typeface="Canva Sans"/>
              <a:cs typeface="Canva Sans"/>
              <a:sym typeface="Canva Sans"/>
            </a:rPr>
            <a:t> </a:t>
          </a:r>
          <a:r>
            <a:rPr lang="en-US" sz="1200" b="1" kern="1200" dirty="0">
              <a:solidFill>
                <a:srgbClr val="000000"/>
              </a:solidFill>
              <a:latin typeface="+mn-lt"/>
              <a:ea typeface="Canva Sans"/>
              <a:cs typeface="Canva Sans"/>
              <a:sym typeface="Canva Sans"/>
            </a:rPr>
            <a:t>Model</a:t>
          </a:r>
          <a:r>
            <a:rPr lang="en-US" sz="1200" kern="1200" dirty="0">
              <a:solidFill>
                <a:srgbClr val="000000"/>
              </a:solidFill>
              <a:latin typeface="+mn-lt"/>
              <a:ea typeface="Canva Sans"/>
              <a:cs typeface="Canva Sans"/>
              <a:sym typeface="Canva Sans"/>
            </a:rPr>
            <a:t>: Air medium; K-omega SST turbulence model; ABS material properties assigned to propeller surfaces</a:t>
          </a:r>
        </a:p>
        <a:p>
          <a:pPr marL="114300" lvl="1" indent="-114300" algn="l" defTabSz="533400">
            <a:lnSpc>
              <a:spcPct val="90000"/>
            </a:lnSpc>
            <a:spcBef>
              <a:spcPct val="0"/>
            </a:spcBef>
            <a:spcAft>
              <a:spcPct val="15000"/>
            </a:spcAft>
            <a:buFont typeface="Arial"/>
            <a:buChar char="•"/>
          </a:pPr>
          <a:r>
            <a:rPr lang="en-US" sz="1200" b="1" kern="1200" dirty="0">
              <a:solidFill>
                <a:srgbClr val="000000"/>
              </a:solidFill>
              <a:latin typeface="+mn-lt"/>
              <a:ea typeface="Canva Sans"/>
              <a:cs typeface="Canva Sans"/>
              <a:sym typeface="Canva Sans"/>
            </a:rPr>
            <a:t>Other</a:t>
          </a:r>
          <a:r>
            <a:rPr lang="en-US" sz="1200" kern="1200" dirty="0">
              <a:solidFill>
                <a:srgbClr val="000000"/>
              </a:solidFill>
              <a:latin typeface="+mn-lt"/>
              <a:ea typeface="Canva Sans"/>
              <a:cs typeface="Canva Sans"/>
              <a:sym typeface="Canva Sans"/>
            </a:rPr>
            <a:t> </a:t>
          </a:r>
          <a:r>
            <a:rPr lang="en-US" sz="1200" b="1" kern="1200" dirty="0">
              <a:solidFill>
                <a:srgbClr val="000000"/>
              </a:solidFill>
              <a:latin typeface="+mn-lt"/>
              <a:ea typeface="Canva Sans"/>
              <a:cs typeface="Canva Sans"/>
              <a:sym typeface="Canva Sans"/>
            </a:rPr>
            <a:t>Conditions</a:t>
          </a:r>
          <a:r>
            <a:rPr lang="en-US" sz="1200" kern="1200" dirty="0">
              <a:solidFill>
                <a:srgbClr val="000000"/>
              </a:solidFill>
              <a:latin typeface="+mn-lt"/>
              <a:ea typeface="Canva Sans"/>
              <a:cs typeface="Canva Sans"/>
              <a:sym typeface="Canva Sans"/>
            </a:rPr>
            <a:t>: Standard gravity and atmospheric pressure </a:t>
          </a:r>
        </a:p>
      </dsp:txBody>
      <dsp:txXfrm>
        <a:off x="3407342" y="1967514"/>
        <a:ext cx="3044381" cy="1673838"/>
      </dsp:txXfrm>
    </dsp:sp>
    <dsp:sp modelId="{C919C95B-C145-48DB-9EC1-8FA91298B162}">
      <dsp:nvSpPr>
        <dsp:cNvPr id="0" name=""/>
        <dsp:cNvSpPr/>
      </dsp:nvSpPr>
      <dsp:spPr>
        <a:xfrm>
          <a:off x="5191894" y="-279507"/>
          <a:ext cx="3555196" cy="3555196"/>
        </a:xfrm>
        <a:prstGeom prst="circularArrow">
          <a:avLst>
            <a:gd name="adj1" fmla="val 2919"/>
            <a:gd name="adj2" fmla="val 357252"/>
            <a:gd name="adj3" fmla="val 18689696"/>
            <a:gd name="adj4" fmla="val 11797969"/>
            <a:gd name="adj5" fmla="val 3406"/>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CE6355D-6690-4096-84B4-683A90DC815F}">
      <dsp:nvSpPr>
        <dsp:cNvPr id="0" name=""/>
        <dsp:cNvSpPr/>
      </dsp:nvSpPr>
      <dsp:spPr>
        <a:xfrm>
          <a:off x="4278950" y="1021456"/>
          <a:ext cx="2190090" cy="870926"/>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33020" rIns="49530" bIns="33020" numCol="1" spcCol="1270" anchor="ctr" anchorCtr="0">
          <a:noAutofit/>
        </a:bodyPr>
        <a:lstStyle/>
        <a:p>
          <a:pPr marL="0" lvl="0" indent="0" algn="ctr" defTabSz="1155700">
            <a:lnSpc>
              <a:spcPct val="90000"/>
            </a:lnSpc>
            <a:spcBef>
              <a:spcPct val="0"/>
            </a:spcBef>
            <a:spcAft>
              <a:spcPct val="35000"/>
            </a:spcAft>
            <a:buNone/>
          </a:pPr>
          <a:r>
            <a:rPr lang="en-US" sz="2600" kern="1200" dirty="0"/>
            <a:t>Boundary Condition</a:t>
          </a:r>
        </a:p>
      </dsp:txBody>
      <dsp:txXfrm>
        <a:off x="4304459" y="1046965"/>
        <a:ext cx="2139072" cy="819908"/>
      </dsp:txXfrm>
    </dsp:sp>
    <dsp:sp modelId="{323ADCC7-D991-4817-816C-CACB5539B241}">
      <dsp:nvSpPr>
        <dsp:cNvPr id="0" name=""/>
        <dsp:cNvSpPr/>
      </dsp:nvSpPr>
      <dsp:spPr>
        <a:xfrm>
          <a:off x="6913801" y="432796"/>
          <a:ext cx="3084915" cy="2792415"/>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Char char="•"/>
          </a:pPr>
          <a:r>
            <a:rPr lang="en-US" sz="1200" b="1" kern="1200" dirty="0">
              <a:solidFill>
                <a:srgbClr val="000000"/>
              </a:solidFill>
              <a:latin typeface="+mn-lt"/>
              <a:ea typeface="Canva Sans"/>
              <a:cs typeface="Canva Sans"/>
              <a:sym typeface="Canva Sans"/>
            </a:rPr>
            <a:t>Flow</a:t>
          </a:r>
          <a:r>
            <a:rPr lang="en-US" sz="1200" kern="1200" dirty="0">
              <a:solidFill>
                <a:srgbClr val="000000"/>
              </a:solidFill>
              <a:latin typeface="+mn-lt"/>
              <a:ea typeface="Canva Sans"/>
              <a:cs typeface="Canva Sans"/>
              <a:sym typeface="Canva Sans"/>
            </a:rPr>
            <a:t> </a:t>
          </a:r>
          <a:r>
            <a:rPr lang="en-US" sz="1200" b="1" kern="1200" dirty="0">
              <a:solidFill>
                <a:srgbClr val="000000"/>
              </a:solidFill>
              <a:latin typeface="+mn-lt"/>
              <a:ea typeface="Canva Sans"/>
              <a:cs typeface="Canva Sans"/>
              <a:sym typeface="Canva Sans"/>
            </a:rPr>
            <a:t>Patterns</a:t>
          </a:r>
          <a:r>
            <a:rPr lang="en-US" sz="1200" kern="1200" dirty="0">
              <a:solidFill>
                <a:srgbClr val="000000"/>
              </a:solidFill>
              <a:latin typeface="+mn-lt"/>
              <a:ea typeface="Canva Sans"/>
              <a:cs typeface="Canva Sans"/>
              <a:sym typeface="Canva Sans"/>
            </a:rPr>
            <a:t>: Majority of flowlines bypass the frame; some impinge and rebound due to optimized top/bottom cover angles that balance drag reduction and internal volume</a:t>
          </a:r>
          <a:endParaRPr lang="en-US" sz="1200" b="1" kern="1200" dirty="0">
            <a:latin typeface="+mn-lt"/>
          </a:endParaRPr>
        </a:p>
        <a:p>
          <a:pPr marL="114300" lvl="1" indent="-114300" algn="l" defTabSz="533400">
            <a:lnSpc>
              <a:spcPct val="90000"/>
            </a:lnSpc>
            <a:spcBef>
              <a:spcPct val="0"/>
            </a:spcBef>
            <a:spcAft>
              <a:spcPct val="15000"/>
            </a:spcAft>
            <a:buChar char="•"/>
          </a:pPr>
          <a:r>
            <a:rPr lang="en-US" sz="1200" b="1" kern="1200" dirty="0">
              <a:solidFill>
                <a:srgbClr val="000000"/>
              </a:solidFill>
              <a:latin typeface="+mn-lt"/>
              <a:ea typeface="Canva Sans"/>
              <a:cs typeface="Canva Sans"/>
              <a:sym typeface="Canva Sans"/>
            </a:rPr>
            <a:t>Drag</a:t>
          </a:r>
          <a:r>
            <a:rPr lang="en-US" sz="1200" kern="1200" dirty="0">
              <a:solidFill>
                <a:srgbClr val="000000"/>
              </a:solidFill>
              <a:latin typeface="+mn-lt"/>
              <a:ea typeface="Canva Sans"/>
              <a:cs typeface="Canva Sans"/>
              <a:sym typeface="Canva Sans"/>
            </a:rPr>
            <a:t> </a:t>
          </a:r>
          <a:r>
            <a:rPr lang="en-US" sz="1200" b="1" kern="1200" dirty="0">
              <a:solidFill>
                <a:srgbClr val="000000"/>
              </a:solidFill>
              <a:latin typeface="+mn-lt"/>
              <a:ea typeface="Canva Sans"/>
              <a:cs typeface="Canva Sans"/>
              <a:sym typeface="Canva Sans"/>
            </a:rPr>
            <a:t>Reduction</a:t>
          </a:r>
          <a:r>
            <a:rPr lang="en-US" sz="1200" kern="1200" dirty="0">
              <a:solidFill>
                <a:srgbClr val="000000"/>
              </a:solidFill>
              <a:latin typeface="+mn-lt"/>
              <a:ea typeface="Canva Sans"/>
              <a:cs typeface="Canva Sans"/>
              <a:sym typeface="Canva Sans"/>
            </a:rPr>
            <a:t>: Reduced frontal area and cover angles yield lower drag coefficients while maintaining internal space </a:t>
          </a:r>
        </a:p>
        <a:p>
          <a:pPr marL="114300" lvl="1" indent="-114300" algn="l" defTabSz="533400">
            <a:lnSpc>
              <a:spcPct val="90000"/>
            </a:lnSpc>
            <a:spcBef>
              <a:spcPct val="0"/>
            </a:spcBef>
            <a:spcAft>
              <a:spcPct val="15000"/>
            </a:spcAft>
            <a:buChar char="•"/>
          </a:pPr>
          <a:r>
            <a:rPr lang="en-US" sz="1200" b="1" kern="1200" dirty="0">
              <a:solidFill>
                <a:srgbClr val="000000"/>
              </a:solidFill>
              <a:latin typeface="+mn-lt"/>
              <a:ea typeface="Canva Sans"/>
              <a:cs typeface="Canva Sans"/>
              <a:sym typeface="Canva Sans"/>
            </a:rPr>
            <a:t>Propeller</a:t>
          </a:r>
          <a:r>
            <a:rPr lang="en-US" sz="1200" kern="1200" dirty="0">
              <a:solidFill>
                <a:srgbClr val="000000"/>
              </a:solidFill>
              <a:latin typeface="+mn-lt"/>
              <a:ea typeface="Canva Sans"/>
              <a:cs typeface="Canva Sans"/>
              <a:sym typeface="Canva Sans"/>
            </a:rPr>
            <a:t> </a:t>
          </a:r>
          <a:r>
            <a:rPr lang="en-US" sz="1200" b="1" kern="1200" dirty="0">
              <a:solidFill>
                <a:srgbClr val="000000"/>
              </a:solidFill>
              <a:latin typeface="+mn-lt"/>
              <a:ea typeface="Canva Sans"/>
              <a:cs typeface="Canva Sans"/>
              <a:sym typeface="Canva Sans"/>
            </a:rPr>
            <a:t>Thrust</a:t>
          </a:r>
          <a:r>
            <a:rPr lang="en-US" sz="1200" kern="1200" dirty="0">
              <a:solidFill>
                <a:srgbClr val="000000"/>
              </a:solidFill>
              <a:latin typeface="+mn-lt"/>
              <a:ea typeface="Canva Sans"/>
              <a:cs typeface="Canva Sans"/>
              <a:sym typeface="Canva Sans"/>
            </a:rPr>
            <a:t>: Single-propeller analysis (20,000 RPM, 20 m/s wind) produced a maximum thrust of ≈ 25 N</a:t>
          </a:r>
        </a:p>
        <a:p>
          <a:pPr marL="114300" lvl="1" indent="-114300" algn="l" defTabSz="533400">
            <a:lnSpc>
              <a:spcPct val="90000"/>
            </a:lnSpc>
            <a:spcBef>
              <a:spcPct val="0"/>
            </a:spcBef>
            <a:spcAft>
              <a:spcPct val="15000"/>
            </a:spcAft>
            <a:buChar char="•"/>
          </a:pPr>
          <a:r>
            <a:rPr lang="en-US" sz="1200" kern="1200" dirty="0">
              <a:solidFill>
                <a:srgbClr val="000000"/>
              </a:solidFill>
              <a:latin typeface="+mn-lt"/>
              <a:ea typeface="Canva Sans"/>
              <a:cs typeface="Canva Sans"/>
              <a:sym typeface="Canva Sans"/>
            </a:rPr>
            <a:t>Coefficient of drag ranged within (–0.8, 0.8) over simulation conditions.</a:t>
          </a:r>
        </a:p>
      </dsp:txBody>
      <dsp:txXfrm>
        <a:off x="6978062" y="497057"/>
        <a:ext cx="2956393" cy="2065518"/>
      </dsp:txXfrm>
    </dsp:sp>
    <dsp:sp modelId="{CA88590D-E790-4434-A5EF-6B933D9B2BB1}">
      <dsp:nvSpPr>
        <dsp:cNvPr id="0" name=""/>
        <dsp:cNvSpPr/>
      </dsp:nvSpPr>
      <dsp:spPr>
        <a:xfrm>
          <a:off x="7920592" y="2962245"/>
          <a:ext cx="2190090" cy="623653"/>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33020" rIns="49530" bIns="33020" numCol="1" spcCol="1270" anchor="ctr" anchorCtr="0">
          <a:noAutofit/>
        </a:bodyPr>
        <a:lstStyle/>
        <a:p>
          <a:pPr marL="0" lvl="0" indent="0" algn="ctr" defTabSz="1155700">
            <a:lnSpc>
              <a:spcPct val="90000"/>
            </a:lnSpc>
            <a:spcBef>
              <a:spcPct val="0"/>
            </a:spcBef>
            <a:spcAft>
              <a:spcPct val="35000"/>
            </a:spcAft>
            <a:buNone/>
          </a:pPr>
          <a:r>
            <a:rPr lang="en-US" sz="2600" kern="1200" dirty="0"/>
            <a:t>Results</a:t>
          </a:r>
        </a:p>
      </dsp:txBody>
      <dsp:txXfrm>
        <a:off x="7938858" y="2980511"/>
        <a:ext cx="2153558" cy="58712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1B226D-CD3C-4283-B736-FF4D0105B315}">
      <dsp:nvSpPr>
        <dsp:cNvPr id="0" name=""/>
        <dsp:cNvSpPr/>
      </dsp:nvSpPr>
      <dsp:spPr>
        <a:xfrm>
          <a:off x="1352830" y="291747"/>
          <a:ext cx="227020" cy="91440"/>
        </a:xfrm>
        <a:custGeom>
          <a:avLst/>
          <a:gdLst/>
          <a:ahLst/>
          <a:cxnLst/>
          <a:rect l="0" t="0" r="0" b="0"/>
          <a:pathLst>
            <a:path>
              <a:moveTo>
                <a:pt x="0" y="45720"/>
              </a:moveTo>
              <a:lnTo>
                <a:pt x="227020" y="45720"/>
              </a:lnTo>
            </a:path>
          </a:pathLst>
        </a:custGeom>
        <a:noFill/>
        <a:ln w="12700" cap="rnd"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latin typeface="Arial" panose="020B0604020202020204" pitchFamily="34" charset="0"/>
            <a:cs typeface="Arial" panose="020B0604020202020204" pitchFamily="34" charset="0"/>
          </a:endParaRPr>
        </a:p>
      </dsp:txBody>
      <dsp:txXfrm>
        <a:off x="1459900" y="336179"/>
        <a:ext cx="12881" cy="2576"/>
      </dsp:txXfrm>
    </dsp:sp>
    <dsp:sp modelId="{5A1083D5-9C0E-4A66-BA60-B18172EBE9C6}">
      <dsp:nvSpPr>
        <dsp:cNvPr id="0" name=""/>
        <dsp:cNvSpPr/>
      </dsp:nvSpPr>
      <dsp:spPr>
        <a:xfrm>
          <a:off x="234540" y="1440"/>
          <a:ext cx="1120090" cy="672054"/>
        </a:xfrm>
        <a:prstGeom prst="rect">
          <a:avLst/>
        </a:prstGeom>
        <a:solidFill>
          <a:schemeClr val="lt1">
            <a:hueOff val="0"/>
            <a:satOff val="0"/>
            <a:lumOff val="0"/>
            <a:alphaOff val="0"/>
          </a:schemeClr>
        </a:solidFill>
        <a:ln w="22225"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a:latin typeface="Arial" panose="020B0604020202020204" pitchFamily="34" charset="0"/>
              <a:cs typeface="Arial" panose="020B0604020202020204" pitchFamily="34" charset="0"/>
            </a:rPr>
            <a:t>Target Confirmed</a:t>
          </a:r>
        </a:p>
      </dsp:txBody>
      <dsp:txXfrm>
        <a:off x="234540" y="1440"/>
        <a:ext cx="1120090" cy="672054"/>
      </dsp:txXfrm>
    </dsp:sp>
    <dsp:sp modelId="{A77C89D7-77E7-4515-BF64-F7575DE35F7C}">
      <dsp:nvSpPr>
        <dsp:cNvPr id="0" name=""/>
        <dsp:cNvSpPr/>
      </dsp:nvSpPr>
      <dsp:spPr>
        <a:xfrm>
          <a:off x="2730541" y="291747"/>
          <a:ext cx="227020" cy="91440"/>
        </a:xfrm>
        <a:custGeom>
          <a:avLst/>
          <a:gdLst/>
          <a:ahLst/>
          <a:cxnLst/>
          <a:rect l="0" t="0" r="0" b="0"/>
          <a:pathLst>
            <a:path>
              <a:moveTo>
                <a:pt x="0" y="45720"/>
              </a:moveTo>
              <a:lnTo>
                <a:pt x="227020" y="45720"/>
              </a:lnTo>
            </a:path>
          </a:pathLst>
        </a:custGeom>
        <a:noFill/>
        <a:ln w="12700" cap="rnd"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latin typeface="Arial" panose="020B0604020202020204" pitchFamily="34" charset="0"/>
            <a:cs typeface="Arial" panose="020B0604020202020204" pitchFamily="34" charset="0"/>
          </a:endParaRPr>
        </a:p>
      </dsp:txBody>
      <dsp:txXfrm>
        <a:off x="2837610" y="336179"/>
        <a:ext cx="12881" cy="2576"/>
      </dsp:txXfrm>
    </dsp:sp>
    <dsp:sp modelId="{1E48B2F6-28FD-4644-A3DC-63422E17D803}">
      <dsp:nvSpPr>
        <dsp:cNvPr id="0" name=""/>
        <dsp:cNvSpPr/>
      </dsp:nvSpPr>
      <dsp:spPr>
        <a:xfrm>
          <a:off x="1612250" y="1440"/>
          <a:ext cx="1120090" cy="672054"/>
        </a:xfrm>
        <a:prstGeom prst="rect">
          <a:avLst/>
        </a:prstGeom>
        <a:solidFill>
          <a:schemeClr val="lt1">
            <a:hueOff val="0"/>
            <a:satOff val="0"/>
            <a:lumOff val="0"/>
            <a:alphaOff val="0"/>
          </a:schemeClr>
        </a:solidFill>
        <a:ln w="22225"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a:latin typeface="Arial" panose="020B0604020202020204" pitchFamily="34" charset="0"/>
              <a:cs typeface="Arial" panose="020B0604020202020204" pitchFamily="34" charset="0"/>
            </a:rPr>
            <a:t>Hover &amp; Stabilize</a:t>
          </a:r>
        </a:p>
      </dsp:txBody>
      <dsp:txXfrm>
        <a:off x="1612250" y="1440"/>
        <a:ext cx="1120090" cy="672054"/>
      </dsp:txXfrm>
    </dsp:sp>
    <dsp:sp modelId="{4CABA2C4-D822-415E-9D64-49FABF410667}">
      <dsp:nvSpPr>
        <dsp:cNvPr id="0" name=""/>
        <dsp:cNvSpPr/>
      </dsp:nvSpPr>
      <dsp:spPr>
        <a:xfrm>
          <a:off x="794585" y="671694"/>
          <a:ext cx="2755421" cy="227020"/>
        </a:xfrm>
        <a:custGeom>
          <a:avLst/>
          <a:gdLst/>
          <a:ahLst/>
          <a:cxnLst/>
          <a:rect l="0" t="0" r="0" b="0"/>
          <a:pathLst>
            <a:path>
              <a:moveTo>
                <a:pt x="2755421" y="0"/>
              </a:moveTo>
              <a:lnTo>
                <a:pt x="2755421" y="130610"/>
              </a:lnTo>
              <a:lnTo>
                <a:pt x="0" y="130610"/>
              </a:lnTo>
              <a:lnTo>
                <a:pt x="0" y="227020"/>
              </a:lnTo>
            </a:path>
          </a:pathLst>
        </a:custGeom>
        <a:noFill/>
        <a:ln w="12700" cap="rnd"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latin typeface="Arial" panose="020B0604020202020204" pitchFamily="34" charset="0"/>
            <a:cs typeface="Arial" panose="020B0604020202020204" pitchFamily="34" charset="0"/>
          </a:endParaRPr>
        </a:p>
      </dsp:txBody>
      <dsp:txXfrm>
        <a:off x="2103110" y="783916"/>
        <a:ext cx="138371" cy="2576"/>
      </dsp:txXfrm>
    </dsp:sp>
    <dsp:sp modelId="{21A25AAF-6E34-49DB-8840-D732F47B180A}">
      <dsp:nvSpPr>
        <dsp:cNvPr id="0" name=""/>
        <dsp:cNvSpPr/>
      </dsp:nvSpPr>
      <dsp:spPr>
        <a:xfrm>
          <a:off x="2989961" y="1440"/>
          <a:ext cx="1120090" cy="672054"/>
        </a:xfrm>
        <a:prstGeom prst="rect">
          <a:avLst/>
        </a:prstGeom>
        <a:solidFill>
          <a:schemeClr val="lt1">
            <a:hueOff val="0"/>
            <a:satOff val="0"/>
            <a:lumOff val="0"/>
            <a:alphaOff val="0"/>
          </a:schemeClr>
        </a:solidFill>
        <a:ln w="22225"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a:latin typeface="Arial" panose="020B0604020202020204" pitchFamily="34" charset="0"/>
              <a:cs typeface="Arial" panose="020B0604020202020204" pitchFamily="34" charset="0"/>
            </a:rPr>
            <a:t>Estimate Distance (Monocular Depth)</a:t>
          </a:r>
        </a:p>
      </dsp:txBody>
      <dsp:txXfrm>
        <a:off x="2989961" y="1440"/>
        <a:ext cx="1120090" cy="672054"/>
      </dsp:txXfrm>
    </dsp:sp>
    <dsp:sp modelId="{8F8F1F69-527A-4162-816F-4FBED71C036C}">
      <dsp:nvSpPr>
        <dsp:cNvPr id="0" name=""/>
        <dsp:cNvSpPr/>
      </dsp:nvSpPr>
      <dsp:spPr>
        <a:xfrm>
          <a:off x="1352830" y="1221422"/>
          <a:ext cx="227020" cy="91440"/>
        </a:xfrm>
        <a:custGeom>
          <a:avLst/>
          <a:gdLst/>
          <a:ahLst/>
          <a:cxnLst/>
          <a:rect l="0" t="0" r="0" b="0"/>
          <a:pathLst>
            <a:path>
              <a:moveTo>
                <a:pt x="0" y="45720"/>
              </a:moveTo>
              <a:lnTo>
                <a:pt x="227020" y="45720"/>
              </a:lnTo>
            </a:path>
          </a:pathLst>
        </a:custGeom>
        <a:noFill/>
        <a:ln w="12700" cap="rnd"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latin typeface="Arial" panose="020B0604020202020204" pitchFamily="34" charset="0"/>
            <a:cs typeface="Arial" panose="020B0604020202020204" pitchFamily="34" charset="0"/>
          </a:endParaRPr>
        </a:p>
      </dsp:txBody>
      <dsp:txXfrm>
        <a:off x="1459900" y="1265854"/>
        <a:ext cx="12881" cy="2576"/>
      </dsp:txXfrm>
    </dsp:sp>
    <dsp:sp modelId="{2CF94470-CBE8-4E74-8FB6-26F3FDB5B11E}">
      <dsp:nvSpPr>
        <dsp:cNvPr id="0" name=""/>
        <dsp:cNvSpPr/>
      </dsp:nvSpPr>
      <dsp:spPr>
        <a:xfrm>
          <a:off x="234540" y="931115"/>
          <a:ext cx="1120090" cy="672054"/>
        </a:xfrm>
        <a:prstGeom prst="rect">
          <a:avLst/>
        </a:prstGeom>
        <a:solidFill>
          <a:schemeClr val="lt1">
            <a:hueOff val="0"/>
            <a:satOff val="0"/>
            <a:lumOff val="0"/>
            <a:alphaOff val="0"/>
          </a:schemeClr>
        </a:solidFill>
        <a:ln w="22225"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a:latin typeface="Arial" panose="020B0604020202020204" pitchFamily="34" charset="0"/>
              <a:cs typeface="Arial" panose="020B0604020202020204" pitchFamily="34" charset="0"/>
            </a:rPr>
            <a:t>Generate Waypoint (Align over Target)</a:t>
          </a:r>
        </a:p>
      </dsp:txBody>
      <dsp:txXfrm>
        <a:off x="234540" y="931115"/>
        <a:ext cx="1120090" cy="672054"/>
      </dsp:txXfrm>
    </dsp:sp>
    <dsp:sp modelId="{38504FB3-0703-4848-A5D7-78F48B663B5A}">
      <dsp:nvSpPr>
        <dsp:cNvPr id="0" name=""/>
        <dsp:cNvSpPr/>
      </dsp:nvSpPr>
      <dsp:spPr>
        <a:xfrm>
          <a:off x="2730541" y="1221422"/>
          <a:ext cx="227020" cy="91440"/>
        </a:xfrm>
        <a:custGeom>
          <a:avLst/>
          <a:gdLst/>
          <a:ahLst/>
          <a:cxnLst/>
          <a:rect l="0" t="0" r="0" b="0"/>
          <a:pathLst>
            <a:path>
              <a:moveTo>
                <a:pt x="0" y="45720"/>
              </a:moveTo>
              <a:lnTo>
                <a:pt x="227020" y="45720"/>
              </a:lnTo>
            </a:path>
          </a:pathLst>
        </a:custGeom>
        <a:noFill/>
        <a:ln w="12700" cap="rnd"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latin typeface="Arial" panose="020B0604020202020204" pitchFamily="34" charset="0"/>
            <a:cs typeface="Arial" panose="020B0604020202020204" pitchFamily="34" charset="0"/>
          </a:endParaRPr>
        </a:p>
      </dsp:txBody>
      <dsp:txXfrm>
        <a:off x="2837610" y="1265854"/>
        <a:ext cx="12881" cy="2576"/>
      </dsp:txXfrm>
    </dsp:sp>
    <dsp:sp modelId="{5AFC716A-FF80-4C1C-A7A3-2343C8347760}">
      <dsp:nvSpPr>
        <dsp:cNvPr id="0" name=""/>
        <dsp:cNvSpPr/>
      </dsp:nvSpPr>
      <dsp:spPr>
        <a:xfrm>
          <a:off x="1612250" y="931115"/>
          <a:ext cx="1120090" cy="672054"/>
        </a:xfrm>
        <a:prstGeom prst="rect">
          <a:avLst/>
        </a:prstGeom>
        <a:solidFill>
          <a:schemeClr val="lt1">
            <a:hueOff val="0"/>
            <a:satOff val="0"/>
            <a:lumOff val="0"/>
            <a:alphaOff val="0"/>
          </a:schemeClr>
        </a:solidFill>
        <a:ln w="22225"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a:latin typeface="Arial" panose="020B0604020202020204" pitchFamily="34" charset="0"/>
              <a:cs typeface="Arial" panose="020B0604020202020204" pitchFamily="34" charset="0"/>
            </a:rPr>
            <a:t>Descend to Low Altitude (10 m)</a:t>
          </a:r>
        </a:p>
      </dsp:txBody>
      <dsp:txXfrm>
        <a:off x="1612250" y="931115"/>
        <a:ext cx="1120090" cy="672054"/>
      </dsp:txXfrm>
    </dsp:sp>
    <dsp:sp modelId="{2A56A002-1B61-43D9-9296-53A5964612E9}">
      <dsp:nvSpPr>
        <dsp:cNvPr id="0" name=""/>
        <dsp:cNvSpPr/>
      </dsp:nvSpPr>
      <dsp:spPr>
        <a:xfrm>
          <a:off x="794585" y="1601369"/>
          <a:ext cx="2755421" cy="227020"/>
        </a:xfrm>
        <a:custGeom>
          <a:avLst/>
          <a:gdLst/>
          <a:ahLst/>
          <a:cxnLst/>
          <a:rect l="0" t="0" r="0" b="0"/>
          <a:pathLst>
            <a:path>
              <a:moveTo>
                <a:pt x="2755421" y="0"/>
              </a:moveTo>
              <a:lnTo>
                <a:pt x="2755421" y="130610"/>
              </a:lnTo>
              <a:lnTo>
                <a:pt x="0" y="130610"/>
              </a:lnTo>
              <a:lnTo>
                <a:pt x="0" y="227020"/>
              </a:lnTo>
            </a:path>
          </a:pathLst>
        </a:custGeom>
        <a:noFill/>
        <a:ln w="12700" cap="rnd"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latin typeface="Arial" panose="020B0604020202020204" pitchFamily="34" charset="0"/>
            <a:cs typeface="Arial" panose="020B0604020202020204" pitchFamily="34" charset="0"/>
          </a:endParaRPr>
        </a:p>
      </dsp:txBody>
      <dsp:txXfrm>
        <a:off x="2103110" y="1713591"/>
        <a:ext cx="138371" cy="2576"/>
      </dsp:txXfrm>
    </dsp:sp>
    <dsp:sp modelId="{62BD388D-5FD3-4DD8-81EB-154700EA8E84}">
      <dsp:nvSpPr>
        <dsp:cNvPr id="0" name=""/>
        <dsp:cNvSpPr/>
      </dsp:nvSpPr>
      <dsp:spPr>
        <a:xfrm>
          <a:off x="2989961" y="931115"/>
          <a:ext cx="1120090" cy="672054"/>
        </a:xfrm>
        <a:prstGeom prst="rect">
          <a:avLst/>
        </a:prstGeom>
        <a:solidFill>
          <a:schemeClr val="lt1">
            <a:hueOff val="0"/>
            <a:satOff val="0"/>
            <a:lumOff val="0"/>
            <a:alphaOff val="0"/>
          </a:schemeClr>
        </a:solidFill>
        <a:ln w="22225"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a:latin typeface="Arial" panose="020B0604020202020204" pitchFamily="34" charset="0"/>
              <a:cs typeface="Arial" panose="020B0604020202020204" pitchFamily="34" charset="0"/>
            </a:rPr>
            <a:t>Activate Servo Motors (Release Payload)</a:t>
          </a:r>
        </a:p>
      </dsp:txBody>
      <dsp:txXfrm>
        <a:off x="2989961" y="931115"/>
        <a:ext cx="1120090" cy="672054"/>
      </dsp:txXfrm>
    </dsp:sp>
    <dsp:sp modelId="{847DE61D-1F85-4DB8-934E-2428C3A76F18}">
      <dsp:nvSpPr>
        <dsp:cNvPr id="0" name=""/>
        <dsp:cNvSpPr/>
      </dsp:nvSpPr>
      <dsp:spPr>
        <a:xfrm>
          <a:off x="1352830" y="2151097"/>
          <a:ext cx="227020" cy="91440"/>
        </a:xfrm>
        <a:custGeom>
          <a:avLst/>
          <a:gdLst/>
          <a:ahLst/>
          <a:cxnLst/>
          <a:rect l="0" t="0" r="0" b="0"/>
          <a:pathLst>
            <a:path>
              <a:moveTo>
                <a:pt x="0" y="45720"/>
              </a:moveTo>
              <a:lnTo>
                <a:pt x="227020" y="45720"/>
              </a:lnTo>
            </a:path>
          </a:pathLst>
        </a:custGeom>
        <a:noFill/>
        <a:ln w="12700" cap="rnd"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latin typeface="Arial" panose="020B0604020202020204" pitchFamily="34" charset="0"/>
            <a:cs typeface="Arial" panose="020B0604020202020204" pitchFamily="34" charset="0"/>
          </a:endParaRPr>
        </a:p>
      </dsp:txBody>
      <dsp:txXfrm>
        <a:off x="1459900" y="2195529"/>
        <a:ext cx="12881" cy="2576"/>
      </dsp:txXfrm>
    </dsp:sp>
    <dsp:sp modelId="{14274536-D1F4-40E1-9D23-92C18688F3B3}">
      <dsp:nvSpPr>
        <dsp:cNvPr id="0" name=""/>
        <dsp:cNvSpPr/>
      </dsp:nvSpPr>
      <dsp:spPr>
        <a:xfrm>
          <a:off x="234540" y="1860790"/>
          <a:ext cx="1120090" cy="672054"/>
        </a:xfrm>
        <a:prstGeom prst="rect">
          <a:avLst/>
        </a:prstGeom>
        <a:solidFill>
          <a:schemeClr val="lt1">
            <a:hueOff val="0"/>
            <a:satOff val="0"/>
            <a:lumOff val="0"/>
            <a:alphaOff val="0"/>
          </a:schemeClr>
        </a:solidFill>
        <a:ln w="22225"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a:latin typeface="Arial" panose="020B0604020202020204" pitchFamily="34" charset="0"/>
              <a:cs typeface="Arial" panose="020B0604020202020204" pitchFamily="34" charset="0"/>
            </a:rPr>
            <a:t>Verify Drop Success</a:t>
          </a:r>
        </a:p>
      </dsp:txBody>
      <dsp:txXfrm>
        <a:off x="234540" y="1860790"/>
        <a:ext cx="1120090" cy="672054"/>
      </dsp:txXfrm>
    </dsp:sp>
    <dsp:sp modelId="{F29C31B0-FC80-4280-966D-17F1AEAF4946}">
      <dsp:nvSpPr>
        <dsp:cNvPr id="0" name=""/>
        <dsp:cNvSpPr/>
      </dsp:nvSpPr>
      <dsp:spPr>
        <a:xfrm>
          <a:off x="1612250" y="1860790"/>
          <a:ext cx="1120090" cy="672054"/>
        </a:xfrm>
        <a:prstGeom prst="rect">
          <a:avLst/>
        </a:prstGeom>
        <a:solidFill>
          <a:schemeClr val="lt1">
            <a:hueOff val="0"/>
            <a:satOff val="0"/>
            <a:lumOff val="0"/>
            <a:alphaOff val="0"/>
          </a:schemeClr>
        </a:solidFill>
        <a:ln w="22225"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US" sz="1000" kern="1200">
              <a:latin typeface="Arial" panose="020B0604020202020204" pitchFamily="34" charset="0"/>
              <a:cs typeface="Arial" panose="020B0604020202020204" pitchFamily="34" charset="0"/>
            </a:rPr>
            <a:t>Ascend &amp; Return</a:t>
          </a:r>
        </a:p>
      </dsp:txBody>
      <dsp:txXfrm>
        <a:off x="1612250" y="1860790"/>
        <a:ext cx="1120090" cy="672054"/>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t>6/8/2025</a:t>
            </a:fld>
            <a:endParaRPr lang="en-US" dirty="0"/>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t>‹#›</a:t>
            </a:fld>
            <a:endParaRPr lang="en-US" dirty="0"/>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2326A-4C88-4AFB-AA5B-5919D81DFF5B}" type="datetimeFigureOut">
              <a:rPr lang="en-US" smtClean="0"/>
              <a:t>6/8/2025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AB32-59DF-41F1-9618-EDFBF5049629}" type="slidenum">
              <a:rPr lang="en-US" smtClean="0"/>
              <a:t>‹#›</a:t>
            </a:fld>
            <a:endParaRPr lang="en-US" dirty="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dirty="0"/>
          </a:p>
        </p:txBody>
      </p:sp>
    </p:spTree>
    <p:extLst>
      <p:ext uri="{BB962C8B-B14F-4D97-AF65-F5344CB8AC3E}">
        <p14:creationId xmlns:p14="http://schemas.microsoft.com/office/powerpoint/2010/main" val="13900470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6/8/2025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6/8/2025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6/8/2025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6/8/2025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6/8/2025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6/8/2025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6/8/2025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6/8/2025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6/8/2025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6/8/2025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Layout" Target="../diagrams/layout1.xml"/><Relationship Id="rId7" Type="http://schemas.microsoft.com/office/2017/06/relationships/model3d" Target="../media/model3d1.glb"/><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11" Type="http://schemas.openxmlformats.org/officeDocument/2006/relationships/image" Target="../media/image3.png"/><Relationship Id="rId5" Type="http://schemas.openxmlformats.org/officeDocument/2006/relationships/diagramColors" Target="../diagrams/colors1.xml"/><Relationship Id="rId10" Type="http://schemas.openxmlformats.org/officeDocument/2006/relationships/image" Target="../media/image2.png"/><Relationship Id="rId4" Type="http://schemas.openxmlformats.org/officeDocument/2006/relationships/diagramQuickStyle" Target="../diagrams/quickStyle1.xml"/><Relationship Id="rId9"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sv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sv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microsoft.com/office/2007/relationships/diagramDrawing" Target="../diagrams/drawing2.xml"/><Relationship Id="rId13" Type="http://schemas.openxmlformats.org/officeDocument/2006/relationships/image" Target="../media/image1.png"/><Relationship Id="rId3" Type="http://schemas.openxmlformats.org/officeDocument/2006/relationships/slideLayout" Target="../slideLayouts/slideLayout2.xml"/><Relationship Id="rId7" Type="http://schemas.openxmlformats.org/officeDocument/2006/relationships/diagramColors" Target="../diagrams/colors2.xml"/><Relationship Id="rId12" Type="http://schemas.openxmlformats.org/officeDocument/2006/relationships/image" Target="../media/image14.png"/><Relationship Id="rId2" Type="http://schemas.openxmlformats.org/officeDocument/2006/relationships/video" Target="../media/media1.mp4"/><Relationship Id="rId16" Type="http://schemas.openxmlformats.org/officeDocument/2006/relationships/image" Target="../media/image15.png"/><Relationship Id="rId1" Type="http://schemas.microsoft.com/office/2007/relationships/media" Target="../media/media1.mp4"/><Relationship Id="rId6" Type="http://schemas.openxmlformats.org/officeDocument/2006/relationships/diagramQuickStyle" Target="../diagrams/quickStyle2.xml"/><Relationship Id="rId11" Type="http://schemas.openxmlformats.org/officeDocument/2006/relationships/image" Target="../media/image13.png"/><Relationship Id="rId5" Type="http://schemas.openxmlformats.org/officeDocument/2006/relationships/diagramLayout" Target="../diagrams/layout2.xml"/><Relationship Id="rId15" Type="http://schemas.openxmlformats.org/officeDocument/2006/relationships/image" Target="../media/image3.png"/><Relationship Id="rId10" Type="http://schemas.openxmlformats.org/officeDocument/2006/relationships/image" Target="../media/image12.png"/><Relationship Id="rId4" Type="http://schemas.openxmlformats.org/officeDocument/2006/relationships/diagramData" Target="../diagrams/data2.xml"/><Relationship Id="rId9" Type="http://schemas.openxmlformats.org/officeDocument/2006/relationships/image" Target="../media/image11.png"/><Relationship Id="rId14" Type="http://schemas.openxmlformats.org/officeDocument/2006/relationships/image" Target="../media/image2.png"/></Relationships>
</file>

<file path=ppt/slides/_rels/slide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Layout" Target="../diagrams/layout3.xml"/><Relationship Id="rId7" Type="http://schemas.openxmlformats.org/officeDocument/2006/relationships/image" Target="../media/image16.png"/><Relationship Id="rId2" Type="http://schemas.openxmlformats.org/officeDocument/2006/relationships/diagramData" Target="../diagrams/data3.xml"/><Relationship Id="rId1" Type="http://schemas.openxmlformats.org/officeDocument/2006/relationships/slideLayout" Target="../slideLayouts/slideLayout6.xml"/><Relationship Id="rId6" Type="http://schemas.microsoft.com/office/2007/relationships/diagramDrawing" Target="../diagrams/drawing3.xml"/><Relationship Id="rId11" Type="http://schemas.openxmlformats.org/officeDocument/2006/relationships/image" Target="../media/image17.png"/><Relationship Id="rId5" Type="http://schemas.openxmlformats.org/officeDocument/2006/relationships/diagramColors" Target="../diagrams/colors3.xml"/><Relationship Id="rId10" Type="http://schemas.openxmlformats.org/officeDocument/2006/relationships/image" Target="../media/image3.png"/><Relationship Id="rId4" Type="http://schemas.openxmlformats.org/officeDocument/2006/relationships/diagramQuickStyle" Target="../diagrams/quickStyle3.xml"/><Relationship Id="rId9" Type="http://schemas.openxmlformats.org/officeDocument/2006/relationships/image" Target="../media/image2.png"/></Relationships>
</file>

<file path=ppt/slides/_rels/slide10.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1.png"/><Relationship Id="rId3" Type="http://schemas.openxmlformats.org/officeDocument/2006/relationships/diagramLayout" Target="../diagrams/layout4.xml"/><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diagramData" Target="../diagrams/data4.xml"/><Relationship Id="rId1" Type="http://schemas.openxmlformats.org/officeDocument/2006/relationships/slideLayout" Target="../slideLayouts/slideLayout6.xml"/><Relationship Id="rId6" Type="http://schemas.microsoft.com/office/2007/relationships/diagramDrawing" Target="../diagrams/drawing4.xml"/><Relationship Id="rId11" Type="http://schemas.openxmlformats.org/officeDocument/2006/relationships/image" Target="../media/image22.png"/><Relationship Id="rId5" Type="http://schemas.openxmlformats.org/officeDocument/2006/relationships/diagramColors" Target="../diagrams/colors4.xml"/><Relationship Id="rId15" Type="http://schemas.openxmlformats.org/officeDocument/2006/relationships/image" Target="../media/image3.png"/><Relationship Id="rId10" Type="http://schemas.openxmlformats.org/officeDocument/2006/relationships/image" Target="../media/image21.png"/><Relationship Id="rId4" Type="http://schemas.openxmlformats.org/officeDocument/2006/relationships/diagramQuickStyle" Target="../diagrams/quickStyle4.xml"/><Relationship Id="rId9" Type="http://schemas.openxmlformats.org/officeDocument/2006/relationships/image" Target="../media/image20.png"/><Relationship Id="rId1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4.png"/><Relationship Id="rId1" Type="http://schemas.openxmlformats.org/officeDocument/2006/relationships/slideLayout" Target="../slideLayouts/slideLayout6.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5.png"/><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7.png"/><Relationship Id="rId7" Type="http://schemas.openxmlformats.org/officeDocument/2006/relationships/image" Target="../media/image2.png"/><Relationship Id="rId2" Type="http://schemas.openxmlformats.org/officeDocument/2006/relationships/image" Target="../media/image26.jpg"/><Relationship Id="rId1" Type="http://schemas.openxmlformats.org/officeDocument/2006/relationships/slideLayout" Target="../slideLayouts/slideLayout3.xml"/><Relationship Id="rId6" Type="http://schemas.openxmlformats.org/officeDocument/2006/relationships/image" Target="../media/image1.png"/><Relationship Id="rId5" Type="http://schemas.openxmlformats.org/officeDocument/2006/relationships/image" Target="../media/image29.jp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pn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Layout" Target="../diagrams/layout5.xml"/><Relationship Id="rId7" Type="http://schemas.openxmlformats.org/officeDocument/2006/relationships/image" Target="../media/image1.pn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 Id="rId9"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5.png"/><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6.jpeg"/><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sp>
      <p:sp>
        <p:nvSpPr>
          <p:cNvPr id="6" name="Title 5">
            <a:extLst>
              <a:ext uri="{FF2B5EF4-FFF2-40B4-BE49-F238E27FC236}">
                <a16:creationId xmlns:a16="http://schemas.microsoft.com/office/drawing/2014/main" id="{7064754B-59D2-E0D8-B7DA-5B190866B8EF}"/>
              </a:ext>
            </a:extLst>
          </p:cNvPr>
          <p:cNvSpPr>
            <a:spLocks noGrp="1"/>
          </p:cNvSpPr>
          <p:nvPr>
            <p:ph type="ctrTitle"/>
          </p:nvPr>
        </p:nvSpPr>
        <p:spPr>
          <a:xfrm>
            <a:off x="581192" y="720779"/>
            <a:ext cx="6004804" cy="1774665"/>
          </a:xfrm>
        </p:spPr>
        <p:txBody>
          <a:bodyPr>
            <a:normAutofit fontScale="90000"/>
          </a:bodyPr>
          <a:lstStyle/>
          <a:p>
            <a:r>
              <a:rPr lang="en-US" b="1" dirty="0"/>
              <a:t>Design presentation: </a:t>
            </a:r>
            <a:r>
              <a:rPr lang="en-US" dirty="0"/>
              <a:t>Autonomous Disaster-Response Multirotor UAS</a:t>
            </a:r>
            <a:endParaRPr lang="en-US" b="1" dirty="0"/>
          </a:p>
        </p:txBody>
      </p:sp>
      <p:sp>
        <p:nvSpPr>
          <p:cNvPr id="9" name="Subtitle 8">
            <a:extLst>
              <a:ext uri="{FF2B5EF4-FFF2-40B4-BE49-F238E27FC236}">
                <a16:creationId xmlns:a16="http://schemas.microsoft.com/office/drawing/2014/main" id="{4E70A9D2-774A-C992-46CF-6ACA37CC9642}"/>
              </a:ext>
            </a:extLst>
          </p:cNvPr>
          <p:cNvSpPr>
            <a:spLocks noGrp="1"/>
          </p:cNvSpPr>
          <p:nvPr>
            <p:ph type="subTitle" idx="1"/>
          </p:nvPr>
        </p:nvSpPr>
        <p:spPr/>
        <p:txBody>
          <a:bodyPr/>
          <a:lstStyle/>
          <a:p>
            <a:r>
              <a:rPr lang="en-US" dirty="0"/>
              <a:t>Presented by team udaan</a:t>
            </a:r>
          </a:p>
        </p:txBody>
      </p:sp>
      <p:sp>
        <p:nvSpPr>
          <p:cNvPr id="10" name="Rectangle 3">
            <a:extLst>
              <a:ext uri="{FF2B5EF4-FFF2-40B4-BE49-F238E27FC236}">
                <a16:creationId xmlns:a16="http://schemas.microsoft.com/office/drawing/2014/main" id="{23E1D334-B7FF-258E-A816-8004709A49BC}"/>
              </a:ext>
            </a:extLst>
          </p:cNvPr>
          <p:cNvSpPr>
            <a:spLocks noChangeArrowheads="1"/>
          </p:cNvSpPr>
          <p:nvPr/>
        </p:nvSpPr>
        <p:spPr bwMode="auto">
          <a:xfrm>
            <a:off x="5826571" y="5170985"/>
            <a:ext cx="5882828"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bg1"/>
              </a:solidFill>
              <a:effectLst/>
              <a:latin typeface="Arial" panose="020B0604020202020204" pitchFamily="34" charset="0"/>
            </a:endParaRPr>
          </a:p>
          <a:p>
            <a:pPr marL="0" marR="0" lvl="0" indent="0" algn="r"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bg1"/>
                </a:solidFill>
                <a:effectLst/>
                <a:latin typeface="Arial" panose="020B0604020202020204" pitchFamily="34" charset="0"/>
              </a:rPr>
              <a:t>Team UDAAN</a:t>
            </a:r>
            <a:endParaRPr kumimoji="0" lang="en-US" altLang="en-US" b="0" i="0" u="none" strike="noStrike" cap="none" normalizeH="0" baseline="0" dirty="0">
              <a:ln>
                <a:noFill/>
              </a:ln>
              <a:solidFill>
                <a:schemeClr val="bg1"/>
              </a:solidFill>
              <a:effectLst/>
              <a:latin typeface="Arial" panose="020B0604020202020204" pitchFamily="34" charset="0"/>
            </a:endParaRPr>
          </a:p>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bg1"/>
                </a:solidFill>
                <a:effectLst/>
                <a:latin typeface="Arial" panose="020B0604020202020204" pitchFamily="34" charset="0"/>
              </a:rPr>
              <a:t>Team ID : AT2025054</a:t>
            </a:r>
            <a:endParaRPr kumimoji="0" lang="en-US" altLang="en-US" b="0" i="0" u="none" strike="noStrike" cap="none" normalizeH="0" baseline="0" dirty="0">
              <a:ln>
                <a:noFill/>
              </a:ln>
              <a:solidFill>
                <a:schemeClr val="bg1"/>
              </a:solidFill>
              <a:effectLst/>
              <a:latin typeface="Arial" panose="020B0604020202020204" pitchFamily="34" charset="0"/>
            </a:endParaRPr>
          </a:p>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bg1"/>
                </a:solidFill>
                <a:effectLst/>
                <a:latin typeface="Arial" panose="020B0604020202020204" pitchFamily="34" charset="0"/>
              </a:rPr>
              <a:t>College : National Institute of Technology, Rourkela</a:t>
            </a:r>
            <a:endParaRPr kumimoji="0" lang="en-US" altLang="en-US" b="0" i="0" u="none" strike="noStrike" cap="none" normalizeH="0" baseline="0" dirty="0">
              <a:ln>
                <a:noFill/>
              </a:ln>
              <a:solidFill>
                <a:schemeClr val="bg1"/>
              </a:solidFill>
              <a:effectLst/>
              <a:latin typeface="Arial" panose="020B0604020202020204" pitchFamily="34" charset="0"/>
            </a:endParaRPr>
          </a:p>
        </p:txBody>
      </p:sp>
      <p:sp>
        <p:nvSpPr>
          <p:cNvPr id="11" name="Rectangle 4">
            <a:extLst>
              <a:ext uri="{FF2B5EF4-FFF2-40B4-BE49-F238E27FC236}">
                <a16:creationId xmlns:a16="http://schemas.microsoft.com/office/drawing/2014/main" id="{180CA30D-96DE-63D3-AF89-8311C01E8ECB}"/>
              </a:ext>
            </a:extLst>
          </p:cNvPr>
          <p:cNvSpPr>
            <a:spLocks noChangeArrowheads="1"/>
          </p:cNvSpPr>
          <p:nvPr/>
        </p:nvSpPr>
        <p:spPr bwMode="auto">
          <a:xfrm>
            <a:off x="446534" y="6032760"/>
            <a:ext cx="171232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bg1"/>
                </a:solidFill>
                <a:effectLst/>
                <a:latin typeface="Arial" panose="020B0604020202020204" pitchFamily="34" charset="0"/>
              </a:rPr>
              <a:t>14th June, 2025</a:t>
            </a:r>
            <a:endParaRPr kumimoji="0" lang="en-US" altLang="en-US" sz="1600" b="0" i="0" u="none" strike="noStrike" cap="none" normalizeH="0" baseline="0">
              <a:ln>
                <a:noFill/>
              </a:ln>
              <a:solidFill>
                <a:schemeClr val="bg1"/>
              </a:solidFill>
              <a:effectLst/>
              <a:latin typeface="Arial" panose="020B0604020202020204" pitchFamily="34" charset="0"/>
            </a:endParaRPr>
          </a:p>
        </p:txBody>
      </p:sp>
      <p:grpSp>
        <p:nvGrpSpPr>
          <p:cNvPr id="24" name="Group 14">
            <a:extLst>
              <a:ext uri="{FF2B5EF4-FFF2-40B4-BE49-F238E27FC236}">
                <a16:creationId xmlns:a16="http://schemas.microsoft.com/office/drawing/2014/main" id="{5A6F59E9-99EA-DC62-C4C7-59B7D4A08B60}"/>
              </a:ext>
            </a:extLst>
          </p:cNvPr>
          <p:cNvGrpSpPr/>
          <p:nvPr/>
        </p:nvGrpSpPr>
        <p:grpSpPr>
          <a:xfrm>
            <a:off x="9658537" y="11884"/>
            <a:ext cx="2050862" cy="429876"/>
            <a:chOff x="0" y="0"/>
            <a:chExt cx="7838183" cy="1629051"/>
          </a:xfrm>
        </p:grpSpPr>
        <p:sp>
          <p:nvSpPr>
            <p:cNvPr id="25" name="Freeform 15">
              <a:extLst>
                <a:ext uri="{FF2B5EF4-FFF2-40B4-BE49-F238E27FC236}">
                  <a16:creationId xmlns:a16="http://schemas.microsoft.com/office/drawing/2014/main" id="{1B9100F2-8531-692F-3F05-0A208E8E5CF3}"/>
                </a:ext>
              </a:extLst>
            </p:cNvPr>
            <p:cNvSpPr/>
            <p:nvPr/>
          </p:nvSpPr>
          <p:spPr>
            <a:xfrm>
              <a:off x="2068432" y="472763"/>
              <a:ext cx="4016856" cy="1096665"/>
            </a:xfrm>
            <a:custGeom>
              <a:avLst/>
              <a:gdLst/>
              <a:ahLst/>
              <a:cxnLst/>
              <a:rect l="l" t="t" r="r" b="b"/>
              <a:pathLst>
                <a:path w="4016856" h="1096665">
                  <a:moveTo>
                    <a:pt x="0" y="0"/>
                  </a:moveTo>
                  <a:lnTo>
                    <a:pt x="4016856" y="0"/>
                  </a:lnTo>
                  <a:lnTo>
                    <a:pt x="4016856" y="1096666"/>
                  </a:lnTo>
                  <a:lnTo>
                    <a:pt x="0" y="1096666"/>
                  </a:lnTo>
                  <a:lnTo>
                    <a:pt x="0" y="0"/>
                  </a:lnTo>
                  <a:close/>
                </a:path>
              </a:pathLst>
            </a:custGeom>
            <a:blipFill>
              <a:blip r:embed="rId3"/>
              <a:stretch>
                <a:fillRect/>
              </a:stretch>
            </a:blipFill>
          </p:spPr>
        </p:sp>
        <p:sp>
          <p:nvSpPr>
            <p:cNvPr id="26" name="Freeform 16">
              <a:extLst>
                <a:ext uri="{FF2B5EF4-FFF2-40B4-BE49-F238E27FC236}">
                  <a16:creationId xmlns:a16="http://schemas.microsoft.com/office/drawing/2014/main" id="{483F711F-F4C8-3B89-E9D6-360B3F5828EF}"/>
                </a:ext>
              </a:extLst>
            </p:cNvPr>
            <p:cNvSpPr/>
            <p:nvPr/>
          </p:nvSpPr>
          <p:spPr>
            <a:xfrm>
              <a:off x="0" y="0"/>
              <a:ext cx="1629051" cy="1629051"/>
            </a:xfrm>
            <a:custGeom>
              <a:avLst/>
              <a:gdLst/>
              <a:ahLst/>
              <a:cxnLst/>
              <a:rect l="l" t="t" r="r" b="b"/>
              <a:pathLst>
                <a:path w="1629051" h="1629051">
                  <a:moveTo>
                    <a:pt x="0" y="0"/>
                  </a:moveTo>
                  <a:lnTo>
                    <a:pt x="1629051" y="0"/>
                  </a:lnTo>
                  <a:lnTo>
                    <a:pt x="1629051" y="1629051"/>
                  </a:lnTo>
                  <a:lnTo>
                    <a:pt x="0" y="1629051"/>
                  </a:lnTo>
                  <a:lnTo>
                    <a:pt x="0" y="0"/>
                  </a:lnTo>
                  <a:close/>
                </a:path>
              </a:pathLst>
            </a:custGeom>
            <a:blipFill>
              <a:blip r:embed="rId4"/>
              <a:stretch>
                <a:fillRect/>
              </a:stretch>
            </a:blipFill>
          </p:spPr>
        </p:sp>
        <p:sp>
          <p:nvSpPr>
            <p:cNvPr id="27" name="Freeform 17">
              <a:extLst>
                <a:ext uri="{FF2B5EF4-FFF2-40B4-BE49-F238E27FC236}">
                  <a16:creationId xmlns:a16="http://schemas.microsoft.com/office/drawing/2014/main" id="{6499EB71-51C2-691F-0C80-D76B7C56C4E2}"/>
                </a:ext>
              </a:extLst>
            </p:cNvPr>
            <p:cNvSpPr/>
            <p:nvPr/>
          </p:nvSpPr>
          <p:spPr>
            <a:xfrm>
              <a:off x="6399188" y="0"/>
              <a:ext cx="1438995" cy="1629051"/>
            </a:xfrm>
            <a:custGeom>
              <a:avLst/>
              <a:gdLst/>
              <a:ahLst/>
              <a:cxnLst/>
              <a:rect l="l" t="t" r="r" b="b"/>
              <a:pathLst>
                <a:path w="1438995" h="1629051">
                  <a:moveTo>
                    <a:pt x="0" y="0"/>
                  </a:moveTo>
                  <a:lnTo>
                    <a:pt x="1438995" y="0"/>
                  </a:lnTo>
                  <a:lnTo>
                    <a:pt x="1438995" y="1629051"/>
                  </a:lnTo>
                  <a:lnTo>
                    <a:pt x="0" y="1629051"/>
                  </a:lnTo>
                  <a:lnTo>
                    <a:pt x="0" y="0"/>
                  </a:lnTo>
                  <a:close/>
                </a:path>
              </a:pathLst>
            </a:custGeom>
            <a:blipFill>
              <a:blip r:embed="rId5"/>
              <a:stretch>
                <a:fillRect/>
              </a:stretch>
            </a:blipFill>
          </p:spPr>
        </p:sp>
      </p:grpSp>
      <p:sp>
        <p:nvSpPr>
          <p:cNvPr id="28" name="Freeform 3">
            <a:extLst>
              <a:ext uri="{FF2B5EF4-FFF2-40B4-BE49-F238E27FC236}">
                <a16:creationId xmlns:a16="http://schemas.microsoft.com/office/drawing/2014/main" id="{D6139ED1-4851-0A75-7A5D-81C6E200BD58}"/>
              </a:ext>
            </a:extLst>
          </p:cNvPr>
          <p:cNvSpPr/>
          <p:nvPr/>
        </p:nvSpPr>
        <p:spPr>
          <a:xfrm>
            <a:off x="6585995" y="717222"/>
            <a:ext cx="4575480" cy="4952134"/>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t="-1775" b="-1775"/>
            </a:stretch>
          </a:blipFill>
        </p:spPr>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DD0BC-0C9C-B61C-1BD1-12130C27387E}"/>
              </a:ext>
            </a:extLst>
          </p:cNvPr>
          <p:cNvSpPr>
            <a:spLocks noGrp="1"/>
          </p:cNvSpPr>
          <p:nvPr>
            <p:ph type="title"/>
          </p:nvPr>
        </p:nvSpPr>
        <p:spPr>
          <a:xfrm>
            <a:off x="581025" y="690229"/>
            <a:ext cx="11029616" cy="561894"/>
          </a:xfrm>
        </p:spPr>
        <p:txBody>
          <a:bodyPr/>
          <a:lstStyle/>
          <a:p>
            <a:r>
              <a:rPr lang="en-US" b="1" dirty="0"/>
              <a:t>Motivation &amp; objectives</a:t>
            </a:r>
          </a:p>
        </p:txBody>
      </p:sp>
      <p:sp>
        <p:nvSpPr>
          <p:cNvPr id="3" name="Content Placeholder 2">
            <a:extLst>
              <a:ext uri="{FF2B5EF4-FFF2-40B4-BE49-F238E27FC236}">
                <a16:creationId xmlns:a16="http://schemas.microsoft.com/office/drawing/2014/main" id="{FACCA0C2-07FA-2B3F-C245-A7723800D0CA}"/>
              </a:ext>
            </a:extLst>
          </p:cNvPr>
          <p:cNvSpPr>
            <a:spLocks noGrp="1"/>
          </p:cNvSpPr>
          <p:nvPr>
            <p:ph idx="1"/>
          </p:nvPr>
        </p:nvSpPr>
        <p:spPr>
          <a:xfrm>
            <a:off x="461219" y="1837879"/>
            <a:ext cx="11269561" cy="1617173"/>
          </a:xfrm>
        </p:spPr>
        <p:txBody>
          <a:bodyPr>
            <a:noAutofit/>
          </a:bodyPr>
          <a:lstStyle/>
          <a:p>
            <a:pPr marL="0" indent="0" algn="just">
              <a:buNone/>
            </a:pPr>
            <a:r>
              <a:rPr lang="en-US" sz="2000" dirty="0">
                <a:solidFill>
                  <a:schemeClr val="tx1"/>
                </a:solidFill>
              </a:rPr>
              <a:t>Our team’s effort is motivated by the critical need for rapid, reliable aerial support in disaster-stricken areas. Conventional aircraft often cannot navigate collapsed structures or narrow passages common in urban disaster zones. By developing a compact, vision-equipped UAS, we aim to provide real-time situational awareness and precise payload delivery—capabilities that can significantly accelerate search, rescue, and relief efforts when every second counts</a:t>
            </a:r>
          </a:p>
        </p:txBody>
      </p:sp>
      <p:grpSp>
        <p:nvGrpSpPr>
          <p:cNvPr id="4" name="Group 14">
            <a:extLst>
              <a:ext uri="{FF2B5EF4-FFF2-40B4-BE49-F238E27FC236}">
                <a16:creationId xmlns:a16="http://schemas.microsoft.com/office/drawing/2014/main" id="{523807E6-FE9A-4494-C855-263D7C0553D8}"/>
              </a:ext>
            </a:extLst>
          </p:cNvPr>
          <p:cNvGrpSpPr/>
          <p:nvPr/>
        </p:nvGrpSpPr>
        <p:grpSpPr>
          <a:xfrm>
            <a:off x="9658537" y="11884"/>
            <a:ext cx="2050862" cy="429876"/>
            <a:chOff x="0" y="0"/>
            <a:chExt cx="7838183" cy="1629051"/>
          </a:xfrm>
        </p:grpSpPr>
        <p:sp>
          <p:nvSpPr>
            <p:cNvPr id="5" name="Freeform 15">
              <a:extLst>
                <a:ext uri="{FF2B5EF4-FFF2-40B4-BE49-F238E27FC236}">
                  <a16:creationId xmlns:a16="http://schemas.microsoft.com/office/drawing/2014/main" id="{95E359D7-BC69-3174-D114-AB386FC59AF3}"/>
                </a:ext>
              </a:extLst>
            </p:cNvPr>
            <p:cNvSpPr/>
            <p:nvPr/>
          </p:nvSpPr>
          <p:spPr>
            <a:xfrm>
              <a:off x="2068432" y="472763"/>
              <a:ext cx="4016856" cy="1096665"/>
            </a:xfrm>
            <a:custGeom>
              <a:avLst/>
              <a:gdLst/>
              <a:ahLst/>
              <a:cxnLst/>
              <a:rect l="l" t="t" r="r" b="b"/>
              <a:pathLst>
                <a:path w="4016856" h="1096665">
                  <a:moveTo>
                    <a:pt x="0" y="0"/>
                  </a:moveTo>
                  <a:lnTo>
                    <a:pt x="4016856" y="0"/>
                  </a:lnTo>
                  <a:lnTo>
                    <a:pt x="4016856" y="1096666"/>
                  </a:lnTo>
                  <a:lnTo>
                    <a:pt x="0" y="1096666"/>
                  </a:lnTo>
                  <a:lnTo>
                    <a:pt x="0" y="0"/>
                  </a:lnTo>
                  <a:close/>
                </a:path>
              </a:pathLst>
            </a:custGeom>
            <a:blipFill>
              <a:blip r:embed="rId2"/>
              <a:stretch>
                <a:fillRect/>
              </a:stretch>
            </a:blipFill>
          </p:spPr>
        </p:sp>
        <p:sp>
          <p:nvSpPr>
            <p:cNvPr id="6" name="Freeform 16">
              <a:extLst>
                <a:ext uri="{FF2B5EF4-FFF2-40B4-BE49-F238E27FC236}">
                  <a16:creationId xmlns:a16="http://schemas.microsoft.com/office/drawing/2014/main" id="{AAB74CB3-DEBF-2504-2DA7-00501973BE23}"/>
                </a:ext>
              </a:extLst>
            </p:cNvPr>
            <p:cNvSpPr/>
            <p:nvPr/>
          </p:nvSpPr>
          <p:spPr>
            <a:xfrm>
              <a:off x="0" y="0"/>
              <a:ext cx="1629051" cy="1629051"/>
            </a:xfrm>
            <a:custGeom>
              <a:avLst/>
              <a:gdLst/>
              <a:ahLst/>
              <a:cxnLst/>
              <a:rect l="l" t="t" r="r" b="b"/>
              <a:pathLst>
                <a:path w="1629051" h="1629051">
                  <a:moveTo>
                    <a:pt x="0" y="0"/>
                  </a:moveTo>
                  <a:lnTo>
                    <a:pt x="1629051" y="0"/>
                  </a:lnTo>
                  <a:lnTo>
                    <a:pt x="1629051" y="1629051"/>
                  </a:lnTo>
                  <a:lnTo>
                    <a:pt x="0" y="1629051"/>
                  </a:lnTo>
                  <a:lnTo>
                    <a:pt x="0" y="0"/>
                  </a:lnTo>
                  <a:close/>
                </a:path>
              </a:pathLst>
            </a:custGeom>
            <a:blipFill>
              <a:blip r:embed="rId3"/>
              <a:stretch>
                <a:fillRect/>
              </a:stretch>
            </a:blipFill>
          </p:spPr>
        </p:sp>
        <p:sp>
          <p:nvSpPr>
            <p:cNvPr id="7" name="Freeform 17">
              <a:extLst>
                <a:ext uri="{FF2B5EF4-FFF2-40B4-BE49-F238E27FC236}">
                  <a16:creationId xmlns:a16="http://schemas.microsoft.com/office/drawing/2014/main" id="{AD33B25F-E6E6-DC65-31C6-A3BFDC2922B5}"/>
                </a:ext>
              </a:extLst>
            </p:cNvPr>
            <p:cNvSpPr/>
            <p:nvPr/>
          </p:nvSpPr>
          <p:spPr>
            <a:xfrm>
              <a:off x="6399188" y="0"/>
              <a:ext cx="1438995" cy="1629051"/>
            </a:xfrm>
            <a:custGeom>
              <a:avLst/>
              <a:gdLst/>
              <a:ahLst/>
              <a:cxnLst/>
              <a:rect l="l" t="t" r="r" b="b"/>
              <a:pathLst>
                <a:path w="1438995" h="1629051">
                  <a:moveTo>
                    <a:pt x="0" y="0"/>
                  </a:moveTo>
                  <a:lnTo>
                    <a:pt x="1438995" y="0"/>
                  </a:lnTo>
                  <a:lnTo>
                    <a:pt x="1438995" y="1629051"/>
                  </a:lnTo>
                  <a:lnTo>
                    <a:pt x="0" y="1629051"/>
                  </a:lnTo>
                  <a:lnTo>
                    <a:pt x="0" y="0"/>
                  </a:lnTo>
                  <a:close/>
                </a:path>
              </a:pathLst>
            </a:custGeom>
            <a:blipFill>
              <a:blip r:embed="rId4"/>
              <a:stretch>
                <a:fillRect/>
              </a:stretch>
            </a:blipFill>
          </p:spPr>
        </p:sp>
      </p:grpSp>
      <p:graphicFrame>
        <p:nvGraphicFramePr>
          <p:cNvPr id="8" name="Table 7">
            <a:extLst>
              <a:ext uri="{FF2B5EF4-FFF2-40B4-BE49-F238E27FC236}">
                <a16:creationId xmlns:a16="http://schemas.microsoft.com/office/drawing/2014/main" id="{148D06F9-C3E1-314E-7AC3-DD80F24D8162}"/>
              </a:ext>
            </a:extLst>
          </p:cNvPr>
          <p:cNvGraphicFramePr>
            <a:graphicFrameLocks noGrp="1"/>
          </p:cNvGraphicFramePr>
          <p:nvPr>
            <p:extLst>
              <p:ext uri="{D42A27DB-BD31-4B8C-83A1-F6EECF244321}">
                <p14:modId xmlns:p14="http://schemas.microsoft.com/office/powerpoint/2010/main" val="272000639"/>
              </p:ext>
            </p:extLst>
          </p:nvPr>
        </p:nvGraphicFramePr>
        <p:xfrm>
          <a:off x="7681432" y="3333131"/>
          <a:ext cx="3954210" cy="2834640"/>
        </p:xfrm>
        <a:graphic>
          <a:graphicData uri="http://schemas.openxmlformats.org/drawingml/2006/table">
            <a:tbl>
              <a:tblPr/>
              <a:tblGrid>
                <a:gridCol w="2680994">
                  <a:extLst>
                    <a:ext uri="{9D8B030D-6E8A-4147-A177-3AD203B41FA5}">
                      <a16:colId xmlns:a16="http://schemas.microsoft.com/office/drawing/2014/main" val="3455593040"/>
                    </a:ext>
                  </a:extLst>
                </a:gridCol>
                <a:gridCol w="1273216">
                  <a:extLst>
                    <a:ext uri="{9D8B030D-6E8A-4147-A177-3AD203B41FA5}">
                      <a16:colId xmlns:a16="http://schemas.microsoft.com/office/drawing/2014/main" val="3245309815"/>
                    </a:ext>
                  </a:extLst>
                </a:gridCol>
              </a:tblGrid>
              <a:tr h="0">
                <a:tc gridSpan="2">
                  <a:txBody>
                    <a:bodyPr/>
                    <a:lstStyle/>
                    <a:p>
                      <a:pPr algn="ctr" rtl="0">
                        <a:buNone/>
                      </a:pPr>
                      <a:r>
                        <a:rPr lang="en-US" b="1" dirty="0">
                          <a:effectLst/>
                        </a:rPr>
                        <a:t>Technical Requirements</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hMerge="1">
                  <a:txBody>
                    <a:bodyPr/>
                    <a:lstStyle/>
                    <a:p>
                      <a:pPr algn="l" rtl="0">
                        <a:buNone/>
                      </a:pPr>
                      <a:endParaRPr lang="en-US" dirty="0">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91067434"/>
                  </a:ext>
                </a:extLst>
              </a:tr>
              <a:tr h="0">
                <a:tc>
                  <a:txBody>
                    <a:bodyPr/>
                    <a:lstStyle/>
                    <a:p>
                      <a:pPr algn="l" rtl="0">
                        <a:buNone/>
                      </a:pPr>
                      <a:r>
                        <a:rPr lang="en-US" b="1" i="0" dirty="0">
                          <a:solidFill>
                            <a:srgbClr val="000000"/>
                          </a:solidFill>
                          <a:effectLst/>
                        </a:rPr>
                        <a:t>UAS Type</a:t>
                      </a:r>
                      <a:endParaRPr lang="en-US" b="1" dirty="0">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0" i="0" dirty="0">
                          <a:solidFill>
                            <a:srgbClr val="000000"/>
                          </a:solidFill>
                          <a:effectLst/>
                        </a:rPr>
                        <a:t>Multirotor</a:t>
                      </a:r>
                      <a:endParaRPr lang="en-US" dirty="0">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80246246"/>
                  </a:ext>
                </a:extLst>
              </a:tr>
              <a:tr h="0">
                <a:tc>
                  <a:txBody>
                    <a:bodyPr/>
                    <a:lstStyle/>
                    <a:p>
                      <a:pPr algn="l" rtl="0">
                        <a:buNone/>
                      </a:pPr>
                      <a:r>
                        <a:rPr lang="en-US" b="1" i="0" dirty="0">
                          <a:solidFill>
                            <a:srgbClr val="000000"/>
                          </a:solidFill>
                          <a:effectLst/>
                        </a:rPr>
                        <a:t>UAS Category</a:t>
                      </a:r>
                      <a:endParaRPr lang="en-US" b="1" dirty="0">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0" i="0" dirty="0">
                          <a:solidFill>
                            <a:srgbClr val="000000"/>
                          </a:solidFill>
                          <a:effectLst/>
                        </a:rPr>
                        <a:t>Micro UAS</a:t>
                      </a:r>
                      <a:endParaRPr lang="en-US" dirty="0">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93909072"/>
                  </a:ext>
                </a:extLst>
              </a:tr>
              <a:tr h="0">
                <a:tc>
                  <a:txBody>
                    <a:bodyPr/>
                    <a:lstStyle/>
                    <a:p>
                      <a:pPr algn="l" rtl="0">
                        <a:buNone/>
                      </a:pPr>
                      <a:r>
                        <a:rPr lang="en-US" b="1" i="0" dirty="0">
                          <a:solidFill>
                            <a:srgbClr val="000000"/>
                          </a:solidFill>
                          <a:effectLst/>
                        </a:rPr>
                        <a:t>UAS MTOW</a:t>
                      </a:r>
                      <a:endParaRPr lang="en-US" b="1" dirty="0">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0" i="0" dirty="0">
                          <a:solidFill>
                            <a:srgbClr val="000000"/>
                          </a:solidFill>
                          <a:effectLst/>
                        </a:rPr>
                        <a:t>2 kg</a:t>
                      </a:r>
                      <a:endParaRPr lang="en-US" dirty="0">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07069160"/>
                  </a:ext>
                </a:extLst>
              </a:tr>
              <a:tr h="0">
                <a:tc>
                  <a:txBody>
                    <a:bodyPr/>
                    <a:lstStyle/>
                    <a:p>
                      <a:pPr algn="l" rtl="0">
                        <a:buNone/>
                      </a:pPr>
                      <a:r>
                        <a:rPr lang="en-US" b="1" i="0" dirty="0">
                          <a:solidFill>
                            <a:srgbClr val="000000"/>
                          </a:solidFill>
                          <a:effectLst/>
                        </a:rPr>
                        <a:t>Payload Capacity</a:t>
                      </a:r>
                      <a:endParaRPr lang="en-US" b="1" dirty="0">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0" i="0" dirty="0">
                          <a:solidFill>
                            <a:srgbClr val="000000"/>
                          </a:solidFill>
                          <a:effectLst/>
                        </a:rPr>
                        <a:t>200 g</a:t>
                      </a:r>
                      <a:endParaRPr lang="en-US" dirty="0">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62851647"/>
                  </a:ext>
                </a:extLst>
              </a:tr>
              <a:tr h="0">
                <a:tc>
                  <a:txBody>
                    <a:bodyPr/>
                    <a:lstStyle/>
                    <a:p>
                      <a:pPr algn="l" rtl="0">
                        <a:buNone/>
                      </a:pPr>
                      <a:r>
                        <a:rPr lang="en-US" b="1" i="0" dirty="0">
                          <a:solidFill>
                            <a:srgbClr val="000000"/>
                          </a:solidFill>
                          <a:effectLst/>
                        </a:rPr>
                        <a:t>Propulsion System</a:t>
                      </a:r>
                      <a:endParaRPr lang="en-US" b="1" dirty="0">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0" i="0" dirty="0">
                          <a:solidFill>
                            <a:srgbClr val="000000"/>
                          </a:solidFill>
                          <a:effectLst/>
                        </a:rPr>
                        <a:t>Electric</a:t>
                      </a:r>
                      <a:endParaRPr lang="en-US" dirty="0">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81648485"/>
                  </a:ext>
                </a:extLst>
              </a:tr>
              <a:tr h="0">
                <a:tc>
                  <a:txBody>
                    <a:bodyPr/>
                    <a:lstStyle/>
                    <a:p>
                      <a:pPr algn="l" rtl="0">
                        <a:buNone/>
                      </a:pPr>
                      <a:r>
                        <a:rPr lang="en-US" b="1" i="0" dirty="0">
                          <a:solidFill>
                            <a:srgbClr val="000000"/>
                          </a:solidFill>
                          <a:effectLst/>
                        </a:rPr>
                        <a:t>Communication Range</a:t>
                      </a:r>
                      <a:endParaRPr lang="en-US" b="1" dirty="0">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rtl="0">
                        <a:buNone/>
                      </a:pPr>
                      <a:r>
                        <a:rPr lang="en-US" b="0" i="0" dirty="0">
                          <a:solidFill>
                            <a:srgbClr val="000000"/>
                          </a:solidFill>
                          <a:effectLst/>
                        </a:rPr>
                        <a:t>At least 1kg</a:t>
                      </a:r>
                      <a:endParaRPr lang="en-US" dirty="0">
                        <a:effectLst/>
                      </a:endParaRP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64427424"/>
                  </a:ext>
                </a:extLst>
              </a:tr>
            </a:tbl>
          </a:graphicData>
        </a:graphic>
      </p:graphicFrame>
      <p:sp>
        <p:nvSpPr>
          <p:cNvPr id="9" name="Rectangle 1">
            <a:extLst>
              <a:ext uri="{FF2B5EF4-FFF2-40B4-BE49-F238E27FC236}">
                <a16:creationId xmlns:a16="http://schemas.microsoft.com/office/drawing/2014/main" id="{7303945D-A048-07AB-870C-17A4FDE3410C}"/>
              </a:ext>
            </a:extLst>
          </p:cNvPr>
          <p:cNvSpPr>
            <a:spLocks noChangeArrowheads="1"/>
          </p:cNvSpPr>
          <p:nvPr/>
        </p:nvSpPr>
        <p:spPr bwMode="auto">
          <a:xfrm>
            <a:off x="581025" y="30003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4" name="TextBox 23">
            <a:extLst>
              <a:ext uri="{FF2B5EF4-FFF2-40B4-BE49-F238E27FC236}">
                <a16:creationId xmlns:a16="http://schemas.microsoft.com/office/drawing/2014/main" id="{AB6130C8-D740-9C88-13F6-2E8A8B38225F}"/>
              </a:ext>
            </a:extLst>
          </p:cNvPr>
          <p:cNvSpPr txBox="1"/>
          <p:nvPr/>
        </p:nvSpPr>
        <p:spPr>
          <a:xfrm>
            <a:off x="461219" y="3592660"/>
            <a:ext cx="7097049" cy="2631490"/>
          </a:xfrm>
          <a:prstGeom prst="rect">
            <a:avLst/>
          </a:prstGeom>
          <a:noFill/>
        </p:spPr>
        <p:txBody>
          <a:bodyPr wrap="square" rtlCol="0">
            <a:spAutoFit/>
          </a:bodyPr>
          <a:lstStyle/>
          <a:p>
            <a:pPr algn="just"/>
            <a:r>
              <a:rPr lang="en-US" sz="2500" b="1" dirty="0"/>
              <a:t>Objectives:</a:t>
            </a:r>
          </a:p>
          <a:p>
            <a:pPr marL="285750" indent="-285750" algn="just">
              <a:buFont typeface="Arial" panose="020B0604020202020204" pitchFamily="34" charset="0"/>
              <a:buChar char="•"/>
            </a:pPr>
            <a:r>
              <a:rPr lang="en-US" sz="2000" dirty="0"/>
              <a:t>Onboard vision-based intelligence with pretrained ML model</a:t>
            </a:r>
          </a:p>
          <a:p>
            <a:pPr marL="285750" indent="-285750" algn="just">
              <a:buFont typeface="Arial" panose="020B0604020202020204" pitchFamily="34" charset="0"/>
              <a:buChar char="•"/>
            </a:pPr>
            <a:r>
              <a:rPr lang="en-US" sz="2000" dirty="0"/>
              <a:t>Reliable payload delivery in complex environments</a:t>
            </a:r>
          </a:p>
          <a:p>
            <a:pPr marL="285750" indent="-285750" algn="just">
              <a:buFont typeface="Arial" panose="020B0604020202020204" pitchFamily="34" charset="0"/>
              <a:buChar char="•"/>
            </a:pPr>
            <a:r>
              <a:rPr lang="en-US" sz="2000" dirty="0"/>
              <a:t>High maneuverability in constrained spaces and cluttered environments</a:t>
            </a:r>
          </a:p>
          <a:p>
            <a:pPr marL="285750" indent="-285750" algn="just">
              <a:buFont typeface="Arial" panose="020B0604020202020204" pitchFamily="34" charset="0"/>
              <a:buChar char="•"/>
            </a:pPr>
            <a:r>
              <a:rPr lang="en-US" sz="2000" dirty="0"/>
              <a:t>Stable flight performance in disaster-affected areas</a:t>
            </a:r>
          </a:p>
          <a:p>
            <a:pPr marL="285750" indent="-285750" algn="just">
              <a:buFont typeface="Arial" panose="020B0604020202020204" pitchFamily="34" charset="0"/>
              <a:buChar char="•"/>
            </a:pPr>
            <a:r>
              <a:rPr lang="en-US" sz="2000" dirty="0"/>
              <a:t>Real-time object detection and classification</a:t>
            </a:r>
          </a:p>
          <a:p>
            <a:pPr marL="285750" indent="-285750" algn="just">
              <a:buFont typeface="Arial" panose="020B0604020202020204" pitchFamily="34" charset="0"/>
              <a:buChar char="•"/>
            </a:pPr>
            <a:r>
              <a:rPr lang="en-US" sz="2000" dirty="0"/>
              <a:t>Navigate collapsed urban structures and narrow alleys</a:t>
            </a:r>
          </a:p>
        </p:txBody>
      </p:sp>
    </p:spTree>
    <p:extLst>
      <p:ext uri="{BB962C8B-B14F-4D97-AF65-F5344CB8AC3E}">
        <p14:creationId xmlns:p14="http://schemas.microsoft.com/office/powerpoint/2010/main" val="12552651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74D9A-694D-A891-2384-BDFFD8EE6A06}"/>
              </a:ext>
            </a:extLst>
          </p:cNvPr>
          <p:cNvSpPr>
            <a:spLocks noGrp="1"/>
          </p:cNvSpPr>
          <p:nvPr>
            <p:ph type="title"/>
          </p:nvPr>
        </p:nvSpPr>
        <p:spPr/>
        <p:txBody>
          <a:bodyPr/>
          <a:lstStyle/>
          <a:p>
            <a:r>
              <a:rPr lang="en-US" b="1" dirty="0"/>
              <a:t>UAS DESIGN WORKFLOW</a:t>
            </a:r>
          </a:p>
        </p:txBody>
      </p:sp>
      <p:graphicFrame>
        <p:nvGraphicFramePr>
          <p:cNvPr id="3" name="Diagram 2">
            <a:extLst>
              <a:ext uri="{FF2B5EF4-FFF2-40B4-BE49-F238E27FC236}">
                <a16:creationId xmlns:a16="http://schemas.microsoft.com/office/drawing/2014/main" id="{5C2316CD-6F0E-A3A1-6F31-8E96DB72D791}"/>
              </a:ext>
            </a:extLst>
          </p:cNvPr>
          <p:cNvGraphicFramePr/>
          <p:nvPr>
            <p:extLst>
              <p:ext uri="{D42A27DB-BD31-4B8C-83A1-F6EECF244321}">
                <p14:modId xmlns:p14="http://schemas.microsoft.com/office/powerpoint/2010/main" val="1503078694"/>
              </p:ext>
            </p:extLst>
          </p:nvPr>
        </p:nvGraphicFramePr>
        <p:xfrm>
          <a:off x="0" y="2113962"/>
          <a:ext cx="6435524" cy="41532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AlternateContent xmlns:mc="http://schemas.openxmlformats.org/markup-compatibility/2006">
        <mc:Choice xmlns:am3d="http://schemas.microsoft.com/office/drawing/2017/model3d" Requires="am3d">
          <p:graphicFrame>
            <p:nvGraphicFramePr>
              <p:cNvPr id="4" name="3D Model 3">
                <a:extLst>
                  <a:ext uri="{FF2B5EF4-FFF2-40B4-BE49-F238E27FC236}">
                    <a16:creationId xmlns:a16="http://schemas.microsoft.com/office/drawing/2014/main" id="{E20A0780-0149-6257-2170-9427615735F2}"/>
                  </a:ext>
                </a:extLst>
              </p:cNvPr>
              <p:cNvGraphicFramePr>
                <a:graphicFrameLocks noChangeAspect="1"/>
              </p:cNvGraphicFramePr>
              <p:nvPr>
                <p:extLst>
                  <p:ext uri="{D42A27DB-BD31-4B8C-83A1-F6EECF244321}">
                    <p14:modId xmlns:p14="http://schemas.microsoft.com/office/powerpoint/2010/main" val="951089094"/>
                  </p:ext>
                </p:extLst>
              </p:nvPr>
            </p:nvGraphicFramePr>
            <p:xfrm>
              <a:off x="6667830" y="2233588"/>
              <a:ext cx="4930134" cy="4051791"/>
            </p:xfrm>
            <a:graphic>
              <a:graphicData uri="http://schemas.microsoft.com/office/drawing/2017/model3d">
                <am3d:model3d r:embed="rId7">
                  <am3d:spPr>
                    <a:xfrm>
                      <a:off x="0" y="0"/>
                      <a:ext cx="4930134" cy="4051791"/>
                    </a:xfrm>
                    <a:prstGeom prst="rect">
                      <a:avLst/>
                    </a:prstGeom>
                  </am3d:spPr>
                  <am3d:camera>
                    <am3d:pos x="0" y="0" z="72829682"/>
                    <am3d:up dx="0" dy="36000000" dz="0"/>
                    <am3d:lookAt x="0" y="0" z="0"/>
                    <am3d:perspective fov="2700000"/>
                  </am3d:camera>
                  <am3d:trans>
                    <am3d:meterPerModelUnit n="2732288" d="1000000"/>
                    <am3d:preTrans dx="0" dy="0" dz="-3724893"/>
                    <am3d:scale>
                      <am3d:sx n="1000000" d="1000000"/>
                      <am3d:sy n="1000000" d="1000000"/>
                      <am3d:sz n="1000000" d="1000000"/>
                    </am3d:scale>
                    <am3d:rot ax="5400000"/>
                    <am3d:postTrans dx="0" dy="0" dz="0"/>
                  </am3d:trans>
                  <am3d:raster rName="Office3DRenderer" rVer="16.0.8326">
                    <am3d:blip r:embed="rId8"/>
                  </am3d:raster>
                  <am3d:objViewport viewportSz="8109023"/>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4" name="3D Model 3">
                <a:extLst>
                  <a:ext uri="{FF2B5EF4-FFF2-40B4-BE49-F238E27FC236}">
                    <a16:creationId xmlns:a16="http://schemas.microsoft.com/office/drawing/2014/main" id="{E20A0780-0149-6257-2170-9427615735F2}"/>
                  </a:ext>
                </a:extLst>
              </p:cNvPr>
              <p:cNvPicPr>
                <a:picLocks noGrp="1" noRot="1" noChangeAspect="1" noMove="1" noResize="1" noEditPoints="1" noAdjustHandles="1" noChangeArrowheads="1" noChangeShapeType="1" noCrop="1"/>
              </p:cNvPicPr>
              <p:nvPr/>
            </p:nvPicPr>
            <p:blipFill>
              <a:blip r:embed="rId8"/>
              <a:stretch>
                <a:fillRect/>
              </a:stretch>
            </p:blipFill>
            <p:spPr>
              <a:xfrm>
                <a:off x="6667830" y="2233588"/>
                <a:ext cx="4930134" cy="4051791"/>
              </a:xfrm>
              <a:prstGeom prst="rect">
                <a:avLst/>
              </a:prstGeom>
            </p:spPr>
          </p:pic>
        </mc:Fallback>
      </mc:AlternateContent>
      <p:grpSp>
        <p:nvGrpSpPr>
          <p:cNvPr id="5" name="Group 14">
            <a:extLst>
              <a:ext uri="{FF2B5EF4-FFF2-40B4-BE49-F238E27FC236}">
                <a16:creationId xmlns:a16="http://schemas.microsoft.com/office/drawing/2014/main" id="{2A7E0BDF-4A7B-AB1A-28E9-980A5A712681}"/>
              </a:ext>
            </a:extLst>
          </p:cNvPr>
          <p:cNvGrpSpPr/>
          <p:nvPr/>
        </p:nvGrpSpPr>
        <p:grpSpPr>
          <a:xfrm>
            <a:off x="9658537" y="11884"/>
            <a:ext cx="2050862" cy="429876"/>
            <a:chOff x="0" y="0"/>
            <a:chExt cx="7838183" cy="1629051"/>
          </a:xfrm>
        </p:grpSpPr>
        <p:sp>
          <p:nvSpPr>
            <p:cNvPr id="6" name="Freeform 15">
              <a:extLst>
                <a:ext uri="{FF2B5EF4-FFF2-40B4-BE49-F238E27FC236}">
                  <a16:creationId xmlns:a16="http://schemas.microsoft.com/office/drawing/2014/main" id="{ABC1CBE2-0264-9AE2-2C2B-8C244D2A17FC}"/>
                </a:ext>
              </a:extLst>
            </p:cNvPr>
            <p:cNvSpPr/>
            <p:nvPr/>
          </p:nvSpPr>
          <p:spPr>
            <a:xfrm>
              <a:off x="2068432" y="472763"/>
              <a:ext cx="4016856" cy="1096665"/>
            </a:xfrm>
            <a:custGeom>
              <a:avLst/>
              <a:gdLst/>
              <a:ahLst/>
              <a:cxnLst/>
              <a:rect l="l" t="t" r="r" b="b"/>
              <a:pathLst>
                <a:path w="4016856" h="1096665">
                  <a:moveTo>
                    <a:pt x="0" y="0"/>
                  </a:moveTo>
                  <a:lnTo>
                    <a:pt x="4016856" y="0"/>
                  </a:lnTo>
                  <a:lnTo>
                    <a:pt x="4016856" y="1096666"/>
                  </a:lnTo>
                  <a:lnTo>
                    <a:pt x="0" y="1096666"/>
                  </a:lnTo>
                  <a:lnTo>
                    <a:pt x="0" y="0"/>
                  </a:lnTo>
                  <a:close/>
                </a:path>
              </a:pathLst>
            </a:custGeom>
            <a:blipFill>
              <a:blip r:embed="rId9"/>
              <a:stretch>
                <a:fillRect/>
              </a:stretch>
            </a:blipFill>
          </p:spPr>
        </p:sp>
        <p:sp>
          <p:nvSpPr>
            <p:cNvPr id="7" name="Freeform 16">
              <a:extLst>
                <a:ext uri="{FF2B5EF4-FFF2-40B4-BE49-F238E27FC236}">
                  <a16:creationId xmlns:a16="http://schemas.microsoft.com/office/drawing/2014/main" id="{01F85755-C102-E67C-9C40-5C8DF09A00B5}"/>
                </a:ext>
              </a:extLst>
            </p:cNvPr>
            <p:cNvSpPr/>
            <p:nvPr/>
          </p:nvSpPr>
          <p:spPr>
            <a:xfrm>
              <a:off x="0" y="0"/>
              <a:ext cx="1629051" cy="1629051"/>
            </a:xfrm>
            <a:custGeom>
              <a:avLst/>
              <a:gdLst/>
              <a:ahLst/>
              <a:cxnLst/>
              <a:rect l="l" t="t" r="r" b="b"/>
              <a:pathLst>
                <a:path w="1629051" h="1629051">
                  <a:moveTo>
                    <a:pt x="0" y="0"/>
                  </a:moveTo>
                  <a:lnTo>
                    <a:pt x="1629051" y="0"/>
                  </a:lnTo>
                  <a:lnTo>
                    <a:pt x="1629051" y="1629051"/>
                  </a:lnTo>
                  <a:lnTo>
                    <a:pt x="0" y="1629051"/>
                  </a:lnTo>
                  <a:lnTo>
                    <a:pt x="0" y="0"/>
                  </a:lnTo>
                  <a:close/>
                </a:path>
              </a:pathLst>
            </a:custGeom>
            <a:blipFill>
              <a:blip r:embed="rId10"/>
              <a:stretch>
                <a:fillRect/>
              </a:stretch>
            </a:blipFill>
          </p:spPr>
        </p:sp>
        <p:sp>
          <p:nvSpPr>
            <p:cNvPr id="8" name="Freeform 17">
              <a:extLst>
                <a:ext uri="{FF2B5EF4-FFF2-40B4-BE49-F238E27FC236}">
                  <a16:creationId xmlns:a16="http://schemas.microsoft.com/office/drawing/2014/main" id="{683AE95D-27E2-2D23-7751-50B4167CA9A5}"/>
                </a:ext>
              </a:extLst>
            </p:cNvPr>
            <p:cNvSpPr/>
            <p:nvPr/>
          </p:nvSpPr>
          <p:spPr>
            <a:xfrm>
              <a:off x="6399188" y="0"/>
              <a:ext cx="1438995" cy="1629051"/>
            </a:xfrm>
            <a:custGeom>
              <a:avLst/>
              <a:gdLst/>
              <a:ahLst/>
              <a:cxnLst/>
              <a:rect l="l" t="t" r="r" b="b"/>
              <a:pathLst>
                <a:path w="1438995" h="1629051">
                  <a:moveTo>
                    <a:pt x="0" y="0"/>
                  </a:moveTo>
                  <a:lnTo>
                    <a:pt x="1438995" y="0"/>
                  </a:lnTo>
                  <a:lnTo>
                    <a:pt x="1438995" y="1629051"/>
                  </a:lnTo>
                  <a:lnTo>
                    <a:pt x="0" y="1629051"/>
                  </a:lnTo>
                  <a:lnTo>
                    <a:pt x="0" y="0"/>
                  </a:lnTo>
                  <a:close/>
                </a:path>
              </a:pathLst>
            </a:custGeom>
            <a:blipFill>
              <a:blip r:embed="rId11"/>
              <a:stretch>
                <a:fillRect/>
              </a:stretch>
            </a:blipFill>
          </p:spPr>
        </p:sp>
      </p:grpSp>
    </p:spTree>
    <p:extLst>
      <p:ext uri="{BB962C8B-B14F-4D97-AF65-F5344CB8AC3E}">
        <p14:creationId xmlns:p14="http://schemas.microsoft.com/office/powerpoint/2010/main" val="2945084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mph" presetSubtype="128" repeatCount="indefinite" fill="hold" nodeType="clickEffect">
                                  <p:stCondLst>
                                    <p:cond delay="0"/>
                                  </p:stCondLst>
                                  <p:childTnLst>
                                    <p:animRot by="21600000">
                                      <p:cBhvr>
                                        <p:cTn id="6" dur="20000" fill="hold"/>
                                        <p:tgtEl>
                                          <p:spTgt spid="4"/>
                                        </p:tgtEl>
                                        <p:attrNameLst>
                                          <p:attrName>3d.view.rotation.y</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961C1-7887-F5A2-59C7-429F16EA8D55}"/>
              </a:ext>
            </a:extLst>
          </p:cNvPr>
          <p:cNvSpPr>
            <a:spLocks noGrp="1"/>
          </p:cNvSpPr>
          <p:nvPr>
            <p:ph type="title"/>
          </p:nvPr>
        </p:nvSpPr>
        <p:spPr>
          <a:xfrm>
            <a:off x="491527" y="714904"/>
            <a:ext cx="11029615" cy="600557"/>
          </a:xfrm>
        </p:spPr>
        <p:txBody>
          <a:bodyPr>
            <a:normAutofit fontScale="90000"/>
          </a:bodyPr>
          <a:lstStyle/>
          <a:p>
            <a:r>
              <a:rPr lang="en-US" b="1" dirty="0"/>
              <a:t>Mechanical system</a:t>
            </a:r>
          </a:p>
        </p:txBody>
      </p:sp>
      <p:sp>
        <p:nvSpPr>
          <p:cNvPr id="3" name="Text Placeholder 2">
            <a:extLst>
              <a:ext uri="{FF2B5EF4-FFF2-40B4-BE49-F238E27FC236}">
                <a16:creationId xmlns:a16="http://schemas.microsoft.com/office/drawing/2014/main" id="{AC1A37BE-A60F-BC29-70E4-0A868DABFDF3}"/>
              </a:ext>
            </a:extLst>
          </p:cNvPr>
          <p:cNvSpPr>
            <a:spLocks noGrp="1"/>
          </p:cNvSpPr>
          <p:nvPr>
            <p:ph type="body" idx="1"/>
          </p:nvPr>
        </p:nvSpPr>
        <p:spPr>
          <a:xfrm>
            <a:off x="491527" y="1399210"/>
            <a:ext cx="7761222" cy="970765"/>
          </a:xfrm>
        </p:spPr>
        <p:txBody>
          <a:bodyPr>
            <a:noAutofit/>
          </a:bodyPr>
          <a:lstStyle/>
          <a:p>
            <a:r>
              <a:rPr lang="en-US" sz="2000" dirty="0"/>
              <a:t>These systems collectively determine the </a:t>
            </a:r>
            <a:r>
              <a:rPr lang="en-US" sz="2000" b="1" dirty="0"/>
              <a:t>structural integrity, aerodynamics, </a:t>
            </a:r>
            <a:r>
              <a:rPr lang="en-US" sz="2000" dirty="0"/>
              <a:t>and </a:t>
            </a:r>
            <a:r>
              <a:rPr lang="en-US" sz="2000" b="1" dirty="0"/>
              <a:t>mechanical reliability</a:t>
            </a:r>
            <a:r>
              <a:rPr lang="en-US" sz="2000" dirty="0"/>
              <a:t> of the drone.</a:t>
            </a:r>
          </a:p>
        </p:txBody>
      </p:sp>
      <p:grpSp>
        <p:nvGrpSpPr>
          <p:cNvPr id="4" name="Group 14">
            <a:extLst>
              <a:ext uri="{FF2B5EF4-FFF2-40B4-BE49-F238E27FC236}">
                <a16:creationId xmlns:a16="http://schemas.microsoft.com/office/drawing/2014/main" id="{A9BE1E74-C796-EC78-6850-E67205E9643A}"/>
              </a:ext>
            </a:extLst>
          </p:cNvPr>
          <p:cNvGrpSpPr/>
          <p:nvPr/>
        </p:nvGrpSpPr>
        <p:grpSpPr>
          <a:xfrm>
            <a:off x="9658537" y="11884"/>
            <a:ext cx="2050862" cy="429876"/>
            <a:chOff x="0" y="0"/>
            <a:chExt cx="7838183" cy="1629051"/>
          </a:xfrm>
        </p:grpSpPr>
        <p:sp>
          <p:nvSpPr>
            <p:cNvPr id="5" name="Freeform 15">
              <a:extLst>
                <a:ext uri="{FF2B5EF4-FFF2-40B4-BE49-F238E27FC236}">
                  <a16:creationId xmlns:a16="http://schemas.microsoft.com/office/drawing/2014/main" id="{148F44D7-5BCE-C02F-E1E7-13B5725784AD}"/>
                </a:ext>
              </a:extLst>
            </p:cNvPr>
            <p:cNvSpPr/>
            <p:nvPr/>
          </p:nvSpPr>
          <p:spPr>
            <a:xfrm>
              <a:off x="2068432" y="472763"/>
              <a:ext cx="4016856" cy="1096665"/>
            </a:xfrm>
            <a:custGeom>
              <a:avLst/>
              <a:gdLst/>
              <a:ahLst/>
              <a:cxnLst/>
              <a:rect l="l" t="t" r="r" b="b"/>
              <a:pathLst>
                <a:path w="4016856" h="1096665">
                  <a:moveTo>
                    <a:pt x="0" y="0"/>
                  </a:moveTo>
                  <a:lnTo>
                    <a:pt x="4016856" y="0"/>
                  </a:lnTo>
                  <a:lnTo>
                    <a:pt x="4016856" y="1096666"/>
                  </a:lnTo>
                  <a:lnTo>
                    <a:pt x="0" y="1096666"/>
                  </a:lnTo>
                  <a:lnTo>
                    <a:pt x="0" y="0"/>
                  </a:lnTo>
                  <a:close/>
                </a:path>
              </a:pathLst>
            </a:custGeom>
            <a:blipFill>
              <a:blip r:embed="rId2"/>
              <a:stretch>
                <a:fillRect/>
              </a:stretch>
            </a:blipFill>
          </p:spPr>
        </p:sp>
        <p:sp>
          <p:nvSpPr>
            <p:cNvPr id="6" name="Freeform 16">
              <a:extLst>
                <a:ext uri="{FF2B5EF4-FFF2-40B4-BE49-F238E27FC236}">
                  <a16:creationId xmlns:a16="http://schemas.microsoft.com/office/drawing/2014/main" id="{2B763CCA-7150-C3AD-F437-226515BDE2A0}"/>
                </a:ext>
              </a:extLst>
            </p:cNvPr>
            <p:cNvSpPr/>
            <p:nvPr/>
          </p:nvSpPr>
          <p:spPr>
            <a:xfrm>
              <a:off x="0" y="0"/>
              <a:ext cx="1629051" cy="1629051"/>
            </a:xfrm>
            <a:custGeom>
              <a:avLst/>
              <a:gdLst/>
              <a:ahLst/>
              <a:cxnLst/>
              <a:rect l="l" t="t" r="r" b="b"/>
              <a:pathLst>
                <a:path w="1629051" h="1629051">
                  <a:moveTo>
                    <a:pt x="0" y="0"/>
                  </a:moveTo>
                  <a:lnTo>
                    <a:pt x="1629051" y="0"/>
                  </a:lnTo>
                  <a:lnTo>
                    <a:pt x="1629051" y="1629051"/>
                  </a:lnTo>
                  <a:lnTo>
                    <a:pt x="0" y="1629051"/>
                  </a:lnTo>
                  <a:lnTo>
                    <a:pt x="0" y="0"/>
                  </a:lnTo>
                  <a:close/>
                </a:path>
              </a:pathLst>
            </a:custGeom>
            <a:blipFill>
              <a:blip r:embed="rId3"/>
              <a:stretch>
                <a:fillRect/>
              </a:stretch>
            </a:blipFill>
          </p:spPr>
        </p:sp>
        <p:sp>
          <p:nvSpPr>
            <p:cNvPr id="7" name="Freeform 17">
              <a:extLst>
                <a:ext uri="{FF2B5EF4-FFF2-40B4-BE49-F238E27FC236}">
                  <a16:creationId xmlns:a16="http://schemas.microsoft.com/office/drawing/2014/main" id="{EC76B62D-4C97-43FE-5046-C60B270B60C0}"/>
                </a:ext>
              </a:extLst>
            </p:cNvPr>
            <p:cNvSpPr/>
            <p:nvPr/>
          </p:nvSpPr>
          <p:spPr>
            <a:xfrm>
              <a:off x="6399188" y="0"/>
              <a:ext cx="1438995" cy="1629051"/>
            </a:xfrm>
            <a:custGeom>
              <a:avLst/>
              <a:gdLst/>
              <a:ahLst/>
              <a:cxnLst/>
              <a:rect l="l" t="t" r="r" b="b"/>
              <a:pathLst>
                <a:path w="1438995" h="1629051">
                  <a:moveTo>
                    <a:pt x="0" y="0"/>
                  </a:moveTo>
                  <a:lnTo>
                    <a:pt x="1438995" y="0"/>
                  </a:lnTo>
                  <a:lnTo>
                    <a:pt x="1438995" y="1629051"/>
                  </a:lnTo>
                  <a:lnTo>
                    <a:pt x="0" y="1629051"/>
                  </a:lnTo>
                  <a:lnTo>
                    <a:pt x="0" y="0"/>
                  </a:lnTo>
                  <a:close/>
                </a:path>
              </a:pathLst>
            </a:custGeom>
            <a:blipFill>
              <a:blip r:embed="rId4"/>
              <a:stretch>
                <a:fillRect/>
              </a:stretch>
            </a:blipFill>
          </p:spPr>
        </p:sp>
      </p:grpSp>
      <p:sp>
        <p:nvSpPr>
          <p:cNvPr id="8" name="TextBox 7">
            <a:extLst>
              <a:ext uri="{FF2B5EF4-FFF2-40B4-BE49-F238E27FC236}">
                <a16:creationId xmlns:a16="http://schemas.microsoft.com/office/drawing/2014/main" id="{A366D1AE-220C-5F4D-62AC-EADABC044EF3}"/>
              </a:ext>
            </a:extLst>
          </p:cNvPr>
          <p:cNvSpPr txBox="1"/>
          <p:nvPr/>
        </p:nvSpPr>
        <p:spPr>
          <a:xfrm>
            <a:off x="5316637" y="5312099"/>
            <a:ext cx="6294170" cy="830997"/>
          </a:xfrm>
          <a:prstGeom prst="rect">
            <a:avLst/>
          </a:prstGeom>
          <a:noFill/>
        </p:spPr>
        <p:txBody>
          <a:bodyPr wrap="square" rtlCol="0">
            <a:spAutoFit/>
          </a:bodyPr>
          <a:lstStyle/>
          <a:p>
            <a:pPr algn="r"/>
            <a:r>
              <a:rPr lang="en-US" sz="2400" dirty="0">
                <a:solidFill>
                  <a:srgbClr val="FFFF00"/>
                </a:solidFill>
              </a:rPr>
              <a:t>“The best design is the simplest one that works.” -Albert Einstein </a:t>
            </a:r>
          </a:p>
        </p:txBody>
      </p:sp>
      <p:sp>
        <p:nvSpPr>
          <p:cNvPr id="11" name="TextBox 10">
            <a:extLst>
              <a:ext uri="{FF2B5EF4-FFF2-40B4-BE49-F238E27FC236}">
                <a16:creationId xmlns:a16="http://schemas.microsoft.com/office/drawing/2014/main" id="{C2276FF7-E2BA-2787-BDC0-E8A198333863}"/>
              </a:ext>
            </a:extLst>
          </p:cNvPr>
          <p:cNvSpPr txBox="1"/>
          <p:nvPr/>
        </p:nvSpPr>
        <p:spPr>
          <a:xfrm>
            <a:off x="491527" y="2501771"/>
            <a:ext cx="5145344" cy="2308324"/>
          </a:xfrm>
          <a:prstGeom prst="rect">
            <a:avLst/>
          </a:prstGeom>
          <a:noFill/>
        </p:spPr>
        <p:txBody>
          <a:bodyPr wrap="square">
            <a:spAutoFit/>
          </a:bodyPr>
          <a:lstStyle/>
          <a:p>
            <a:pPr algn="l" rtl="0"/>
            <a:r>
              <a:rPr lang="en-US" sz="2400" b="1" i="0" dirty="0">
                <a:solidFill>
                  <a:srgbClr val="000000"/>
                </a:solidFill>
                <a:effectLst/>
              </a:rPr>
              <a:t>Objectives</a:t>
            </a:r>
            <a:r>
              <a:rPr lang="en-US" b="0" i="0" dirty="0">
                <a:solidFill>
                  <a:srgbClr val="000000"/>
                </a:solidFill>
                <a:effectLst/>
              </a:rPr>
              <a:t>: </a:t>
            </a:r>
          </a:p>
          <a:p>
            <a:pPr algn="l" rtl="0">
              <a:buFont typeface="Arial" panose="020B0604020202020204" pitchFamily="34" charset="0"/>
              <a:buChar char="•"/>
            </a:pPr>
            <a:r>
              <a:rPr lang="en-US" sz="2400" b="0" i="0" dirty="0">
                <a:solidFill>
                  <a:srgbClr val="000000"/>
                </a:solidFill>
                <a:effectLst/>
              </a:rPr>
              <a:t>Structural Integrity</a:t>
            </a:r>
            <a:endParaRPr lang="en-US" sz="2400" dirty="0">
              <a:effectLst/>
            </a:endParaRPr>
          </a:p>
          <a:p>
            <a:pPr algn="l" rtl="0">
              <a:buFont typeface="Arial" panose="020B0604020202020204" pitchFamily="34" charset="0"/>
              <a:buChar char="•"/>
            </a:pPr>
            <a:r>
              <a:rPr lang="en-US" sz="2400" b="0" i="0" dirty="0">
                <a:solidFill>
                  <a:srgbClr val="000000"/>
                </a:solidFill>
                <a:effectLst/>
              </a:rPr>
              <a:t>Compactness and Maneuverability</a:t>
            </a:r>
            <a:endParaRPr lang="en-US" sz="2400" dirty="0">
              <a:effectLst/>
            </a:endParaRPr>
          </a:p>
          <a:p>
            <a:pPr algn="l" rtl="0">
              <a:buFont typeface="Arial" panose="020B0604020202020204" pitchFamily="34" charset="0"/>
              <a:buChar char="•"/>
            </a:pPr>
            <a:r>
              <a:rPr lang="en-US" sz="2400" b="0" i="0" dirty="0">
                <a:solidFill>
                  <a:srgbClr val="000000"/>
                </a:solidFill>
                <a:effectLst/>
              </a:rPr>
              <a:t>Weight Optimization &amp; Stability</a:t>
            </a:r>
            <a:endParaRPr lang="en-US" sz="2400" dirty="0">
              <a:effectLst/>
            </a:endParaRPr>
          </a:p>
          <a:p>
            <a:pPr algn="l" rtl="0">
              <a:buFont typeface="Arial" panose="020B0604020202020204" pitchFamily="34" charset="0"/>
              <a:buChar char="•"/>
            </a:pPr>
            <a:r>
              <a:rPr lang="en-US" sz="2400" b="0" i="0" dirty="0">
                <a:solidFill>
                  <a:srgbClr val="000000"/>
                </a:solidFill>
                <a:effectLst/>
              </a:rPr>
              <a:t>Aerodynamic Efficiency</a:t>
            </a:r>
            <a:endParaRPr lang="en-US" sz="2400" dirty="0">
              <a:effectLst/>
            </a:endParaRPr>
          </a:p>
          <a:p>
            <a:pPr algn="l" rtl="0">
              <a:buFont typeface="Arial" panose="020B0604020202020204" pitchFamily="34" charset="0"/>
              <a:buChar char="•"/>
            </a:pPr>
            <a:r>
              <a:rPr lang="en-US" sz="2400" b="0" i="0" dirty="0">
                <a:solidFill>
                  <a:srgbClr val="000000"/>
                </a:solidFill>
                <a:effectLst/>
              </a:rPr>
              <a:t>Material Cost-Effectiveness</a:t>
            </a:r>
            <a:endParaRPr lang="en-US" sz="2400" dirty="0">
              <a:effectLst/>
            </a:endParaRPr>
          </a:p>
        </p:txBody>
      </p:sp>
      <p:sp>
        <p:nvSpPr>
          <p:cNvPr id="14" name="Freeform 16">
            <a:extLst>
              <a:ext uri="{FF2B5EF4-FFF2-40B4-BE49-F238E27FC236}">
                <a16:creationId xmlns:a16="http://schemas.microsoft.com/office/drawing/2014/main" id="{48A272D7-64E2-2F58-B8F8-1A339EBF5D9A}"/>
              </a:ext>
            </a:extLst>
          </p:cNvPr>
          <p:cNvSpPr/>
          <p:nvPr/>
        </p:nvSpPr>
        <p:spPr>
          <a:xfrm>
            <a:off x="8009681" y="730637"/>
            <a:ext cx="3690792" cy="4258051"/>
          </a:xfrm>
          <a:custGeom>
            <a:avLst/>
            <a:gdLst/>
            <a:ahLst/>
            <a:cxnLst/>
            <a:rect l="l" t="t" r="r" b="b"/>
            <a:pathLst>
              <a:path w="6391642" h="7181048">
                <a:moveTo>
                  <a:pt x="0" y="0"/>
                </a:moveTo>
                <a:lnTo>
                  <a:pt x="6391642" y="0"/>
                </a:lnTo>
                <a:lnTo>
                  <a:pt x="6391642" y="7181048"/>
                </a:lnTo>
                <a:lnTo>
                  <a:pt x="0" y="7181048"/>
                </a:lnTo>
                <a:lnTo>
                  <a:pt x="0" y="0"/>
                </a:lnTo>
                <a:close/>
              </a:path>
            </a:pathLst>
          </a:custGeom>
          <a:blipFill>
            <a:blip r:embed="rId5"/>
            <a:stretch>
              <a:fillRect/>
            </a:stretch>
          </a:blipFill>
        </p:spPr>
      </p:sp>
    </p:spTree>
    <p:extLst>
      <p:ext uri="{BB962C8B-B14F-4D97-AF65-F5344CB8AC3E}">
        <p14:creationId xmlns:p14="http://schemas.microsoft.com/office/powerpoint/2010/main" val="250716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649C3-AE6C-416D-7218-7D104F940537}"/>
              </a:ext>
            </a:extLst>
          </p:cNvPr>
          <p:cNvSpPr>
            <a:spLocks noGrp="1"/>
          </p:cNvSpPr>
          <p:nvPr>
            <p:ph type="title"/>
          </p:nvPr>
        </p:nvSpPr>
        <p:spPr>
          <a:xfrm>
            <a:off x="581193" y="729658"/>
            <a:ext cx="11029616" cy="637229"/>
          </a:xfrm>
        </p:spPr>
        <p:txBody>
          <a:bodyPr/>
          <a:lstStyle/>
          <a:p>
            <a:r>
              <a:rPr lang="en-US" b="1" dirty="0"/>
              <a:t>Conceptual</a:t>
            </a:r>
            <a:r>
              <a:rPr lang="en-US" dirty="0"/>
              <a:t> design</a:t>
            </a:r>
          </a:p>
        </p:txBody>
      </p:sp>
      <p:grpSp>
        <p:nvGrpSpPr>
          <p:cNvPr id="5" name="Group 14">
            <a:extLst>
              <a:ext uri="{FF2B5EF4-FFF2-40B4-BE49-F238E27FC236}">
                <a16:creationId xmlns:a16="http://schemas.microsoft.com/office/drawing/2014/main" id="{1590AD2D-A76E-839F-B326-746C6F102B62}"/>
              </a:ext>
            </a:extLst>
          </p:cNvPr>
          <p:cNvGrpSpPr/>
          <p:nvPr/>
        </p:nvGrpSpPr>
        <p:grpSpPr>
          <a:xfrm>
            <a:off x="9658537" y="11884"/>
            <a:ext cx="2050862" cy="429876"/>
            <a:chOff x="0" y="0"/>
            <a:chExt cx="7838183" cy="1629051"/>
          </a:xfrm>
        </p:grpSpPr>
        <p:sp>
          <p:nvSpPr>
            <p:cNvPr id="6" name="Freeform 15">
              <a:extLst>
                <a:ext uri="{FF2B5EF4-FFF2-40B4-BE49-F238E27FC236}">
                  <a16:creationId xmlns:a16="http://schemas.microsoft.com/office/drawing/2014/main" id="{2E3A77CB-AE29-37D3-2348-5E547401BE81}"/>
                </a:ext>
              </a:extLst>
            </p:cNvPr>
            <p:cNvSpPr/>
            <p:nvPr/>
          </p:nvSpPr>
          <p:spPr>
            <a:xfrm>
              <a:off x="2068432" y="472763"/>
              <a:ext cx="4016856" cy="1096665"/>
            </a:xfrm>
            <a:custGeom>
              <a:avLst/>
              <a:gdLst/>
              <a:ahLst/>
              <a:cxnLst/>
              <a:rect l="l" t="t" r="r" b="b"/>
              <a:pathLst>
                <a:path w="4016856" h="1096665">
                  <a:moveTo>
                    <a:pt x="0" y="0"/>
                  </a:moveTo>
                  <a:lnTo>
                    <a:pt x="4016856" y="0"/>
                  </a:lnTo>
                  <a:lnTo>
                    <a:pt x="4016856" y="1096666"/>
                  </a:lnTo>
                  <a:lnTo>
                    <a:pt x="0" y="1096666"/>
                  </a:lnTo>
                  <a:lnTo>
                    <a:pt x="0" y="0"/>
                  </a:lnTo>
                  <a:close/>
                </a:path>
              </a:pathLst>
            </a:custGeom>
            <a:blipFill>
              <a:blip r:embed="rId2"/>
              <a:stretch>
                <a:fillRect/>
              </a:stretch>
            </a:blipFill>
          </p:spPr>
        </p:sp>
        <p:sp>
          <p:nvSpPr>
            <p:cNvPr id="7" name="Freeform 16">
              <a:extLst>
                <a:ext uri="{FF2B5EF4-FFF2-40B4-BE49-F238E27FC236}">
                  <a16:creationId xmlns:a16="http://schemas.microsoft.com/office/drawing/2014/main" id="{89D15FBC-D6C7-9DB3-CA79-0CE0BE5883F6}"/>
                </a:ext>
              </a:extLst>
            </p:cNvPr>
            <p:cNvSpPr/>
            <p:nvPr/>
          </p:nvSpPr>
          <p:spPr>
            <a:xfrm>
              <a:off x="0" y="0"/>
              <a:ext cx="1629051" cy="1629051"/>
            </a:xfrm>
            <a:custGeom>
              <a:avLst/>
              <a:gdLst/>
              <a:ahLst/>
              <a:cxnLst/>
              <a:rect l="l" t="t" r="r" b="b"/>
              <a:pathLst>
                <a:path w="1629051" h="1629051">
                  <a:moveTo>
                    <a:pt x="0" y="0"/>
                  </a:moveTo>
                  <a:lnTo>
                    <a:pt x="1629051" y="0"/>
                  </a:lnTo>
                  <a:lnTo>
                    <a:pt x="1629051" y="1629051"/>
                  </a:lnTo>
                  <a:lnTo>
                    <a:pt x="0" y="1629051"/>
                  </a:lnTo>
                  <a:lnTo>
                    <a:pt x="0" y="0"/>
                  </a:lnTo>
                  <a:close/>
                </a:path>
              </a:pathLst>
            </a:custGeom>
            <a:blipFill>
              <a:blip r:embed="rId3"/>
              <a:stretch>
                <a:fillRect/>
              </a:stretch>
            </a:blipFill>
          </p:spPr>
        </p:sp>
        <p:sp>
          <p:nvSpPr>
            <p:cNvPr id="8" name="Freeform 17">
              <a:extLst>
                <a:ext uri="{FF2B5EF4-FFF2-40B4-BE49-F238E27FC236}">
                  <a16:creationId xmlns:a16="http://schemas.microsoft.com/office/drawing/2014/main" id="{E0694494-41C5-51DF-5B62-1514E1E38302}"/>
                </a:ext>
              </a:extLst>
            </p:cNvPr>
            <p:cNvSpPr/>
            <p:nvPr/>
          </p:nvSpPr>
          <p:spPr>
            <a:xfrm>
              <a:off x="6399188" y="0"/>
              <a:ext cx="1438995" cy="1629051"/>
            </a:xfrm>
            <a:custGeom>
              <a:avLst/>
              <a:gdLst/>
              <a:ahLst/>
              <a:cxnLst/>
              <a:rect l="l" t="t" r="r" b="b"/>
              <a:pathLst>
                <a:path w="1438995" h="1629051">
                  <a:moveTo>
                    <a:pt x="0" y="0"/>
                  </a:moveTo>
                  <a:lnTo>
                    <a:pt x="1438995" y="0"/>
                  </a:lnTo>
                  <a:lnTo>
                    <a:pt x="1438995" y="1629051"/>
                  </a:lnTo>
                  <a:lnTo>
                    <a:pt x="0" y="1629051"/>
                  </a:lnTo>
                  <a:lnTo>
                    <a:pt x="0" y="0"/>
                  </a:lnTo>
                  <a:close/>
                </a:path>
              </a:pathLst>
            </a:custGeom>
            <a:blipFill>
              <a:blip r:embed="rId4"/>
              <a:stretch>
                <a:fillRect/>
              </a:stretch>
            </a:blipFill>
          </p:spPr>
        </p:sp>
      </p:grpSp>
      <p:sp>
        <p:nvSpPr>
          <p:cNvPr id="9" name="Freeform 5">
            <a:extLst>
              <a:ext uri="{FF2B5EF4-FFF2-40B4-BE49-F238E27FC236}">
                <a16:creationId xmlns:a16="http://schemas.microsoft.com/office/drawing/2014/main" id="{96622B79-769A-7E65-48E4-C2647143E70D}"/>
              </a:ext>
            </a:extLst>
          </p:cNvPr>
          <p:cNvSpPr/>
          <p:nvPr/>
        </p:nvSpPr>
        <p:spPr>
          <a:xfrm>
            <a:off x="4052468" y="1944660"/>
            <a:ext cx="3913237" cy="4857135"/>
          </a:xfrm>
          <a:custGeom>
            <a:avLst/>
            <a:gdLst/>
            <a:ahLst/>
            <a:cxnLst/>
            <a:rect l="l" t="t" r="r" b="b"/>
            <a:pathLst>
              <a:path w="7093362" h="7953564">
                <a:moveTo>
                  <a:pt x="0" y="0"/>
                </a:moveTo>
                <a:lnTo>
                  <a:pt x="7093362" y="0"/>
                </a:lnTo>
                <a:lnTo>
                  <a:pt x="7093362" y="7953564"/>
                </a:lnTo>
                <a:lnTo>
                  <a:pt x="0" y="7953564"/>
                </a:lnTo>
                <a:lnTo>
                  <a:pt x="0" y="0"/>
                </a:lnTo>
                <a:close/>
              </a:path>
            </a:pathLst>
          </a:custGeom>
          <a:blipFill>
            <a:blip r:embed="rId5"/>
            <a:stretch>
              <a:fillRect l="-437" r="-488" b="-430"/>
            </a:stretch>
          </a:blipFill>
        </p:spPr>
      </p:sp>
      <p:grpSp>
        <p:nvGrpSpPr>
          <p:cNvPr id="12" name="Group 11">
            <a:extLst>
              <a:ext uri="{FF2B5EF4-FFF2-40B4-BE49-F238E27FC236}">
                <a16:creationId xmlns:a16="http://schemas.microsoft.com/office/drawing/2014/main" id="{3BD687C7-9878-9E86-EDFA-E0E91E622E12}"/>
              </a:ext>
            </a:extLst>
          </p:cNvPr>
          <p:cNvGrpSpPr/>
          <p:nvPr/>
        </p:nvGrpSpPr>
        <p:grpSpPr>
          <a:xfrm>
            <a:off x="466731" y="2010368"/>
            <a:ext cx="11725269" cy="4769484"/>
            <a:chOff x="466731" y="2010368"/>
            <a:chExt cx="11815682" cy="4769484"/>
          </a:xfrm>
        </p:grpSpPr>
        <p:sp>
          <p:nvSpPr>
            <p:cNvPr id="13" name="TextBox 7">
              <a:extLst>
                <a:ext uri="{FF2B5EF4-FFF2-40B4-BE49-F238E27FC236}">
                  <a16:creationId xmlns:a16="http://schemas.microsoft.com/office/drawing/2014/main" id="{B76C2AC9-4067-A215-54B3-6FF25B6C9DC6}"/>
                </a:ext>
              </a:extLst>
            </p:cNvPr>
            <p:cNvSpPr txBox="1"/>
            <p:nvPr/>
          </p:nvSpPr>
          <p:spPr>
            <a:xfrm>
              <a:off x="466731" y="2010368"/>
              <a:ext cx="3479720" cy="1477328"/>
            </a:xfrm>
            <a:prstGeom prst="rect">
              <a:avLst/>
            </a:prstGeom>
          </p:spPr>
          <p:txBody>
            <a:bodyPr wrap="square" lIns="0" tIns="0" rIns="0" bIns="0" rtlCol="0" anchor="t">
              <a:spAutoFit/>
            </a:bodyPr>
            <a:lstStyle/>
            <a:p>
              <a:pPr algn="l">
                <a:spcBef>
                  <a:spcPct val="0"/>
                </a:spcBef>
              </a:pPr>
              <a:r>
                <a:rPr lang="en-US" sz="1600" b="1" dirty="0">
                  <a:ea typeface="Inter Bold"/>
                  <a:cs typeface="Inter Bold"/>
                  <a:sym typeface="Inter Bold"/>
                </a:rPr>
                <a:t>Upper Layer (Battery &amp; GPS):</a:t>
              </a:r>
            </a:p>
            <a:p>
              <a:pPr algn="l">
                <a:spcBef>
                  <a:spcPct val="0"/>
                </a:spcBef>
              </a:pPr>
              <a:r>
                <a:rPr lang="en-US" sz="1600" dirty="0">
                  <a:ea typeface="Inter"/>
                  <a:cs typeface="Inter"/>
                  <a:sym typeface="Inter"/>
                </a:rPr>
                <a:t>Battery placement near the propeller plane minimizes CG shift.</a:t>
              </a:r>
            </a:p>
            <a:p>
              <a:pPr algn="l">
                <a:spcBef>
                  <a:spcPct val="0"/>
                </a:spcBef>
              </a:pPr>
              <a:r>
                <a:rPr lang="en-US" sz="1600" dirty="0">
                  <a:ea typeface="Inter"/>
                  <a:cs typeface="Inter"/>
                  <a:sym typeface="Inter"/>
                </a:rPr>
                <a:t>GPS module sits atop this layer for an unobstructed sky view, enhancing positional accuracy.</a:t>
              </a:r>
            </a:p>
          </p:txBody>
        </p:sp>
        <p:sp>
          <p:nvSpPr>
            <p:cNvPr id="14" name="TextBox 8">
              <a:extLst>
                <a:ext uri="{FF2B5EF4-FFF2-40B4-BE49-F238E27FC236}">
                  <a16:creationId xmlns:a16="http://schemas.microsoft.com/office/drawing/2014/main" id="{66A6FE2F-4068-BEDD-9878-7CF991F3B342}"/>
                </a:ext>
              </a:extLst>
            </p:cNvPr>
            <p:cNvSpPr txBox="1"/>
            <p:nvPr/>
          </p:nvSpPr>
          <p:spPr>
            <a:xfrm>
              <a:off x="466732" y="4330357"/>
              <a:ext cx="3913238" cy="1969770"/>
            </a:xfrm>
            <a:prstGeom prst="rect">
              <a:avLst/>
            </a:prstGeom>
          </p:spPr>
          <p:txBody>
            <a:bodyPr wrap="square" lIns="0" tIns="0" rIns="0" bIns="0" rtlCol="0" anchor="t">
              <a:spAutoFit/>
            </a:bodyPr>
            <a:lstStyle/>
            <a:p>
              <a:pPr algn="l">
                <a:spcBef>
                  <a:spcPct val="0"/>
                </a:spcBef>
              </a:pPr>
              <a:r>
                <a:rPr lang="en-US" sz="1600" b="1" dirty="0">
                  <a:ea typeface="Inter Bold"/>
                  <a:cs typeface="Inter Bold"/>
                  <a:sym typeface="Inter Bold"/>
                </a:rPr>
                <a:t>Lower Layer (Payload Mechanism &amp; Camera):</a:t>
              </a:r>
            </a:p>
            <a:p>
              <a:pPr algn="l">
                <a:spcBef>
                  <a:spcPct val="0"/>
                </a:spcBef>
              </a:pPr>
              <a:r>
                <a:rPr lang="en-US" sz="1600" dirty="0">
                  <a:ea typeface="Inter"/>
                  <a:cs typeface="Inter"/>
                  <a:sym typeface="Inter"/>
                </a:rPr>
                <a:t>Payload release mechanism hangs below the CG to ensure clear drop paths without interfering with other systems.</a:t>
              </a:r>
            </a:p>
            <a:p>
              <a:pPr algn="l">
                <a:spcBef>
                  <a:spcPct val="0"/>
                </a:spcBef>
              </a:pPr>
              <a:r>
                <a:rPr lang="en-US" sz="1600" dirty="0">
                  <a:ea typeface="Inter"/>
                  <a:cs typeface="Inter"/>
                  <a:sym typeface="Inter"/>
                </a:rPr>
                <a:t>Camera mounted on this layer enjoys a low-vibration, clear field of view for real-time vision processing.</a:t>
              </a:r>
            </a:p>
          </p:txBody>
        </p:sp>
        <p:sp>
          <p:nvSpPr>
            <p:cNvPr id="15" name="TextBox 9">
              <a:extLst>
                <a:ext uri="{FF2B5EF4-FFF2-40B4-BE49-F238E27FC236}">
                  <a16:creationId xmlns:a16="http://schemas.microsoft.com/office/drawing/2014/main" id="{F4AB6BD9-1680-1DF3-6702-2368C7A1D7DE}"/>
                </a:ext>
              </a:extLst>
            </p:cNvPr>
            <p:cNvSpPr txBox="1"/>
            <p:nvPr/>
          </p:nvSpPr>
          <p:spPr>
            <a:xfrm>
              <a:off x="8139533" y="2010368"/>
              <a:ext cx="4142880" cy="1723549"/>
            </a:xfrm>
            <a:prstGeom prst="rect">
              <a:avLst/>
            </a:prstGeom>
          </p:spPr>
          <p:txBody>
            <a:bodyPr wrap="square" lIns="0" tIns="0" rIns="0" bIns="0" rtlCol="0" anchor="t">
              <a:spAutoFit/>
            </a:bodyPr>
            <a:lstStyle/>
            <a:p>
              <a:pPr algn="l">
                <a:spcBef>
                  <a:spcPct val="0"/>
                </a:spcBef>
              </a:pPr>
              <a:r>
                <a:rPr lang="en-US" sz="1600" b="1" dirty="0">
                  <a:ea typeface="Inter Bold"/>
                  <a:cs typeface="Inter Bold"/>
                  <a:sym typeface="Inter Bold"/>
                </a:rPr>
                <a:t>Middle Layer (Flight Controller, ESCs, Microcontroller):</a:t>
              </a:r>
            </a:p>
            <a:p>
              <a:pPr algn="l">
                <a:spcBef>
                  <a:spcPct val="0"/>
                </a:spcBef>
              </a:pPr>
              <a:r>
                <a:rPr lang="en-US" sz="1600" dirty="0">
                  <a:ea typeface="Inter"/>
                  <a:cs typeface="Inter"/>
                  <a:sym typeface="Inter"/>
                </a:rPr>
                <a:t>Flight controller centrally located at the CG to reduce rotational inertia.</a:t>
              </a:r>
            </a:p>
            <a:p>
              <a:pPr algn="l">
                <a:spcBef>
                  <a:spcPct val="0"/>
                </a:spcBef>
              </a:pPr>
              <a:r>
                <a:rPr lang="en-US" sz="1600" dirty="0">
                  <a:ea typeface="Inter"/>
                  <a:cs typeface="Inter"/>
                  <a:sym typeface="Inter"/>
                </a:rPr>
                <a:t>ESCs and microcontroller flank the controller, shortening wiring runs and isolating electrical noise.</a:t>
              </a:r>
            </a:p>
          </p:txBody>
        </p:sp>
        <p:sp>
          <p:nvSpPr>
            <p:cNvPr id="16" name="TextBox 10">
              <a:extLst>
                <a:ext uri="{FF2B5EF4-FFF2-40B4-BE49-F238E27FC236}">
                  <a16:creationId xmlns:a16="http://schemas.microsoft.com/office/drawing/2014/main" id="{147B580D-FDEC-D3E9-C586-C4C1A484CA9A}"/>
                </a:ext>
              </a:extLst>
            </p:cNvPr>
            <p:cNvSpPr txBox="1"/>
            <p:nvPr/>
          </p:nvSpPr>
          <p:spPr>
            <a:xfrm>
              <a:off x="7965705" y="4071418"/>
              <a:ext cx="4139382" cy="2708434"/>
            </a:xfrm>
            <a:prstGeom prst="rect">
              <a:avLst/>
            </a:prstGeom>
          </p:spPr>
          <p:txBody>
            <a:bodyPr wrap="square" lIns="0" tIns="0" rIns="0" bIns="0" rtlCol="0" anchor="t">
              <a:spAutoFit/>
            </a:bodyPr>
            <a:lstStyle/>
            <a:p>
              <a:pPr algn="l">
                <a:spcBef>
                  <a:spcPct val="0"/>
                </a:spcBef>
              </a:pPr>
              <a:r>
                <a:rPr lang="en-US" sz="1600" b="1" dirty="0">
                  <a:ea typeface="Inter Bold"/>
                  <a:cs typeface="Inter Bold"/>
                  <a:sym typeface="Inter Bold"/>
                </a:rPr>
                <a:t>Key Benefits:</a:t>
              </a:r>
            </a:p>
            <a:p>
              <a:pPr algn="l">
                <a:spcBef>
                  <a:spcPct val="0"/>
                </a:spcBef>
              </a:pPr>
              <a:r>
                <a:rPr lang="en-US" sz="1600" b="1" dirty="0">
                  <a:ea typeface="Inter"/>
                  <a:cs typeface="Inter"/>
                  <a:sym typeface="Inter"/>
                </a:rPr>
                <a:t>Stability</a:t>
              </a:r>
              <a:r>
                <a:rPr lang="en-US" sz="1600" dirty="0">
                  <a:ea typeface="Inter"/>
                  <a:cs typeface="Inter"/>
                  <a:sym typeface="Inter"/>
                </a:rPr>
                <a:t>: Centralized mass distribution around the CG yields balanced lift and responsive control.</a:t>
              </a:r>
            </a:p>
            <a:p>
              <a:pPr algn="l">
                <a:spcBef>
                  <a:spcPct val="0"/>
                </a:spcBef>
              </a:pPr>
              <a:r>
                <a:rPr lang="en-US" sz="1600" b="1" dirty="0">
                  <a:ea typeface="Inter"/>
                  <a:cs typeface="Inter"/>
                  <a:sym typeface="Inter"/>
                </a:rPr>
                <a:t>Modularity</a:t>
              </a:r>
              <a:r>
                <a:rPr lang="en-US" sz="1600" dirty="0">
                  <a:ea typeface="Inter"/>
                  <a:cs typeface="Inter"/>
                  <a:sym typeface="Inter"/>
                </a:rPr>
                <a:t>: Stacked decks allow straightforward integration of additional sensors or payloads without redesigning the entire frame.</a:t>
              </a:r>
            </a:p>
            <a:p>
              <a:pPr algn="l">
                <a:spcBef>
                  <a:spcPct val="0"/>
                </a:spcBef>
              </a:pPr>
              <a:r>
                <a:rPr lang="en-US" sz="1600" b="1" dirty="0">
                  <a:ea typeface="Inter"/>
                  <a:cs typeface="Inter"/>
                  <a:sym typeface="Inter"/>
                </a:rPr>
                <a:t>Protection</a:t>
              </a:r>
              <a:r>
                <a:rPr lang="en-US" sz="1600" dirty="0">
                  <a:ea typeface="Inter"/>
                  <a:cs typeface="Inter"/>
                  <a:sym typeface="Inter"/>
                </a:rPr>
                <a:t>: Sealed housings and ordering of electronics (battery above, sensitive controllers in the middle, payload below) safeguard components against dust, moisture, and mechanical shocks.</a:t>
              </a:r>
            </a:p>
          </p:txBody>
        </p:sp>
      </p:grpSp>
    </p:spTree>
    <p:extLst>
      <p:ext uri="{BB962C8B-B14F-4D97-AF65-F5344CB8AC3E}">
        <p14:creationId xmlns:p14="http://schemas.microsoft.com/office/powerpoint/2010/main" val="29335773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86421-A26D-6EAA-A9B0-07C062AD1290}"/>
              </a:ext>
            </a:extLst>
          </p:cNvPr>
          <p:cNvSpPr>
            <a:spLocks noGrp="1"/>
          </p:cNvSpPr>
          <p:nvPr>
            <p:ph type="title"/>
          </p:nvPr>
        </p:nvSpPr>
        <p:spPr/>
        <p:txBody>
          <a:bodyPr/>
          <a:lstStyle/>
          <a:p>
            <a:r>
              <a:rPr lang="en-US" b="1" dirty="0"/>
              <a:t>Mechanical</a:t>
            </a:r>
            <a:r>
              <a:rPr lang="en-US" dirty="0"/>
              <a:t> </a:t>
            </a:r>
            <a:r>
              <a:rPr lang="en-US" b="1" dirty="0"/>
              <a:t>design</a:t>
            </a:r>
          </a:p>
        </p:txBody>
      </p:sp>
      <p:grpSp>
        <p:nvGrpSpPr>
          <p:cNvPr id="3" name="Group 14">
            <a:extLst>
              <a:ext uri="{FF2B5EF4-FFF2-40B4-BE49-F238E27FC236}">
                <a16:creationId xmlns:a16="http://schemas.microsoft.com/office/drawing/2014/main" id="{3E86B42E-E5B4-4EC1-FC99-9A433AEBCC0F}"/>
              </a:ext>
            </a:extLst>
          </p:cNvPr>
          <p:cNvGrpSpPr/>
          <p:nvPr/>
        </p:nvGrpSpPr>
        <p:grpSpPr>
          <a:xfrm>
            <a:off x="9658537" y="11884"/>
            <a:ext cx="2050862" cy="429876"/>
            <a:chOff x="0" y="0"/>
            <a:chExt cx="7838183" cy="1629051"/>
          </a:xfrm>
        </p:grpSpPr>
        <p:sp>
          <p:nvSpPr>
            <p:cNvPr id="4" name="Freeform 15">
              <a:extLst>
                <a:ext uri="{FF2B5EF4-FFF2-40B4-BE49-F238E27FC236}">
                  <a16:creationId xmlns:a16="http://schemas.microsoft.com/office/drawing/2014/main" id="{9A7702C8-7C50-BF25-625E-5610A24B263E}"/>
                </a:ext>
              </a:extLst>
            </p:cNvPr>
            <p:cNvSpPr/>
            <p:nvPr/>
          </p:nvSpPr>
          <p:spPr>
            <a:xfrm>
              <a:off x="2068432" y="472763"/>
              <a:ext cx="4016856" cy="1096665"/>
            </a:xfrm>
            <a:custGeom>
              <a:avLst/>
              <a:gdLst/>
              <a:ahLst/>
              <a:cxnLst/>
              <a:rect l="l" t="t" r="r" b="b"/>
              <a:pathLst>
                <a:path w="4016856" h="1096665">
                  <a:moveTo>
                    <a:pt x="0" y="0"/>
                  </a:moveTo>
                  <a:lnTo>
                    <a:pt x="4016856" y="0"/>
                  </a:lnTo>
                  <a:lnTo>
                    <a:pt x="4016856" y="1096666"/>
                  </a:lnTo>
                  <a:lnTo>
                    <a:pt x="0" y="1096666"/>
                  </a:lnTo>
                  <a:lnTo>
                    <a:pt x="0" y="0"/>
                  </a:lnTo>
                  <a:close/>
                </a:path>
              </a:pathLst>
            </a:custGeom>
            <a:blipFill>
              <a:blip r:embed="rId2"/>
              <a:stretch>
                <a:fillRect/>
              </a:stretch>
            </a:blipFill>
          </p:spPr>
        </p:sp>
        <p:sp>
          <p:nvSpPr>
            <p:cNvPr id="5" name="Freeform 16">
              <a:extLst>
                <a:ext uri="{FF2B5EF4-FFF2-40B4-BE49-F238E27FC236}">
                  <a16:creationId xmlns:a16="http://schemas.microsoft.com/office/drawing/2014/main" id="{E2712B54-0272-378E-9FAF-601D2D4CCAFD}"/>
                </a:ext>
              </a:extLst>
            </p:cNvPr>
            <p:cNvSpPr/>
            <p:nvPr/>
          </p:nvSpPr>
          <p:spPr>
            <a:xfrm>
              <a:off x="0" y="0"/>
              <a:ext cx="1629051" cy="1629051"/>
            </a:xfrm>
            <a:custGeom>
              <a:avLst/>
              <a:gdLst/>
              <a:ahLst/>
              <a:cxnLst/>
              <a:rect l="l" t="t" r="r" b="b"/>
              <a:pathLst>
                <a:path w="1629051" h="1629051">
                  <a:moveTo>
                    <a:pt x="0" y="0"/>
                  </a:moveTo>
                  <a:lnTo>
                    <a:pt x="1629051" y="0"/>
                  </a:lnTo>
                  <a:lnTo>
                    <a:pt x="1629051" y="1629051"/>
                  </a:lnTo>
                  <a:lnTo>
                    <a:pt x="0" y="1629051"/>
                  </a:lnTo>
                  <a:lnTo>
                    <a:pt x="0" y="0"/>
                  </a:lnTo>
                  <a:close/>
                </a:path>
              </a:pathLst>
            </a:custGeom>
            <a:blipFill>
              <a:blip r:embed="rId3"/>
              <a:stretch>
                <a:fillRect/>
              </a:stretch>
            </a:blipFill>
          </p:spPr>
        </p:sp>
        <p:sp>
          <p:nvSpPr>
            <p:cNvPr id="6" name="Freeform 17">
              <a:extLst>
                <a:ext uri="{FF2B5EF4-FFF2-40B4-BE49-F238E27FC236}">
                  <a16:creationId xmlns:a16="http://schemas.microsoft.com/office/drawing/2014/main" id="{CBF2FF56-A521-8E18-4879-318FCDD8BE6C}"/>
                </a:ext>
              </a:extLst>
            </p:cNvPr>
            <p:cNvSpPr/>
            <p:nvPr/>
          </p:nvSpPr>
          <p:spPr>
            <a:xfrm>
              <a:off x="6399188" y="0"/>
              <a:ext cx="1438995" cy="1629051"/>
            </a:xfrm>
            <a:custGeom>
              <a:avLst/>
              <a:gdLst/>
              <a:ahLst/>
              <a:cxnLst/>
              <a:rect l="l" t="t" r="r" b="b"/>
              <a:pathLst>
                <a:path w="1438995" h="1629051">
                  <a:moveTo>
                    <a:pt x="0" y="0"/>
                  </a:moveTo>
                  <a:lnTo>
                    <a:pt x="1438995" y="0"/>
                  </a:lnTo>
                  <a:lnTo>
                    <a:pt x="1438995" y="1629051"/>
                  </a:lnTo>
                  <a:lnTo>
                    <a:pt x="0" y="1629051"/>
                  </a:lnTo>
                  <a:lnTo>
                    <a:pt x="0" y="0"/>
                  </a:lnTo>
                  <a:close/>
                </a:path>
              </a:pathLst>
            </a:custGeom>
            <a:blipFill>
              <a:blip r:embed="rId4"/>
              <a:stretch>
                <a:fillRect/>
              </a:stretch>
            </a:blipFill>
          </p:spPr>
        </p:sp>
      </p:grpSp>
      <p:grpSp>
        <p:nvGrpSpPr>
          <p:cNvPr id="7" name="Group 2">
            <a:extLst>
              <a:ext uri="{FF2B5EF4-FFF2-40B4-BE49-F238E27FC236}">
                <a16:creationId xmlns:a16="http://schemas.microsoft.com/office/drawing/2014/main" id="{3B0ACF6C-7FDE-397D-D5D9-8A8B96D66A15}"/>
              </a:ext>
            </a:extLst>
          </p:cNvPr>
          <p:cNvGrpSpPr/>
          <p:nvPr/>
        </p:nvGrpSpPr>
        <p:grpSpPr>
          <a:xfrm>
            <a:off x="232241" y="2005888"/>
            <a:ext cx="3242479" cy="4452053"/>
            <a:chOff x="0" y="0"/>
            <a:chExt cx="812800" cy="1001291"/>
          </a:xfrm>
        </p:grpSpPr>
        <p:sp>
          <p:nvSpPr>
            <p:cNvPr id="8" name="Freeform 3">
              <a:extLst>
                <a:ext uri="{FF2B5EF4-FFF2-40B4-BE49-F238E27FC236}">
                  <a16:creationId xmlns:a16="http://schemas.microsoft.com/office/drawing/2014/main" id="{485901A5-A000-42B2-ED98-2A0A7AB2058E}"/>
                </a:ext>
              </a:extLst>
            </p:cNvPr>
            <p:cNvSpPr/>
            <p:nvPr/>
          </p:nvSpPr>
          <p:spPr>
            <a:xfrm>
              <a:off x="0" y="0"/>
              <a:ext cx="812800" cy="1001291"/>
            </a:xfrm>
            <a:custGeom>
              <a:avLst/>
              <a:gdLst/>
              <a:ahLst/>
              <a:cxnLst/>
              <a:rect l="l" t="t" r="r" b="b"/>
              <a:pathLst>
                <a:path w="812800" h="1001291">
                  <a:moveTo>
                    <a:pt x="0" y="0"/>
                  </a:moveTo>
                  <a:lnTo>
                    <a:pt x="812800" y="0"/>
                  </a:lnTo>
                  <a:lnTo>
                    <a:pt x="812800" y="1001291"/>
                  </a:lnTo>
                  <a:lnTo>
                    <a:pt x="0" y="1001291"/>
                  </a:lnTo>
                  <a:close/>
                </a:path>
              </a:pathLst>
            </a:custGeom>
            <a:blipFill>
              <a:blip r:embed="rId5"/>
              <a:stretch>
                <a:fillRect l="-1705" r="-1705"/>
              </a:stretch>
            </a:blipFill>
          </p:spPr>
        </p:sp>
      </p:grpSp>
      <p:sp>
        <p:nvSpPr>
          <p:cNvPr id="9" name="Freeform 4">
            <a:extLst>
              <a:ext uri="{FF2B5EF4-FFF2-40B4-BE49-F238E27FC236}">
                <a16:creationId xmlns:a16="http://schemas.microsoft.com/office/drawing/2014/main" id="{01664529-822C-6ACD-57BD-5D7CD025AD51}"/>
              </a:ext>
            </a:extLst>
          </p:cNvPr>
          <p:cNvSpPr/>
          <p:nvPr/>
        </p:nvSpPr>
        <p:spPr>
          <a:xfrm>
            <a:off x="2958277" y="1897332"/>
            <a:ext cx="516443" cy="463475"/>
          </a:xfrm>
          <a:custGeom>
            <a:avLst/>
            <a:gdLst/>
            <a:ahLst/>
            <a:cxnLst/>
            <a:rect l="l" t="t" r="r" b="b"/>
            <a:pathLst>
              <a:path w="964426" h="647730">
                <a:moveTo>
                  <a:pt x="0" y="0"/>
                </a:moveTo>
                <a:lnTo>
                  <a:pt x="964427" y="0"/>
                </a:lnTo>
                <a:lnTo>
                  <a:pt x="964427" y="647730"/>
                </a:lnTo>
                <a:lnTo>
                  <a:pt x="0" y="64773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5">
            <a:extLst>
              <a:ext uri="{FF2B5EF4-FFF2-40B4-BE49-F238E27FC236}">
                <a16:creationId xmlns:a16="http://schemas.microsoft.com/office/drawing/2014/main" id="{710CFDA0-0396-79DD-9529-AC9812942B21}"/>
              </a:ext>
            </a:extLst>
          </p:cNvPr>
          <p:cNvSpPr/>
          <p:nvPr/>
        </p:nvSpPr>
        <p:spPr>
          <a:xfrm>
            <a:off x="2924215" y="2648705"/>
            <a:ext cx="531751" cy="364674"/>
          </a:xfrm>
          <a:custGeom>
            <a:avLst/>
            <a:gdLst/>
            <a:ahLst/>
            <a:cxnLst/>
            <a:rect l="l" t="t" r="r" b="b"/>
            <a:pathLst>
              <a:path w="860030" h="577615">
                <a:moveTo>
                  <a:pt x="0" y="0"/>
                </a:moveTo>
                <a:lnTo>
                  <a:pt x="860030" y="0"/>
                </a:lnTo>
                <a:lnTo>
                  <a:pt x="860030" y="577615"/>
                </a:lnTo>
                <a:lnTo>
                  <a:pt x="0" y="57761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6">
            <a:extLst>
              <a:ext uri="{FF2B5EF4-FFF2-40B4-BE49-F238E27FC236}">
                <a16:creationId xmlns:a16="http://schemas.microsoft.com/office/drawing/2014/main" id="{D44EE137-FC2D-7D5B-EEAF-B80F4B2A9463}"/>
              </a:ext>
            </a:extLst>
          </p:cNvPr>
          <p:cNvSpPr/>
          <p:nvPr/>
        </p:nvSpPr>
        <p:spPr>
          <a:xfrm>
            <a:off x="2369190" y="5928402"/>
            <a:ext cx="555025" cy="399880"/>
          </a:xfrm>
          <a:custGeom>
            <a:avLst/>
            <a:gdLst/>
            <a:ahLst/>
            <a:cxnLst/>
            <a:rect l="l" t="t" r="r" b="b"/>
            <a:pathLst>
              <a:path w="1247779" h="838035">
                <a:moveTo>
                  <a:pt x="0" y="0"/>
                </a:moveTo>
                <a:lnTo>
                  <a:pt x="1247779" y="0"/>
                </a:lnTo>
                <a:lnTo>
                  <a:pt x="1247779" y="838035"/>
                </a:lnTo>
                <a:lnTo>
                  <a:pt x="0" y="83803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AutoShape 7">
            <a:extLst>
              <a:ext uri="{FF2B5EF4-FFF2-40B4-BE49-F238E27FC236}">
                <a16:creationId xmlns:a16="http://schemas.microsoft.com/office/drawing/2014/main" id="{B29A36D0-D59F-E5C1-C37B-373459006B6B}"/>
              </a:ext>
            </a:extLst>
          </p:cNvPr>
          <p:cNvSpPr/>
          <p:nvPr/>
        </p:nvSpPr>
        <p:spPr>
          <a:xfrm flipV="1">
            <a:off x="3474720" y="2134321"/>
            <a:ext cx="621137" cy="11941"/>
          </a:xfrm>
          <a:prstGeom prst="line">
            <a:avLst/>
          </a:prstGeom>
          <a:ln w="38100" cap="flat">
            <a:solidFill>
              <a:srgbClr val="000000"/>
            </a:solidFill>
            <a:prstDash val="solid"/>
            <a:headEnd type="none" w="sm" len="sm"/>
            <a:tailEnd type="triangle" w="lg" len="med"/>
          </a:ln>
        </p:spPr>
      </p:sp>
      <p:sp>
        <p:nvSpPr>
          <p:cNvPr id="13" name="AutoShape 8">
            <a:extLst>
              <a:ext uri="{FF2B5EF4-FFF2-40B4-BE49-F238E27FC236}">
                <a16:creationId xmlns:a16="http://schemas.microsoft.com/office/drawing/2014/main" id="{F695BA08-F063-942C-853D-6EEB5CC9363F}"/>
              </a:ext>
            </a:extLst>
          </p:cNvPr>
          <p:cNvSpPr/>
          <p:nvPr/>
        </p:nvSpPr>
        <p:spPr>
          <a:xfrm>
            <a:off x="3580742" y="3608431"/>
            <a:ext cx="515116" cy="0"/>
          </a:xfrm>
          <a:prstGeom prst="line">
            <a:avLst/>
          </a:prstGeom>
          <a:ln w="38100" cap="flat">
            <a:solidFill>
              <a:srgbClr val="000000"/>
            </a:solidFill>
            <a:prstDash val="solid"/>
            <a:headEnd type="none" w="sm" len="sm"/>
            <a:tailEnd type="triangle" w="lg" len="med"/>
          </a:ln>
        </p:spPr>
      </p:sp>
      <p:sp>
        <p:nvSpPr>
          <p:cNvPr id="14" name="AutoShape 9">
            <a:extLst>
              <a:ext uri="{FF2B5EF4-FFF2-40B4-BE49-F238E27FC236}">
                <a16:creationId xmlns:a16="http://schemas.microsoft.com/office/drawing/2014/main" id="{CC270DB1-61C8-DD89-96A1-C5E172737CB3}"/>
              </a:ext>
            </a:extLst>
          </p:cNvPr>
          <p:cNvSpPr/>
          <p:nvPr/>
        </p:nvSpPr>
        <p:spPr>
          <a:xfrm>
            <a:off x="3322519" y="2982466"/>
            <a:ext cx="258222" cy="625964"/>
          </a:xfrm>
          <a:prstGeom prst="line">
            <a:avLst/>
          </a:prstGeom>
          <a:ln w="38100" cap="flat">
            <a:solidFill>
              <a:srgbClr val="000000"/>
            </a:solidFill>
            <a:prstDash val="solid"/>
            <a:headEnd type="none" w="sm" len="sm"/>
            <a:tailEnd type="none" w="sm" len="sm"/>
          </a:ln>
        </p:spPr>
      </p:sp>
      <p:sp>
        <p:nvSpPr>
          <p:cNvPr id="18" name="AutoShape 13">
            <a:extLst>
              <a:ext uri="{FF2B5EF4-FFF2-40B4-BE49-F238E27FC236}">
                <a16:creationId xmlns:a16="http://schemas.microsoft.com/office/drawing/2014/main" id="{7E93C2F7-CA4B-6F20-92AA-E2E43B2F2698}"/>
              </a:ext>
            </a:extLst>
          </p:cNvPr>
          <p:cNvSpPr/>
          <p:nvPr/>
        </p:nvSpPr>
        <p:spPr>
          <a:xfrm>
            <a:off x="2924215" y="6128342"/>
            <a:ext cx="1171642" cy="0"/>
          </a:xfrm>
          <a:prstGeom prst="line">
            <a:avLst/>
          </a:prstGeom>
          <a:ln w="38100" cap="flat">
            <a:solidFill>
              <a:srgbClr val="000000"/>
            </a:solidFill>
            <a:prstDash val="solid"/>
            <a:headEnd type="none" w="sm" len="sm"/>
            <a:tailEnd type="arrow" w="med" len="sm"/>
          </a:ln>
        </p:spPr>
      </p:sp>
      <p:grpSp>
        <p:nvGrpSpPr>
          <p:cNvPr id="23" name="Group 22">
            <a:extLst>
              <a:ext uri="{FF2B5EF4-FFF2-40B4-BE49-F238E27FC236}">
                <a16:creationId xmlns:a16="http://schemas.microsoft.com/office/drawing/2014/main" id="{F6E2BAA5-FE90-5E4F-8879-5A32BA5ED4A3}"/>
              </a:ext>
            </a:extLst>
          </p:cNvPr>
          <p:cNvGrpSpPr/>
          <p:nvPr/>
        </p:nvGrpSpPr>
        <p:grpSpPr>
          <a:xfrm>
            <a:off x="4227014" y="1692468"/>
            <a:ext cx="7447661" cy="1510037"/>
            <a:chOff x="7007572" y="388437"/>
            <a:chExt cx="11280428" cy="2200545"/>
          </a:xfrm>
        </p:grpSpPr>
        <p:sp>
          <p:nvSpPr>
            <p:cNvPr id="19" name="TextBox 14">
              <a:extLst>
                <a:ext uri="{FF2B5EF4-FFF2-40B4-BE49-F238E27FC236}">
                  <a16:creationId xmlns:a16="http://schemas.microsoft.com/office/drawing/2014/main" id="{A47D7857-5D6B-C747-92DE-1C77D467549A}"/>
                </a:ext>
              </a:extLst>
            </p:cNvPr>
            <p:cNvSpPr txBox="1"/>
            <p:nvPr/>
          </p:nvSpPr>
          <p:spPr>
            <a:xfrm>
              <a:off x="7007572" y="1019175"/>
              <a:ext cx="11280428" cy="1569807"/>
            </a:xfrm>
            <a:prstGeom prst="rect">
              <a:avLst/>
            </a:prstGeom>
          </p:spPr>
          <p:txBody>
            <a:bodyPr lIns="0" tIns="0" rIns="0" bIns="0" rtlCol="0" anchor="t">
              <a:spAutoFit/>
            </a:bodyPr>
            <a:lstStyle/>
            <a:p>
              <a:pPr algn="just">
                <a:spcBef>
                  <a:spcPct val="0"/>
                </a:spcBef>
              </a:pPr>
              <a:r>
                <a:rPr lang="en-US" sz="1400" dirty="0">
                  <a:solidFill>
                    <a:srgbClr val="000000"/>
                  </a:solidFill>
                  <a:ea typeface="Canva Sans"/>
                  <a:cs typeface="Canva Sans"/>
                  <a:sym typeface="Canva Sans"/>
                </a:rPr>
                <a:t>The motor mounts are constructed from </a:t>
              </a:r>
              <a:r>
                <a:rPr lang="en-US" sz="1400" b="1" dirty="0">
                  <a:solidFill>
                    <a:srgbClr val="000000"/>
                  </a:solidFill>
                  <a:ea typeface="Canva Sans"/>
                  <a:cs typeface="Canva Sans"/>
                  <a:sym typeface="Canva Sans"/>
                </a:rPr>
                <a:t>carbon</a:t>
              </a:r>
              <a:r>
                <a:rPr lang="en-US" sz="1400" dirty="0">
                  <a:solidFill>
                    <a:srgbClr val="000000"/>
                  </a:solidFill>
                  <a:ea typeface="Canva Sans"/>
                  <a:cs typeface="Canva Sans"/>
                  <a:sym typeface="Canva Sans"/>
                </a:rPr>
                <a:t> </a:t>
              </a:r>
              <a:r>
                <a:rPr lang="en-US" sz="1400" b="1" dirty="0">
                  <a:solidFill>
                    <a:srgbClr val="000000"/>
                  </a:solidFill>
                  <a:ea typeface="Canva Sans"/>
                  <a:cs typeface="Canva Sans"/>
                  <a:sym typeface="Canva Sans"/>
                </a:rPr>
                <a:t>fiber</a:t>
              </a:r>
              <a:r>
                <a:rPr lang="en-US" sz="1400" dirty="0">
                  <a:solidFill>
                    <a:srgbClr val="000000"/>
                  </a:solidFill>
                  <a:ea typeface="Canva Sans"/>
                  <a:cs typeface="Canva Sans"/>
                  <a:sym typeface="Canva Sans"/>
                </a:rPr>
                <a:t> to ensure high stiffness and minimal weight, effectively transmitting high-RPM torque and thrust without adding mass. Their </a:t>
              </a:r>
              <a:r>
                <a:rPr lang="en-US" sz="1400" b="1" dirty="0">
                  <a:solidFill>
                    <a:srgbClr val="000000"/>
                  </a:solidFill>
                  <a:ea typeface="Canva Sans"/>
                  <a:cs typeface="Canva Sans"/>
                  <a:sym typeface="Canva Sans"/>
                </a:rPr>
                <a:t>dimensional stability </a:t>
              </a:r>
              <a:r>
                <a:rPr lang="en-US" sz="1400" dirty="0">
                  <a:solidFill>
                    <a:srgbClr val="000000"/>
                  </a:solidFill>
                  <a:ea typeface="Canva Sans"/>
                  <a:cs typeface="Canva Sans"/>
                  <a:sym typeface="Canva Sans"/>
                </a:rPr>
                <a:t>under thermal and mechanical stress maintains precise motor alignment, reducing vibrations and preventing imbalances. Integrated vibration damping enhances sensor performance by isolating motor oscillations from the avionics</a:t>
              </a:r>
            </a:p>
          </p:txBody>
        </p:sp>
        <p:sp>
          <p:nvSpPr>
            <p:cNvPr id="20" name="TextBox 15">
              <a:extLst>
                <a:ext uri="{FF2B5EF4-FFF2-40B4-BE49-F238E27FC236}">
                  <a16:creationId xmlns:a16="http://schemas.microsoft.com/office/drawing/2014/main" id="{0944F758-4A51-B85F-CB43-F5E25B97345A}"/>
                </a:ext>
              </a:extLst>
            </p:cNvPr>
            <p:cNvSpPr txBox="1"/>
            <p:nvPr/>
          </p:nvSpPr>
          <p:spPr>
            <a:xfrm>
              <a:off x="7007572" y="388437"/>
              <a:ext cx="1967643" cy="660069"/>
            </a:xfrm>
            <a:prstGeom prst="rect">
              <a:avLst/>
            </a:prstGeom>
          </p:spPr>
          <p:txBody>
            <a:bodyPr wrap="square" lIns="0" tIns="0" rIns="0" bIns="0" rtlCol="0" anchor="t">
              <a:spAutoFit/>
            </a:bodyPr>
            <a:lstStyle/>
            <a:p>
              <a:pPr>
                <a:lnSpc>
                  <a:spcPts val="4200"/>
                </a:lnSpc>
              </a:pPr>
              <a:r>
                <a:rPr lang="en-US" sz="1400" b="1" dirty="0">
                  <a:solidFill>
                    <a:srgbClr val="000000"/>
                  </a:solidFill>
                  <a:ea typeface="Canva Sans Bold"/>
                  <a:cs typeface="Canva Sans Bold"/>
                  <a:sym typeface="Canva Sans Bold"/>
                </a:rPr>
                <a:t>Motor Mount</a:t>
              </a:r>
            </a:p>
          </p:txBody>
        </p:sp>
      </p:grpSp>
      <p:grpSp>
        <p:nvGrpSpPr>
          <p:cNvPr id="24" name="Group 23">
            <a:extLst>
              <a:ext uri="{FF2B5EF4-FFF2-40B4-BE49-F238E27FC236}">
                <a16:creationId xmlns:a16="http://schemas.microsoft.com/office/drawing/2014/main" id="{55868E82-C115-FB97-9B73-789E1D3E397F}"/>
              </a:ext>
            </a:extLst>
          </p:cNvPr>
          <p:cNvGrpSpPr/>
          <p:nvPr/>
        </p:nvGrpSpPr>
        <p:grpSpPr>
          <a:xfrm>
            <a:off x="4234273" y="3295448"/>
            <a:ext cx="7332906" cy="1539161"/>
            <a:chOff x="7007572" y="4027273"/>
            <a:chExt cx="11022224" cy="1200754"/>
          </a:xfrm>
        </p:grpSpPr>
        <p:sp>
          <p:nvSpPr>
            <p:cNvPr id="15" name="TextBox 10">
              <a:extLst>
                <a:ext uri="{FF2B5EF4-FFF2-40B4-BE49-F238E27FC236}">
                  <a16:creationId xmlns:a16="http://schemas.microsoft.com/office/drawing/2014/main" id="{2CEB9160-4FF8-1E4E-3B95-4A5CF0AEFCD2}"/>
                </a:ext>
              </a:extLst>
            </p:cNvPr>
            <p:cNvSpPr txBox="1"/>
            <p:nvPr/>
          </p:nvSpPr>
          <p:spPr>
            <a:xfrm>
              <a:off x="7007572" y="4219575"/>
              <a:ext cx="11022224" cy="1008452"/>
            </a:xfrm>
            <a:prstGeom prst="rect">
              <a:avLst/>
            </a:prstGeom>
          </p:spPr>
          <p:txBody>
            <a:bodyPr lIns="0" tIns="0" rIns="0" bIns="0" rtlCol="0" anchor="t">
              <a:spAutoFit/>
            </a:bodyPr>
            <a:lstStyle/>
            <a:p>
              <a:pPr algn="just">
                <a:spcBef>
                  <a:spcPct val="0"/>
                </a:spcBef>
              </a:pPr>
              <a:r>
                <a:rPr lang="en-US" sz="1400" dirty="0">
                  <a:solidFill>
                    <a:srgbClr val="000000"/>
                  </a:solidFill>
                  <a:ea typeface="Canva Sans"/>
                  <a:cs typeface="Canva Sans"/>
                  <a:sym typeface="Canva Sans"/>
                </a:rPr>
                <a:t>The rotor arms are designed using </a:t>
              </a:r>
              <a:r>
                <a:rPr lang="en-US" sz="1400" b="1" dirty="0">
                  <a:solidFill>
                    <a:srgbClr val="000000"/>
                  </a:solidFill>
                  <a:ea typeface="Canva Sans"/>
                  <a:cs typeface="Canva Sans"/>
                  <a:sym typeface="Canva Sans"/>
                </a:rPr>
                <a:t>carbon</a:t>
              </a:r>
              <a:r>
                <a:rPr lang="en-US" sz="1400" dirty="0">
                  <a:solidFill>
                    <a:srgbClr val="000000"/>
                  </a:solidFill>
                  <a:ea typeface="Canva Sans"/>
                  <a:cs typeface="Canva Sans"/>
                  <a:sym typeface="Canva Sans"/>
                </a:rPr>
                <a:t> </a:t>
              </a:r>
              <a:r>
                <a:rPr lang="en-US" sz="1400" b="1" dirty="0">
                  <a:solidFill>
                    <a:srgbClr val="000000"/>
                  </a:solidFill>
                  <a:ea typeface="Canva Sans"/>
                  <a:cs typeface="Canva Sans"/>
                  <a:sym typeface="Canva Sans"/>
                </a:rPr>
                <a:t>fiber</a:t>
              </a:r>
              <a:r>
                <a:rPr lang="en-US" sz="1400" dirty="0">
                  <a:solidFill>
                    <a:srgbClr val="000000"/>
                  </a:solidFill>
                  <a:ea typeface="Canva Sans"/>
                  <a:cs typeface="Canva Sans"/>
                  <a:sym typeface="Canva Sans"/>
                </a:rPr>
                <a:t> for a high strength-to-weight ratio, providing stiffness to prevent bending during flight. Their </a:t>
              </a:r>
              <a:r>
                <a:rPr lang="en-US" sz="1400" b="1" dirty="0">
                  <a:solidFill>
                    <a:srgbClr val="000000"/>
                  </a:solidFill>
                  <a:ea typeface="Canva Sans"/>
                  <a:cs typeface="Canva Sans"/>
                  <a:sym typeface="Canva Sans"/>
                </a:rPr>
                <a:t>tubular L-shaped structure </a:t>
              </a:r>
              <a:r>
                <a:rPr lang="en-US" sz="1400" dirty="0">
                  <a:solidFill>
                    <a:srgbClr val="000000"/>
                  </a:solidFill>
                  <a:ea typeface="Canva Sans"/>
                  <a:cs typeface="Canva Sans"/>
                  <a:sym typeface="Canva Sans"/>
                </a:rPr>
                <a:t>ensures rigidity with minimal weight. The upward extension allows for </a:t>
              </a:r>
              <a:r>
                <a:rPr lang="en-US" sz="1400" b="1" dirty="0">
                  <a:solidFill>
                    <a:srgbClr val="000000"/>
                  </a:solidFill>
                  <a:ea typeface="Canva Sans"/>
                  <a:cs typeface="Canva Sans"/>
                  <a:sym typeface="Canva Sans"/>
                </a:rPr>
                <a:t>larger propellers to enhance thrust</a:t>
              </a:r>
              <a:r>
                <a:rPr lang="en-US" sz="1400" dirty="0">
                  <a:solidFill>
                    <a:srgbClr val="000000"/>
                  </a:solidFill>
                  <a:ea typeface="Canva Sans"/>
                  <a:cs typeface="Canva Sans"/>
                  <a:sym typeface="Canva Sans"/>
                </a:rPr>
                <a:t>, offers clearance for wiring protection, and maintains an unobstructed camera view. The lightweight design reduces rotational inertia, improving flight responsiveness and battery efficiency, while excellent fatigue and environmental resistance ensure long-term durability.</a:t>
              </a:r>
            </a:p>
          </p:txBody>
        </p:sp>
        <p:sp>
          <p:nvSpPr>
            <p:cNvPr id="21" name="TextBox 16">
              <a:extLst>
                <a:ext uri="{FF2B5EF4-FFF2-40B4-BE49-F238E27FC236}">
                  <a16:creationId xmlns:a16="http://schemas.microsoft.com/office/drawing/2014/main" id="{F5F9AF62-F8BC-EB07-BB5F-745510394A4D}"/>
                </a:ext>
              </a:extLst>
            </p:cNvPr>
            <p:cNvSpPr txBox="1"/>
            <p:nvPr/>
          </p:nvSpPr>
          <p:spPr>
            <a:xfrm>
              <a:off x="7007572" y="4027273"/>
              <a:ext cx="1808331" cy="168075"/>
            </a:xfrm>
            <a:prstGeom prst="rect">
              <a:avLst/>
            </a:prstGeom>
          </p:spPr>
          <p:txBody>
            <a:bodyPr wrap="square" lIns="0" tIns="0" rIns="0" bIns="0" rtlCol="0" anchor="t">
              <a:spAutoFit/>
            </a:bodyPr>
            <a:lstStyle/>
            <a:p>
              <a:r>
                <a:rPr lang="en-US" sz="1400" b="1" dirty="0">
                  <a:solidFill>
                    <a:srgbClr val="000000"/>
                  </a:solidFill>
                  <a:ea typeface="Canva Sans Bold"/>
                  <a:cs typeface="Canva Sans Bold"/>
                  <a:sym typeface="Canva Sans Bold"/>
                </a:rPr>
                <a:t>Rotor Arm</a:t>
              </a:r>
            </a:p>
          </p:txBody>
        </p:sp>
      </p:grpSp>
      <p:grpSp>
        <p:nvGrpSpPr>
          <p:cNvPr id="25" name="Group 24">
            <a:extLst>
              <a:ext uri="{FF2B5EF4-FFF2-40B4-BE49-F238E27FC236}">
                <a16:creationId xmlns:a16="http://schemas.microsoft.com/office/drawing/2014/main" id="{C9636DD0-1497-9601-BE7F-633B60AC283B}"/>
              </a:ext>
            </a:extLst>
          </p:cNvPr>
          <p:cNvGrpSpPr/>
          <p:nvPr/>
        </p:nvGrpSpPr>
        <p:grpSpPr>
          <a:xfrm>
            <a:off x="4095857" y="5082296"/>
            <a:ext cx="7471322" cy="1492601"/>
            <a:chOff x="6215409" y="6919084"/>
            <a:chExt cx="11814388" cy="1463873"/>
          </a:xfrm>
        </p:grpSpPr>
        <p:sp>
          <p:nvSpPr>
            <p:cNvPr id="16" name="TextBox 11">
              <a:extLst>
                <a:ext uri="{FF2B5EF4-FFF2-40B4-BE49-F238E27FC236}">
                  <a16:creationId xmlns:a16="http://schemas.microsoft.com/office/drawing/2014/main" id="{9C880446-652D-A3FF-0A70-D235907C94BF}"/>
                </a:ext>
              </a:extLst>
            </p:cNvPr>
            <p:cNvSpPr txBox="1"/>
            <p:nvPr/>
          </p:nvSpPr>
          <p:spPr>
            <a:xfrm>
              <a:off x="6252824" y="7115175"/>
              <a:ext cx="11776973" cy="1267782"/>
            </a:xfrm>
            <a:prstGeom prst="rect">
              <a:avLst/>
            </a:prstGeom>
          </p:spPr>
          <p:txBody>
            <a:bodyPr lIns="0" tIns="0" rIns="0" bIns="0" rtlCol="0" anchor="t">
              <a:spAutoFit/>
            </a:bodyPr>
            <a:lstStyle/>
            <a:p>
              <a:pPr algn="just">
                <a:spcBef>
                  <a:spcPct val="0"/>
                </a:spcBef>
              </a:pPr>
              <a:r>
                <a:rPr lang="en-US" sz="1400" dirty="0">
                  <a:solidFill>
                    <a:srgbClr val="000000"/>
                  </a:solidFill>
                  <a:ea typeface="Canva Sans"/>
                  <a:cs typeface="Canva Sans"/>
                  <a:sym typeface="Canva Sans"/>
                </a:rPr>
                <a:t>The landing gear is made of </a:t>
              </a:r>
              <a:r>
                <a:rPr lang="en-US" sz="1400" b="1" dirty="0">
                  <a:solidFill>
                    <a:srgbClr val="000000"/>
                  </a:solidFill>
                  <a:ea typeface="Canva Sans"/>
                  <a:cs typeface="Canva Sans"/>
                  <a:sym typeface="Canva Sans"/>
                </a:rPr>
                <a:t>carbon fiber</a:t>
              </a:r>
              <a:r>
                <a:rPr lang="en-US" sz="1400" dirty="0">
                  <a:solidFill>
                    <a:srgbClr val="000000"/>
                  </a:solidFill>
                  <a:ea typeface="Canva Sans"/>
                  <a:cs typeface="Canva Sans"/>
                  <a:sym typeface="Canva Sans"/>
                </a:rPr>
                <a:t>, offering excellent </a:t>
              </a:r>
              <a:r>
                <a:rPr lang="en-US" sz="1400" b="1" dirty="0">
                  <a:solidFill>
                    <a:srgbClr val="000000"/>
                  </a:solidFill>
                  <a:ea typeface="Canva Sans"/>
                  <a:cs typeface="Canva Sans"/>
                  <a:sym typeface="Canva Sans"/>
                </a:rPr>
                <a:t>impact absorption </a:t>
              </a:r>
              <a:r>
                <a:rPr lang="en-US" sz="1400" dirty="0">
                  <a:solidFill>
                    <a:srgbClr val="000000"/>
                  </a:solidFill>
                  <a:ea typeface="Canva Sans"/>
                  <a:cs typeface="Canva Sans"/>
                  <a:sym typeface="Canva Sans"/>
                </a:rPr>
                <a:t>to protect the fuselage and payload during landings. Its lightweight and durable structure ensures stable ground clearance while minimizing mass to extend flight time. Designed with optimal height, it prevents interference with the payload mechanism and provides ample propeller clearance. The gear maintains stiffness and shape over repeated use and harsh conditions, withstanding temperatures from −40 °C to +70 °C and resisting moisture and UV degradation for long-term reliability.</a:t>
              </a:r>
            </a:p>
          </p:txBody>
        </p:sp>
        <p:sp>
          <p:nvSpPr>
            <p:cNvPr id="22" name="TextBox 17">
              <a:extLst>
                <a:ext uri="{FF2B5EF4-FFF2-40B4-BE49-F238E27FC236}">
                  <a16:creationId xmlns:a16="http://schemas.microsoft.com/office/drawing/2014/main" id="{6A270141-C8EE-6D85-9F52-95D98A4BF819}"/>
                </a:ext>
              </a:extLst>
            </p:cNvPr>
            <p:cNvSpPr txBox="1"/>
            <p:nvPr/>
          </p:nvSpPr>
          <p:spPr>
            <a:xfrm>
              <a:off x="6215409" y="6919084"/>
              <a:ext cx="2243057" cy="211297"/>
            </a:xfrm>
            <a:prstGeom prst="rect">
              <a:avLst/>
            </a:prstGeom>
          </p:spPr>
          <p:txBody>
            <a:bodyPr wrap="square" lIns="0" tIns="0" rIns="0" bIns="0" rtlCol="0" anchor="t">
              <a:spAutoFit/>
            </a:bodyPr>
            <a:lstStyle/>
            <a:p>
              <a:r>
                <a:rPr lang="en-US" sz="1400" b="1" dirty="0">
                  <a:solidFill>
                    <a:srgbClr val="000000"/>
                  </a:solidFill>
                  <a:ea typeface="Canva Sans Bold"/>
                  <a:cs typeface="Canva Sans Bold"/>
                  <a:sym typeface="Canva Sans Bold"/>
                </a:rPr>
                <a:t>Landing Gears</a:t>
              </a:r>
            </a:p>
          </p:txBody>
        </p:sp>
      </p:grpSp>
    </p:spTree>
    <p:extLst>
      <p:ext uri="{BB962C8B-B14F-4D97-AF65-F5344CB8AC3E}">
        <p14:creationId xmlns:p14="http://schemas.microsoft.com/office/powerpoint/2010/main" val="184989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A56BF-2260-D40C-9DB8-C4C70030D9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7C604E-E582-78CF-0C0F-338E470771EA}"/>
              </a:ext>
            </a:extLst>
          </p:cNvPr>
          <p:cNvSpPr>
            <a:spLocks noGrp="1"/>
          </p:cNvSpPr>
          <p:nvPr>
            <p:ph type="title"/>
          </p:nvPr>
        </p:nvSpPr>
        <p:spPr>
          <a:xfrm>
            <a:off x="491526" y="689074"/>
            <a:ext cx="11029616" cy="988332"/>
          </a:xfrm>
        </p:spPr>
        <p:txBody>
          <a:bodyPr/>
          <a:lstStyle/>
          <a:p>
            <a:r>
              <a:rPr lang="en-US" b="1" dirty="0"/>
              <a:t>Mechanical design</a:t>
            </a:r>
          </a:p>
        </p:txBody>
      </p:sp>
      <p:grpSp>
        <p:nvGrpSpPr>
          <p:cNvPr id="3" name="Group 14">
            <a:extLst>
              <a:ext uri="{FF2B5EF4-FFF2-40B4-BE49-F238E27FC236}">
                <a16:creationId xmlns:a16="http://schemas.microsoft.com/office/drawing/2014/main" id="{525B4518-C809-5DED-AB61-97D8708A6948}"/>
              </a:ext>
            </a:extLst>
          </p:cNvPr>
          <p:cNvGrpSpPr/>
          <p:nvPr/>
        </p:nvGrpSpPr>
        <p:grpSpPr>
          <a:xfrm>
            <a:off x="9658537" y="11884"/>
            <a:ext cx="2050862" cy="429876"/>
            <a:chOff x="0" y="0"/>
            <a:chExt cx="7838183" cy="1629051"/>
          </a:xfrm>
        </p:grpSpPr>
        <p:sp>
          <p:nvSpPr>
            <p:cNvPr id="4" name="Freeform 15">
              <a:extLst>
                <a:ext uri="{FF2B5EF4-FFF2-40B4-BE49-F238E27FC236}">
                  <a16:creationId xmlns:a16="http://schemas.microsoft.com/office/drawing/2014/main" id="{188C66F4-97F5-6AF0-1E64-B9FB7ED9EFFF}"/>
                </a:ext>
              </a:extLst>
            </p:cNvPr>
            <p:cNvSpPr/>
            <p:nvPr/>
          </p:nvSpPr>
          <p:spPr>
            <a:xfrm>
              <a:off x="2068432" y="472763"/>
              <a:ext cx="4016856" cy="1096665"/>
            </a:xfrm>
            <a:custGeom>
              <a:avLst/>
              <a:gdLst/>
              <a:ahLst/>
              <a:cxnLst/>
              <a:rect l="l" t="t" r="r" b="b"/>
              <a:pathLst>
                <a:path w="4016856" h="1096665">
                  <a:moveTo>
                    <a:pt x="0" y="0"/>
                  </a:moveTo>
                  <a:lnTo>
                    <a:pt x="4016856" y="0"/>
                  </a:lnTo>
                  <a:lnTo>
                    <a:pt x="4016856" y="1096666"/>
                  </a:lnTo>
                  <a:lnTo>
                    <a:pt x="0" y="1096666"/>
                  </a:lnTo>
                  <a:lnTo>
                    <a:pt x="0" y="0"/>
                  </a:lnTo>
                  <a:close/>
                </a:path>
              </a:pathLst>
            </a:custGeom>
            <a:blipFill>
              <a:blip r:embed="rId2"/>
              <a:stretch>
                <a:fillRect/>
              </a:stretch>
            </a:blipFill>
          </p:spPr>
        </p:sp>
        <p:sp>
          <p:nvSpPr>
            <p:cNvPr id="5" name="Freeform 16">
              <a:extLst>
                <a:ext uri="{FF2B5EF4-FFF2-40B4-BE49-F238E27FC236}">
                  <a16:creationId xmlns:a16="http://schemas.microsoft.com/office/drawing/2014/main" id="{116C2A09-9652-9A34-65FA-03DA2D7F3250}"/>
                </a:ext>
              </a:extLst>
            </p:cNvPr>
            <p:cNvSpPr/>
            <p:nvPr/>
          </p:nvSpPr>
          <p:spPr>
            <a:xfrm>
              <a:off x="0" y="0"/>
              <a:ext cx="1629051" cy="1629051"/>
            </a:xfrm>
            <a:custGeom>
              <a:avLst/>
              <a:gdLst/>
              <a:ahLst/>
              <a:cxnLst/>
              <a:rect l="l" t="t" r="r" b="b"/>
              <a:pathLst>
                <a:path w="1629051" h="1629051">
                  <a:moveTo>
                    <a:pt x="0" y="0"/>
                  </a:moveTo>
                  <a:lnTo>
                    <a:pt x="1629051" y="0"/>
                  </a:lnTo>
                  <a:lnTo>
                    <a:pt x="1629051" y="1629051"/>
                  </a:lnTo>
                  <a:lnTo>
                    <a:pt x="0" y="1629051"/>
                  </a:lnTo>
                  <a:lnTo>
                    <a:pt x="0" y="0"/>
                  </a:lnTo>
                  <a:close/>
                </a:path>
              </a:pathLst>
            </a:custGeom>
            <a:blipFill>
              <a:blip r:embed="rId3"/>
              <a:stretch>
                <a:fillRect/>
              </a:stretch>
            </a:blipFill>
          </p:spPr>
        </p:sp>
        <p:sp>
          <p:nvSpPr>
            <p:cNvPr id="6" name="Freeform 17">
              <a:extLst>
                <a:ext uri="{FF2B5EF4-FFF2-40B4-BE49-F238E27FC236}">
                  <a16:creationId xmlns:a16="http://schemas.microsoft.com/office/drawing/2014/main" id="{2CE78F23-D1DB-9450-4D39-E9F39C4EE710}"/>
                </a:ext>
              </a:extLst>
            </p:cNvPr>
            <p:cNvSpPr/>
            <p:nvPr/>
          </p:nvSpPr>
          <p:spPr>
            <a:xfrm>
              <a:off x="6399188" y="0"/>
              <a:ext cx="1438995" cy="1629051"/>
            </a:xfrm>
            <a:custGeom>
              <a:avLst/>
              <a:gdLst/>
              <a:ahLst/>
              <a:cxnLst/>
              <a:rect l="l" t="t" r="r" b="b"/>
              <a:pathLst>
                <a:path w="1438995" h="1629051">
                  <a:moveTo>
                    <a:pt x="0" y="0"/>
                  </a:moveTo>
                  <a:lnTo>
                    <a:pt x="1438995" y="0"/>
                  </a:lnTo>
                  <a:lnTo>
                    <a:pt x="1438995" y="1629051"/>
                  </a:lnTo>
                  <a:lnTo>
                    <a:pt x="0" y="1629051"/>
                  </a:lnTo>
                  <a:lnTo>
                    <a:pt x="0" y="0"/>
                  </a:lnTo>
                  <a:close/>
                </a:path>
              </a:pathLst>
            </a:custGeom>
            <a:blipFill>
              <a:blip r:embed="rId4"/>
              <a:stretch>
                <a:fillRect/>
              </a:stretch>
            </a:blipFill>
          </p:spPr>
        </p:sp>
      </p:grpSp>
      <p:grpSp>
        <p:nvGrpSpPr>
          <p:cNvPr id="60" name="Group 2">
            <a:extLst>
              <a:ext uri="{FF2B5EF4-FFF2-40B4-BE49-F238E27FC236}">
                <a16:creationId xmlns:a16="http://schemas.microsoft.com/office/drawing/2014/main" id="{F248581C-4705-8416-13AE-FBC1D559C78C}"/>
              </a:ext>
            </a:extLst>
          </p:cNvPr>
          <p:cNvGrpSpPr/>
          <p:nvPr/>
        </p:nvGrpSpPr>
        <p:grpSpPr>
          <a:xfrm>
            <a:off x="159449" y="2169467"/>
            <a:ext cx="3234915" cy="4452999"/>
            <a:chOff x="0" y="0"/>
            <a:chExt cx="812800" cy="1001291"/>
          </a:xfrm>
        </p:grpSpPr>
        <p:sp>
          <p:nvSpPr>
            <p:cNvPr id="61" name="Freeform 3">
              <a:extLst>
                <a:ext uri="{FF2B5EF4-FFF2-40B4-BE49-F238E27FC236}">
                  <a16:creationId xmlns:a16="http://schemas.microsoft.com/office/drawing/2014/main" id="{037C4269-6B96-71C5-570E-88D9642ACE5E}"/>
                </a:ext>
              </a:extLst>
            </p:cNvPr>
            <p:cNvSpPr/>
            <p:nvPr/>
          </p:nvSpPr>
          <p:spPr>
            <a:xfrm>
              <a:off x="0" y="0"/>
              <a:ext cx="812800" cy="1001291"/>
            </a:xfrm>
            <a:custGeom>
              <a:avLst/>
              <a:gdLst/>
              <a:ahLst/>
              <a:cxnLst/>
              <a:rect l="l" t="t" r="r" b="b"/>
              <a:pathLst>
                <a:path w="812800" h="1001291">
                  <a:moveTo>
                    <a:pt x="0" y="0"/>
                  </a:moveTo>
                  <a:lnTo>
                    <a:pt x="812800" y="0"/>
                  </a:lnTo>
                  <a:lnTo>
                    <a:pt x="812800" y="1001291"/>
                  </a:lnTo>
                  <a:lnTo>
                    <a:pt x="0" y="1001291"/>
                  </a:lnTo>
                  <a:close/>
                </a:path>
              </a:pathLst>
            </a:custGeom>
            <a:blipFill>
              <a:blip r:embed="rId5"/>
              <a:stretch>
                <a:fillRect l="-1705" r="-1705"/>
              </a:stretch>
            </a:blipFill>
          </p:spPr>
        </p:sp>
      </p:grpSp>
      <p:sp>
        <p:nvSpPr>
          <p:cNvPr id="65" name="Freeform 7">
            <a:extLst>
              <a:ext uri="{FF2B5EF4-FFF2-40B4-BE49-F238E27FC236}">
                <a16:creationId xmlns:a16="http://schemas.microsoft.com/office/drawing/2014/main" id="{4B74EA54-808F-9E11-EA15-F7E2054BE905}"/>
              </a:ext>
            </a:extLst>
          </p:cNvPr>
          <p:cNvSpPr/>
          <p:nvPr/>
        </p:nvSpPr>
        <p:spPr>
          <a:xfrm>
            <a:off x="850750" y="2451582"/>
            <a:ext cx="1581029" cy="1061853"/>
          </a:xfrm>
          <a:custGeom>
            <a:avLst/>
            <a:gdLst/>
            <a:ahLst/>
            <a:cxnLst/>
            <a:rect l="l" t="t" r="r" b="b"/>
            <a:pathLst>
              <a:path w="1581029" h="1061853">
                <a:moveTo>
                  <a:pt x="0" y="0"/>
                </a:moveTo>
                <a:lnTo>
                  <a:pt x="1581028" y="0"/>
                </a:lnTo>
                <a:lnTo>
                  <a:pt x="1581028" y="1061853"/>
                </a:lnTo>
                <a:lnTo>
                  <a:pt x="0" y="106185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6" name="Freeform 8">
            <a:extLst>
              <a:ext uri="{FF2B5EF4-FFF2-40B4-BE49-F238E27FC236}">
                <a16:creationId xmlns:a16="http://schemas.microsoft.com/office/drawing/2014/main" id="{2F2C0796-ADAD-0494-A4EA-2F442C04E836}"/>
              </a:ext>
            </a:extLst>
          </p:cNvPr>
          <p:cNvSpPr/>
          <p:nvPr/>
        </p:nvSpPr>
        <p:spPr>
          <a:xfrm>
            <a:off x="1191491" y="4592935"/>
            <a:ext cx="814336" cy="546926"/>
          </a:xfrm>
          <a:custGeom>
            <a:avLst/>
            <a:gdLst/>
            <a:ahLst/>
            <a:cxnLst/>
            <a:rect l="l" t="t" r="r" b="b"/>
            <a:pathLst>
              <a:path w="814336" h="546926">
                <a:moveTo>
                  <a:pt x="0" y="0"/>
                </a:moveTo>
                <a:lnTo>
                  <a:pt x="814336" y="0"/>
                </a:lnTo>
                <a:lnTo>
                  <a:pt x="814336" y="546926"/>
                </a:lnTo>
                <a:lnTo>
                  <a:pt x="0" y="5469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7" name="Freeform 9">
            <a:extLst>
              <a:ext uri="{FF2B5EF4-FFF2-40B4-BE49-F238E27FC236}">
                <a16:creationId xmlns:a16="http://schemas.microsoft.com/office/drawing/2014/main" id="{A20A8CC4-4FDA-01F3-7CAC-559667F7F81D}"/>
              </a:ext>
            </a:extLst>
          </p:cNvPr>
          <p:cNvSpPr/>
          <p:nvPr/>
        </p:nvSpPr>
        <p:spPr>
          <a:xfrm>
            <a:off x="1754126" y="4048334"/>
            <a:ext cx="713815" cy="527426"/>
          </a:xfrm>
          <a:custGeom>
            <a:avLst/>
            <a:gdLst/>
            <a:ahLst/>
            <a:cxnLst/>
            <a:rect l="l" t="t" r="r" b="b"/>
            <a:pathLst>
              <a:path w="1272208" h="854442">
                <a:moveTo>
                  <a:pt x="0" y="0"/>
                </a:moveTo>
                <a:lnTo>
                  <a:pt x="1272208" y="0"/>
                </a:lnTo>
                <a:lnTo>
                  <a:pt x="1272208" y="854442"/>
                </a:lnTo>
                <a:lnTo>
                  <a:pt x="0" y="85444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77" name="Group 76">
            <a:extLst>
              <a:ext uri="{FF2B5EF4-FFF2-40B4-BE49-F238E27FC236}">
                <a16:creationId xmlns:a16="http://schemas.microsoft.com/office/drawing/2014/main" id="{DF93F6F7-CD9F-AB3C-FB70-B5C704327A8D}"/>
              </a:ext>
            </a:extLst>
          </p:cNvPr>
          <p:cNvGrpSpPr/>
          <p:nvPr/>
        </p:nvGrpSpPr>
        <p:grpSpPr>
          <a:xfrm>
            <a:off x="2128465" y="2033946"/>
            <a:ext cx="1475270" cy="427221"/>
            <a:chOff x="2560463" y="1724817"/>
            <a:chExt cx="2881670" cy="1031875"/>
          </a:xfrm>
        </p:grpSpPr>
        <p:sp>
          <p:nvSpPr>
            <p:cNvPr id="68" name="AutoShape 10">
              <a:extLst>
                <a:ext uri="{FF2B5EF4-FFF2-40B4-BE49-F238E27FC236}">
                  <a16:creationId xmlns:a16="http://schemas.microsoft.com/office/drawing/2014/main" id="{AC47E0ED-58EC-D4F8-C828-50B18EFF460E}"/>
                </a:ext>
              </a:extLst>
            </p:cNvPr>
            <p:cNvSpPr/>
            <p:nvPr/>
          </p:nvSpPr>
          <p:spPr>
            <a:xfrm flipV="1">
              <a:off x="2560463" y="1724817"/>
              <a:ext cx="589333" cy="1031875"/>
            </a:xfrm>
            <a:prstGeom prst="line">
              <a:avLst/>
            </a:prstGeom>
            <a:ln w="38100" cap="flat">
              <a:solidFill>
                <a:srgbClr val="000000"/>
              </a:solidFill>
              <a:prstDash val="solid"/>
              <a:headEnd type="none" w="sm" len="sm"/>
              <a:tailEnd type="none" w="sm" len="sm"/>
            </a:ln>
          </p:spPr>
        </p:sp>
        <p:sp>
          <p:nvSpPr>
            <p:cNvPr id="71" name="AutoShape 13">
              <a:extLst>
                <a:ext uri="{FF2B5EF4-FFF2-40B4-BE49-F238E27FC236}">
                  <a16:creationId xmlns:a16="http://schemas.microsoft.com/office/drawing/2014/main" id="{EB99622A-7ED5-1CAD-4E1D-B3C4E60B51F1}"/>
                </a:ext>
              </a:extLst>
            </p:cNvPr>
            <p:cNvSpPr/>
            <p:nvPr/>
          </p:nvSpPr>
          <p:spPr>
            <a:xfrm>
              <a:off x="3149796" y="1724817"/>
              <a:ext cx="2292337" cy="0"/>
            </a:xfrm>
            <a:prstGeom prst="line">
              <a:avLst/>
            </a:prstGeom>
            <a:ln w="38100" cap="flat">
              <a:solidFill>
                <a:srgbClr val="000000"/>
              </a:solidFill>
              <a:prstDash val="solid"/>
              <a:headEnd type="none" w="sm" len="sm"/>
              <a:tailEnd type="arrow" w="med" len="sm"/>
            </a:ln>
          </p:spPr>
        </p:sp>
      </p:grpSp>
      <p:sp>
        <p:nvSpPr>
          <p:cNvPr id="72" name="AutoShape 14">
            <a:extLst>
              <a:ext uri="{FF2B5EF4-FFF2-40B4-BE49-F238E27FC236}">
                <a16:creationId xmlns:a16="http://schemas.microsoft.com/office/drawing/2014/main" id="{18C8715F-8329-F6EB-9E58-6C1A702EECFA}"/>
              </a:ext>
            </a:extLst>
          </p:cNvPr>
          <p:cNvSpPr/>
          <p:nvPr/>
        </p:nvSpPr>
        <p:spPr>
          <a:xfrm>
            <a:off x="2491409" y="4217488"/>
            <a:ext cx="1112326" cy="0"/>
          </a:xfrm>
          <a:prstGeom prst="line">
            <a:avLst/>
          </a:prstGeom>
          <a:ln w="38100" cap="flat">
            <a:solidFill>
              <a:srgbClr val="000000"/>
            </a:solidFill>
            <a:prstDash val="solid"/>
            <a:headEnd type="none" w="sm" len="sm"/>
            <a:tailEnd type="arrow" w="med" len="sm"/>
          </a:ln>
        </p:spPr>
      </p:sp>
      <p:grpSp>
        <p:nvGrpSpPr>
          <p:cNvPr id="78" name="Group 77">
            <a:extLst>
              <a:ext uri="{FF2B5EF4-FFF2-40B4-BE49-F238E27FC236}">
                <a16:creationId xmlns:a16="http://schemas.microsoft.com/office/drawing/2014/main" id="{CEB47EF9-D40C-BFA7-F161-C88AA88FE738}"/>
              </a:ext>
            </a:extLst>
          </p:cNvPr>
          <p:cNvGrpSpPr/>
          <p:nvPr/>
        </p:nvGrpSpPr>
        <p:grpSpPr>
          <a:xfrm>
            <a:off x="1594493" y="5127834"/>
            <a:ext cx="1948007" cy="546925"/>
            <a:chOff x="2331527" y="5982257"/>
            <a:chExt cx="3110606" cy="1655008"/>
          </a:xfrm>
        </p:grpSpPr>
        <p:sp>
          <p:nvSpPr>
            <p:cNvPr id="70" name="AutoShape 12">
              <a:extLst>
                <a:ext uri="{FF2B5EF4-FFF2-40B4-BE49-F238E27FC236}">
                  <a16:creationId xmlns:a16="http://schemas.microsoft.com/office/drawing/2014/main" id="{3463EE0B-FE2F-1A94-9B84-17E39D3E5C77}"/>
                </a:ext>
              </a:extLst>
            </p:cNvPr>
            <p:cNvSpPr/>
            <p:nvPr/>
          </p:nvSpPr>
          <p:spPr>
            <a:xfrm>
              <a:off x="2331527" y="5982257"/>
              <a:ext cx="1019450" cy="1655008"/>
            </a:xfrm>
            <a:prstGeom prst="line">
              <a:avLst/>
            </a:prstGeom>
            <a:ln w="38100" cap="flat">
              <a:solidFill>
                <a:srgbClr val="000000"/>
              </a:solidFill>
              <a:prstDash val="solid"/>
              <a:headEnd type="none" w="sm" len="sm"/>
              <a:tailEnd type="none" w="sm" len="sm"/>
            </a:ln>
          </p:spPr>
        </p:sp>
        <p:sp>
          <p:nvSpPr>
            <p:cNvPr id="73" name="AutoShape 15">
              <a:extLst>
                <a:ext uri="{FF2B5EF4-FFF2-40B4-BE49-F238E27FC236}">
                  <a16:creationId xmlns:a16="http://schemas.microsoft.com/office/drawing/2014/main" id="{967740A8-B50E-BE82-1626-BE47C88B3066}"/>
                </a:ext>
              </a:extLst>
            </p:cNvPr>
            <p:cNvSpPr/>
            <p:nvPr/>
          </p:nvSpPr>
          <p:spPr>
            <a:xfrm>
              <a:off x="3350977" y="7637265"/>
              <a:ext cx="2091156" cy="0"/>
            </a:xfrm>
            <a:prstGeom prst="line">
              <a:avLst/>
            </a:prstGeom>
            <a:ln w="38100" cap="flat">
              <a:solidFill>
                <a:srgbClr val="000000"/>
              </a:solidFill>
              <a:prstDash val="solid"/>
              <a:headEnd type="none" w="sm" len="sm"/>
              <a:tailEnd type="arrow" w="med" len="sm"/>
            </a:ln>
          </p:spPr>
        </p:sp>
      </p:grpSp>
      <p:grpSp>
        <p:nvGrpSpPr>
          <p:cNvPr id="79" name="Group 78">
            <a:extLst>
              <a:ext uri="{FF2B5EF4-FFF2-40B4-BE49-F238E27FC236}">
                <a16:creationId xmlns:a16="http://schemas.microsoft.com/office/drawing/2014/main" id="{CFD124EA-97E2-24FC-2B6E-C9BCF6E3E5D8}"/>
              </a:ext>
            </a:extLst>
          </p:cNvPr>
          <p:cNvGrpSpPr/>
          <p:nvPr/>
        </p:nvGrpSpPr>
        <p:grpSpPr>
          <a:xfrm>
            <a:off x="3666193" y="1933470"/>
            <a:ext cx="8043206" cy="1301162"/>
            <a:chOff x="5442133" y="421374"/>
            <a:chExt cx="12289737" cy="1301162"/>
          </a:xfrm>
        </p:grpSpPr>
        <p:sp>
          <p:nvSpPr>
            <p:cNvPr id="63" name="TextBox 5">
              <a:extLst>
                <a:ext uri="{FF2B5EF4-FFF2-40B4-BE49-F238E27FC236}">
                  <a16:creationId xmlns:a16="http://schemas.microsoft.com/office/drawing/2014/main" id="{57F24253-119D-4BBF-833F-6380E1DD530F}"/>
                </a:ext>
              </a:extLst>
            </p:cNvPr>
            <p:cNvSpPr txBox="1"/>
            <p:nvPr/>
          </p:nvSpPr>
          <p:spPr>
            <a:xfrm>
              <a:off x="5442133" y="645318"/>
              <a:ext cx="12289737" cy="1077218"/>
            </a:xfrm>
            <a:prstGeom prst="rect">
              <a:avLst/>
            </a:prstGeom>
          </p:spPr>
          <p:txBody>
            <a:bodyPr lIns="0" tIns="0" rIns="0" bIns="0" rtlCol="0" anchor="t">
              <a:spAutoFit/>
            </a:bodyPr>
            <a:lstStyle/>
            <a:p>
              <a:pPr algn="just" defTabSz="914400">
                <a:spcBef>
                  <a:spcPct val="0"/>
                </a:spcBef>
              </a:pPr>
              <a:r>
                <a:rPr lang="en-US" sz="1400" dirty="0">
                  <a:solidFill>
                    <a:srgbClr val="000000"/>
                  </a:solidFill>
                  <a:ea typeface="Canva Sans"/>
                  <a:cs typeface="Canva Sans"/>
                  <a:sym typeface="Canva Sans"/>
                </a:rPr>
                <a:t>The top cover is </a:t>
              </a:r>
              <a:r>
                <a:rPr lang="en-US" sz="1400" b="1" dirty="0">
                  <a:solidFill>
                    <a:srgbClr val="000000"/>
                  </a:solidFill>
                  <a:ea typeface="Canva Sans"/>
                  <a:cs typeface="Canva Sans"/>
                  <a:sym typeface="Canva Sans"/>
                </a:rPr>
                <a:t>aerodynamically</a:t>
              </a:r>
              <a:r>
                <a:rPr lang="en-US" sz="1400" dirty="0">
                  <a:solidFill>
                    <a:srgbClr val="000000"/>
                  </a:solidFill>
                  <a:ea typeface="Canva Sans"/>
                  <a:cs typeface="Canva Sans"/>
                  <a:sym typeface="Canva Sans"/>
                </a:rPr>
                <a:t> </a:t>
              </a:r>
              <a:r>
                <a:rPr lang="en-US" sz="1400" b="1" dirty="0">
                  <a:solidFill>
                    <a:srgbClr val="000000"/>
                  </a:solidFill>
                  <a:ea typeface="Canva Sans"/>
                  <a:cs typeface="Canva Sans"/>
                  <a:sym typeface="Canva Sans"/>
                </a:rPr>
                <a:t>optimized</a:t>
              </a:r>
              <a:r>
                <a:rPr lang="en-US" sz="1400" dirty="0">
                  <a:solidFill>
                    <a:srgbClr val="000000"/>
                  </a:solidFill>
                  <a:ea typeface="Canva Sans"/>
                  <a:cs typeface="Canva Sans"/>
                  <a:sym typeface="Canva Sans"/>
                </a:rPr>
                <a:t> with a reduced angle to minimize drag while maintaining internal volume. Made from </a:t>
              </a:r>
              <a:r>
                <a:rPr lang="en-US" sz="1400" b="1" dirty="0">
                  <a:solidFill>
                    <a:srgbClr val="000000"/>
                  </a:solidFill>
                  <a:ea typeface="Canva Sans"/>
                  <a:cs typeface="Canva Sans"/>
                  <a:sym typeface="Canva Sans"/>
                </a:rPr>
                <a:t>ABS plastic, </a:t>
              </a:r>
              <a:r>
                <a:rPr lang="en-US" sz="1400" dirty="0">
                  <a:solidFill>
                    <a:srgbClr val="000000"/>
                  </a:solidFill>
                  <a:ea typeface="Canva Sans"/>
                  <a:cs typeface="Canva Sans"/>
                  <a:sym typeface="Canva Sans"/>
                </a:rPr>
                <a:t>it offers a low-drag surface and heat resistance up to 105 °C, protecting against battery heat. Its design allows integration of sensor cutouts, vents, and mounts in a single print, reducing hardware complexity. The material’s dimensional stability ensures reliable protection for critical components like the flight controller, GPS, and telemetry systems under varying environmental conditions.</a:t>
              </a:r>
            </a:p>
          </p:txBody>
        </p:sp>
        <p:sp>
          <p:nvSpPr>
            <p:cNvPr id="74" name="TextBox 16">
              <a:extLst>
                <a:ext uri="{FF2B5EF4-FFF2-40B4-BE49-F238E27FC236}">
                  <a16:creationId xmlns:a16="http://schemas.microsoft.com/office/drawing/2014/main" id="{EF09C53E-8C96-DE84-3DC5-8C2D16181721}"/>
                </a:ext>
              </a:extLst>
            </p:cNvPr>
            <p:cNvSpPr txBox="1"/>
            <p:nvPr/>
          </p:nvSpPr>
          <p:spPr>
            <a:xfrm>
              <a:off x="5442133" y="421374"/>
              <a:ext cx="1875235" cy="215444"/>
            </a:xfrm>
            <a:prstGeom prst="rect">
              <a:avLst/>
            </a:prstGeom>
          </p:spPr>
          <p:txBody>
            <a:bodyPr lIns="0" tIns="0" rIns="0" bIns="0" rtlCol="0" anchor="t">
              <a:spAutoFit/>
            </a:bodyPr>
            <a:lstStyle/>
            <a:p>
              <a:pPr algn="just" defTabSz="914400"/>
              <a:r>
                <a:rPr lang="en-US" sz="1400" b="1" dirty="0">
                  <a:solidFill>
                    <a:srgbClr val="000000"/>
                  </a:solidFill>
                  <a:ea typeface="Canva Sans Bold"/>
                  <a:cs typeface="Canva Sans Bold"/>
                  <a:sym typeface="Canva Sans Bold"/>
                </a:rPr>
                <a:t>Top Cover</a:t>
              </a:r>
            </a:p>
          </p:txBody>
        </p:sp>
      </p:grpSp>
      <p:grpSp>
        <p:nvGrpSpPr>
          <p:cNvPr id="80" name="Group 79">
            <a:extLst>
              <a:ext uri="{FF2B5EF4-FFF2-40B4-BE49-F238E27FC236}">
                <a16:creationId xmlns:a16="http://schemas.microsoft.com/office/drawing/2014/main" id="{9164F559-F54D-3E30-FD1F-4D97B55FDE2A}"/>
              </a:ext>
            </a:extLst>
          </p:cNvPr>
          <p:cNvGrpSpPr/>
          <p:nvPr/>
        </p:nvGrpSpPr>
        <p:grpSpPr>
          <a:xfrm>
            <a:off x="3666193" y="3526804"/>
            <a:ext cx="8174821" cy="1112895"/>
            <a:chOff x="5442133" y="3262314"/>
            <a:chExt cx="12289737" cy="1112895"/>
          </a:xfrm>
        </p:grpSpPr>
        <p:sp>
          <p:nvSpPr>
            <p:cNvPr id="62" name="TextBox 4">
              <a:extLst>
                <a:ext uri="{FF2B5EF4-FFF2-40B4-BE49-F238E27FC236}">
                  <a16:creationId xmlns:a16="http://schemas.microsoft.com/office/drawing/2014/main" id="{F98BB512-2C05-42F6-5052-2E35FA28C347}"/>
                </a:ext>
              </a:extLst>
            </p:cNvPr>
            <p:cNvSpPr txBox="1"/>
            <p:nvPr/>
          </p:nvSpPr>
          <p:spPr>
            <a:xfrm>
              <a:off x="5442133" y="3513435"/>
              <a:ext cx="12289737" cy="861774"/>
            </a:xfrm>
            <a:prstGeom prst="rect">
              <a:avLst/>
            </a:prstGeom>
          </p:spPr>
          <p:txBody>
            <a:bodyPr lIns="0" tIns="0" rIns="0" bIns="0" rtlCol="0" anchor="t">
              <a:spAutoFit/>
            </a:bodyPr>
            <a:lstStyle/>
            <a:p>
              <a:pPr algn="just" defTabSz="914400">
                <a:spcBef>
                  <a:spcPct val="0"/>
                </a:spcBef>
              </a:pPr>
              <a:r>
                <a:rPr lang="en-US" sz="1400" dirty="0">
                  <a:solidFill>
                    <a:srgbClr val="000000"/>
                  </a:solidFill>
                  <a:ea typeface="Canva Sans"/>
                  <a:cs typeface="Canva Sans"/>
                  <a:sym typeface="Canva Sans"/>
                </a:rPr>
                <a:t>The central hub features an </a:t>
              </a:r>
              <a:r>
                <a:rPr lang="en-US" sz="1400" b="1" dirty="0">
                  <a:solidFill>
                    <a:srgbClr val="000000"/>
                  </a:solidFill>
                  <a:ea typeface="Canva Sans"/>
                  <a:cs typeface="Canva Sans"/>
                  <a:sym typeface="Canva Sans"/>
                </a:rPr>
                <a:t>octagonal</a:t>
              </a:r>
              <a:r>
                <a:rPr lang="en-US" sz="1400" dirty="0">
                  <a:solidFill>
                    <a:srgbClr val="000000"/>
                  </a:solidFill>
                  <a:ea typeface="Canva Sans"/>
                  <a:cs typeface="Canva Sans"/>
                  <a:sym typeface="Canva Sans"/>
                </a:rPr>
                <a:t> </a:t>
              </a:r>
              <a:r>
                <a:rPr lang="en-US" sz="1400" b="1" dirty="0">
                  <a:solidFill>
                    <a:srgbClr val="000000"/>
                  </a:solidFill>
                  <a:ea typeface="Canva Sans"/>
                  <a:cs typeface="Canva Sans"/>
                  <a:sym typeface="Canva Sans"/>
                </a:rPr>
                <a:t>shape with 180 mm </a:t>
              </a:r>
              <a:r>
                <a:rPr lang="en-US" sz="1400" dirty="0">
                  <a:solidFill>
                    <a:srgbClr val="000000"/>
                  </a:solidFill>
                  <a:ea typeface="Canva Sans"/>
                  <a:cs typeface="Canva Sans"/>
                  <a:sym typeface="Canva Sans"/>
                </a:rPr>
                <a:t>spacing between opposite sides, designed to house all key components in a compact layout. It is built with three stacked layers to ensure balanced weight distribution and structural organization. Carbon fiber is used in high-stress areas for superior strength and stiffness, while ABS plastic is chosen for the hub body to reduce costs without compromising durability. </a:t>
              </a:r>
            </a:p>
          </p:txBody>
        </p:sp>
        <p:sp>
          <p:nvSpPr>
            <p:cNvPr id="75" name="TextBox 17">
              <a:extLst>
                <a:ext uri="{FF2B5EF4-FFF2-40B4-BE49-F238E27FC236}">
                  <a16:creationId xmlns:a16="http://schemas.microsoft.com/office/drawing/2014/main" id="{9DEB19A6-753F-05B5-93C5-EEC645E10D9B}"/>
                </a:ext>
              </a:extLst>
            </p:cNvPr>
            <p:cNvSpPr txBox="1"/>
            <p:nvPr/>
          </p:nvSpPr>
          <p:spPr>
            <a:xfrm>
              <a:off x="5442133" y="3262314"/>
              <a:ext cx="2490950" cy="215444"/>
            </a:xfrm>
            <a:prstGeom prst="rect">
              <a:avLst/>
            </a:prstGeom>
          </p:spPr>
          <p:txBody>
            <a:bodyPr lIns="0" tIns="0" rIns="0" bIns="0" rtlCol="0" anchor="t">
              <a:spAutoFit/>
            </a:bodyPr>
            <a:lstStyle/>
            <a:p>
              <a:pPr algn="just" defTabSz="914400"/>
              <a:r>
                <a:rPr lang="en-US" sz="1400" b="1" dirty="0">
                  <a:solidFill>
                    <a:srgbClr val="000000"/>
                  </a:solidFill>
                  <a:ea typeface="Canva Sans Bold"/>
                  <a:cs typeface="Canva Sans Bold"/>
                  <a:sym typeface="Canva Sans Bold"/>
                </a:rPr>
                <a:t>Central Hub</a:t>
              </a:r>
            </a:p>
          </p:txBody>
        </p:sp>
      </p:grpSp>
      <p:grpSp>
        <p:nvGrpSpPr>
          <p:cNvPr id="81" name="Group 80">
            <a:extLst>
              <a:ext uri="{FF2B5EF4-FFF2-40B4-BE49-F238E27FC236}">
                <a16:creationId xmlns:a16="http://schemas.microsoft.com/office/drawing/2014/main" id="{E1AD941F-C764-FCBF-8D64-BCFE37EBD817}"/>
              </a:ext>
            </a:extLst>
          </p:cNvPr>
          <p:cNvGrpSpPr/>
          <p:nvPr/>
        </p:nvGrpSpPr>
        <p:grpSpPr>
          <a:xfrm>
            <a:off x="3666193" y="4950286"/>
            <a:ext cx="8174821" cy="1525846"/>
            <a:chOff x="5442133" y="6148369"/>
            <a:chExt cx="12289737" cy="1525846"/>
          </a:xfrm>
        </p:grpSpPr>
        <p:sp>
          <p:nvSpPr>
            <p:cNvPr id="64" name="TextBox 6">
              <a:extLst>
                <a:ext uri="{FF2B5EF4-FFF2-40B4-BE49-F238E27FC236}">
                  <a16:creationId xmlns:a16="http://schemas.microsoft.com/office/drawing/2014/main" id="{03EF1421-3EF4-1049-A60E-3E2C3F74B158}"/>
                </a:ext>
              </a:extLst>
            </p:cNvPr>
            <p:cNvSpPr txBox="1"/>
            <p:nvPr/>
          </p:nvSpPr>
          <p:spPr>
            <a:xfrm>
              <a:off x="5442133" y="6381553"/>
              <a:ext cx="12289737" cy="1292662"/>
            </a:xfrm>
            <a:prstGeom prst="rect">
              <a:avLst/>
            </a:prstGeom>
          </p:spPr>
          <p:txBody>
            <a:bodyPr lIns="0" tIns="0" rIns="0" bIns="0" rtlCol="0" anchor="t">
              <a:spAutoFit/>
            </a:bodyPr>
            <a:lstStyle/>
            <a:p>
              <a:pPr algn="just" defTabSz="914400">
                <a:spcBef>
                  <a:spcPct val="0"/>
                </a:spcBef>
              </a:pPr>
              <a:r>
                <a:rPr lang="en-US" sz="1400" dirty="0">
                  <a:solidFill>
                    <a:srgbClr val="000000"/>
                  </a:solidFill>
                  <a:ea typeface="Canva Sans"/>
                  <a:cs typeface="Canva Sans"/>
                  <a:sym typeface="Canva Sans"/>
                </a:rPr>
                <a:t>The bottom cover is </a:t>
              </a:r>
              <a:r>
                <a:rPr lang="en-US" sz="1400" b="1" dirty="0">
                  <a:solidFill>
                    <a:srgbClr val="000000"/>
                  </a:solidFill>
                  <a:ea typeface="Canva Sans"/>
                  <a:cs typeface="Canva Sans"/>
                  <a:sym typeface="Canva Sans"/>
                </a:rPr>
                <a:t>aerodynamically contoured </a:t>
              </a:r>
              <a:r>
                <a:rPr lang="en-US" sz="1400" dirty="0">
                  <a:solidFill>
                    <a:srgbClr val="000000"/>
                  </a:solidFill>
                  <a:ea typeface="Canva Sans"/>
                  <a:cs typeface="Canva Sans"/>
                  <a:sym typeface="Canva Sans"/>
                </a:rPr>
                <a:t>to reduce drag while preserving internal volume. Made from ABS, it offers strong </a:t>
              </a:r>
              <a:r>
                <a:rPr lang="en-US" sz="1400" b="1" dirty="0">
                  <a:solidFill>
                    <a:srgbClr val="000000"/>
                  </a:solidFill>
                  <a:ea typeface="Canva Sans"/>
                  <a:cs typeface="Canva Sans"/>
                  <a:sym typeface="Canva Sans"/>
                </a:rPr>
                <a:t>abrasion resistance </a:t>
              </a:r>
              <a:r>
                <a:rPr lang="en-US" sz="1400" dirty="0">
                  <a:solidFill>
                    <a:srgbClr val="000000"/>
                  </a:solidFill>
                  <a:ea typeface="Canva Sans"/>
                  <a:cs typeface="Canva Sans"/>
                  <a:sym typeface="Canva Sans"/>
                </a:rPr>
                <a:t>against rough surfaces like gravel or concrete, maintaining structural integrity. It supports 200 payload without bending, preserving center-of-gravity alignment. Custom features such as mounting bosses, wiring slots, and sensor ports are integrated into the print, reducing hardware and enabling rapid payload changes. Its low-cost, quick-replacement design allows field teams to swap damaged panels efficiently, enhancing operational readiness.</a:t>
              </a:r>
            </a:p>
          </p:txBody>
        </p:sp>
        <p:sp>
          <p:nvSpPr>
            <p:cNvPr id="76" name="TextBox 18">
              <a:extLst>
                <a:ext uri="{FF2B5EF4-FFF2-40B4-BE49-F238E27FC236}">
                  <a16:creationId xmlns:a16="http://schemas.microsoft.com/office/drawing/2014/main" id="{956377E5-7665-9888-1140-8C16BF5EE08D}"/>
                </a:ext>
              </a:extLst>
            </p:cNvPr>
            <p:cNvSpPr txBox="1"/>
            <p:nvPr/>
          </p:nvSpPr>
          <p:spPr>
            <a:xfrm>
              <a:off x="5442133" y="6148369"/>
              <a:ext cx="2888186" cy="215444"/>
            </a:xfrm>
            <a:prstGeom prst="rect">
              <a:avLst/>
            </a:prstGeom>
          </p:spPr>
          <p:txBody>
            <a:bodyPr lIns="0" tIns="0" rIns="0" bIns="0" rtlCol="0" anchor="t">
              <a:spAutoFit/>
            </a:bodyPr>
            <a:lstStyle/>
            <a:p>
              <a:pPr algn="just" defTabSz="914400"/>
              <a:r>
                <a:rPr lang="en-US" sz="1400" b="1" dirty="0">
                  <a:solidFill>
                    <a:srgbClr val="000000"/>
                  </a:solidFill>
                  <a:ea typeface="Canva Sans Bold"/>
                  <a:cs typeface="Canva Sans Bold"/>
                  <a:sym typeface="Canva Sans Bold"/>
                </a:rPr>
                <a:t>Bottom Cover</a:t>
              </a:r>
            </a:p>
          </p:txBody>
        </p:sp>
      </p:grpSp>
    </p:spTree>
    <p:extLst>
      <p:ext uri="{BB962C8B-B14F-4D97-AF65-F5344CB8AC3E}">
        <p14:creationId xmlns:p14="http://schemas.microsoft.com/office/powerpoint/2010/main" val="4053470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D46AD-1753-E06E-C0E0-59E03CE00856}"/>
              </a:ext>
            </a:extLst>
          </p:cNvPr>
          <p:cNvSpPr>
            <a:spLocks noGrp="1"/>
          </p:cNvSpPr>
          <p:nvPr>
            <p:ph type="title"/>
          </p:nvPr>
        </p:nvSpPr>
        <p:spPr>
          <a:xfrm>
            <a:off x="581192" y="702156"/>
            <a:ext cx="11029616" cy="503189"/>
          </a:xfrm>
        </p:spPr>
        <p:txBody>
          <a:bodyPr>
            <a:noAutofit/>
          </a:bodyPr>
          <a:lstStyle/>
          <a:p>
            <a:r>
              <a:rPr lang="en-US" b="1" dirty="0"/>
              <a:t>Computational Analysis</a:t>
            </a:r>
          </a:p>
        </p:txBody>
      </p:sp>
      <p:sp>
        <p:nvSpPr>
          <p:cNvPr id="4" name="TextBox 3">
            <a:extLst>
              <a:ext uri="{FF2B5EF4-FFF2-40B4-BE49-F238E27FC236}">
                <a16:creationId xmlns:a16="http://schemas.microsoft.com/office/drawing/2014/main" id="{962D81A3-4E77-71F0-6C7A-5B3F26EDB124}"/>
              </a:ext>
            </a:extLst>
          </p:cNvPr>
          <p:cNvSpPr txBox="1"/>
          <p:nvPr/>
        </p:nvSpPr>
        <p:spPr>
          <a:xfrm>
            <a:off x="581192" y="1231255"/>
            <a:ext cx="3228641" cy="461665"/>
          </a:xfrm>
          <a:prstGeom prst="rect">
            <a:avLst/>
          </a:prstGeom>
          <a:noFill/>
        </p:spPr>
        <p:txBody>
          <a:bodyPr wrap="none" rtlCol="0">
            <a:spAutoFit/>
          </a:bodyPr>
          <a:lstStyle/>
          <a:p>
            <a:r>
              <a:rPr lang="en-US" sz="2400" dirty="0">
                <a:solidFill>
                  <a:srgbClr val="FFFF00"/>
                </a:solidFill>
              </a:rPr>
              <a:t>Static Structural Analysis</a:t>
            </a:r>
          </a:p>
        </p:txBody>
      </p:sp>
      <p:graphicFrame>
        <p:nvGraphicFramePr>
          <p:cNvPr id="5" name="Diagram 4">
            <a:extLst>
              <a:ext uri="{FF2B5EF4-FFF2-40B4-BE49-F238E27FC236}">
                <a16:creationId xmlns:a16="http://schemas.microsoft.com/office/drawing/2014/main" id="{A478DFB6-C551-0007-6473-EB7AAD1D474A}"/>
              </a:ext>
            </a:extLst>
          </p:cNvPr>
          <p:cNvGraphicFramePr/>
          <p:nvPr>
            <p:extLst>
              <p:ext uri="{D42A27DB-BD31-4B8C-83A1-F6EECF244321}">
                <p14:modId xmlns:p14="http://schemas.microsoft.com/office/powerpoint/2010/main" val="2775099826"/>
              </p:ext>
            </p:extLst>
          </p:nvPr>
        </p:nvGraphicFramePr>
        <p:xfrm>
          <a:off x="394993" y="1367161"/>
          <a:ext cx="8266029" cy="425958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3" name="Group 2">
            <a:extLst>
              <a:ext uri="{FF2B5EF4-FFF2-40B4-BE49-F238E27FC236}">
                <a16:creationId xmlns:a16="http://schemas.microsoft.com/office/drawing/2014/main" id="{270DA469-D52D-5D99-031D-AA7E732FAE58}"/>
              </a:ext>
            </a:extLst>
          </p:cNvPr>
          <p:cNvGrpSpPr/>
          <p:nvPr/>
        </p:nvGrpSpPr>
        <p:grpSpPr>
          <a:xfrm>
            <a:off x="6096001" y="4602701"/>
            <a:ext cx="5514808" cy="2183504"/>
            <a:chOff x="0" y="0"/>
            <a:chExt cx="6659880" cy="2118360"/>
          </a:xfrm>
        </p:grpSpPr>
        <p:pic>
          <p:nvPicPr>
            <p:cNvPr id="6" name="Picture 5">
              <a:extLst>
                <a:ext uri="{FF2B5EF4-FFF2-40B4-BE49-F238E27FC236}">
                  <a16:creationId xmlns:a16="http://schemas.microsoft.com/office/drawing/2014/main" id="{4905271E-3035-9A8E-E947-CC24FA0C7040}"/>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0" y="15240"/>
              <a:ext cx="4091940" cy="2101215"/>
            </a:xfrm>
            <a:prstGeom prst="rect">
              <a:avLst/>
            </a:prstGeom>
          </p:spPr>
        </p:pic>
        <p:pic>
          <p:nvPicPr>
            <p:cNvPr id="7" name="Picture 6">
              <a:extLst>
                <a:ext uri="{FF2B5EF4-FFF2-40B4-BE49-F238E27FC236}">
                  <a16:creationId xmlns:a16="http://schemas.microsoft.com/office/drawing/2014/main" id="{5AF630A0-AD1E-59BE-B147-4BFC5AC223E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084320" y="0"/>
              <a:ext cx="2575560" cy="2118360"/>
            </a:xfrm>
            <a:prstGeom prst="rect">
              <a:avLst/>
            </a:prstGeom>
          </p:spPr>
        </p:pic>
      </p:grpSp>
      <p:grpSp>
        <p:nvGrpSpPr>
          <p:cNvPr id="8" name="Group 7">
            <a:extLst>
              <a:ext uri="{FF2B5EF4-FFF2-40B4-BE49-F238E27FC236}">
                <a16:creationId xmlns:a16="http://schemas.microsoft.com/office/drawing/2014/main" id="{E236B4F3-14C4-3F27-5326-8893D667CCAC}"/>
              </a:ext>
            </a:extLst>
          </p:cNvPr>
          <p:cNvGrpSpPr/>
          <p:nvPr/>
        </p:nvGrpSpPr>
        <p:grpSpPr>
          <a:xfrm>
            <a:off x="232723" y="4602701"/>
            <a:ext cx="5133418" cy="2181663"/>
            <a:chOff x="0" y="0"/>
            <a:chExt cx="7054215" cy="2278380"/>
          </a:xfrm>
        </p:grpSpPr>
        <p:pic>
          <p:nvPicPr>
            <p:cNvPr id="9" name="Picture 8">
              <a:extLst>
                <a:ext uri="{FF2B5EF4-FFF2-40B4-BE49-F238E27FC236}">
                  <a16:creationId xmlns:a16="http://schemas.microsoft.com/office/drawing/2014/main" id="{681282FB-44A6-7ACA-153B-E6DBCF72538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22860"/>
              <a:ext cx="4001135" cy="2255520"/>
            </a:xfrm>
            <a:prstGeom prst="rect">
              <a:avLst/>
            </a:prstGeom>
          </p:spPr>
        </p:pic>
        <p:pic>
          <p:nvPicPr>
            <p:cNvPr id="10" name="Picture 9">
              <a:extLst>
                <a:ext uri="{FF2B5EF4-FFF2-40B4-BE49-F238E27FC236}">
                  <a16:creationId xmlns:a16="http://schemas.microsoft.com/office/drawing/2014/main" id="{64C37383-4704-452E-3C73-E28CB86B1948}"/>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000500" y="0"/>
              <a:ext cx="3053715" cy="2255520"/>
            </a:xfrm>
            <a:prstGeom prst="rect">
              <a:avLst/>
            </a:prstGeom>
          </p:spPr>
        </p:pic>
      </p:grpSp>
      <p:grpSp>
        <p:nvGrpSpPr>
          <p:cNvPr id="11" name="Group 14">
            <a:extLst>
              <a:ext uri="{FF2B5EF4-FFF2-40B4-BE49-F238E27FC236}">
                <a16:creationId xmlns:a16="http://schemas.microsoft.com/office/drawing/2014/main" id="{A4F0F95E-FBF4-F98A-0AD1-2FDAEF64F822}"/>
              </a:ext>
            </a:extLst>
          </p:cNvPr>
          <p:cNvGrpSpPr/>
          <p:nvPr/>
        </p:nvGrpSpPr>
        <p:grpSpPr>
          <a:xfrm>
            <a:off x="9658537" y="11884"/>
            <a:ext cx="2050862" cy="429876"/>
            <a:chOff x="0" y="0"/>
            <a:chExt cx="7838183" cy="1629051"/>
          </a:xfrm>
        </p:grpSpPr>
        <p:sp>
          <p:nvSpPr>
            <p:cNvPr id="12" name="Freeform 15">
              <a:extLst>
                <a:ext uri="{FF2B5EF4-FFF2-40B4-BE49-F238E27FC236}">
                  <a16:creationId xmlns:a16="http://schemas.microsoft.com/office/drawing/2014/main" id="{CE6A98D3-B09E-4540-931C-9F969B2E87EF}"/>
                </a:ext>
              </a:extLst>
            </p:cNvPr>
            <p:cNvSpPr/>
            <p:nvPr/>
          </p:nvSpPr>
          <p:spPr>
            <a:xfrm>
              <a:off x="2068432" y="472763"/>
              <a:ext cx="4016856" cy="1096665"/>
            </a:xfrm>
            <a:custGeom>
              <a:avLst/>
              <a:gdLst/>
              <a:ahLst/>
              <a:cxnLst/>
              <a:rect l="l" t="t" r="r" b="b"/>
              <a:pathLst>
                <a:path w="4016856" h="1096665">
                  <a:moveTo>
                    <a:pt x="0" y="0"/>
                  </a:moveTo>
                  <a:lnTo>
                    <a:pt x="4016856" y="0"/>
                  </a:lnTo>
                  <a:lnTo>
                    <a:pt x="4016856" y="1096666"/>
                  </a:lnTo>
                  <a:lnTo>
                    <a:pt x="0" y="1096666"/>
                  </a:lnTo>
                  <a:lnTo>
                    <a:pt x="0" y="0"/>
                  </a:lnTo>
                  <a:close/>
                </a:path>
              </a:pathLst>
            </a:custGeom>
            <a:blipFill>
              <a:blip r:embed="rId13"/>
              <a:stretch>
                <a:fillRect/>
              </a:stretch>
            </a:blipFill>
          </p:spPr>
        </p:sp>
        <p:sp>
          <p:nvSpPr>
            <p:cNvPr id="13" name="Freeform 16">
              <a:extLst>
                <a:ext uri="{FF2B5EF4-FFF2-40B4-BE49-F238E27FC236}">
                  <a16:creationId xmlns:a16="http://schemas.microsoft.com/office/drawing/2014/main" id="{006DD7AB-BCED-61D1-C5D7-270452059809}"/>
                </a:ext>
              </a:extLst>
            </p:cNvPr>
            <p:cNvSpPr/>
            <p:nvPr/>
          </p:nvSpPr>
          <p:spPr>
            <a:xfrm>
              <a:off x="0" y="0"/>
              <a:ext cx="1629051" cy="1629051"/>
            </a:xfrm>
            <a:custGeom>
              <a:avLst/>
              <a:gdLst/>
              <a:ahLst/>
              <a:cxnLst/>
              <a:rect l="l" t="t" r="r" b="b"/>
              <a:pathLst>
                <a:path w="1629051" h="1629051">
                  <a:moveTo>
                    <a:pt x="0" y="0"/>
                  </a:moveTo>
                  <a:lnTo>
                    <a:pt x="1629051" y="0"/>
                  </a:lnTo>
                  <a:lnTo>
                    <a:pt x="1629051" y="1629051"/>
                  </a:lnTo>
                  <a:lnTo>
                    <a:pt x="0" y="1629051"/>
                  </a:lnTo>
                  <a:lnTo>
                    <a:pt x="0" y="0"/>
                  </a:lnTo>
                  <a:close/>
                </a:path>
              </a:pathLst>
            </a:custGeom>
            <a:blipFill>
              <a:blip r:embed="rId14"/>
              <a:stretch>
                <a:fillRect/>
              </a:stretch>
            </a:blipFill>
          </p:spPr>
        </p:sp>
        <p:sp>
          <p:nvSpPr>
            <p:cNvPr id="14" name="Freeform 17">
              <a:extLst>
                <a:ext uri="{FF2B5EF4-FFF2-40B4-BE49-F238E27FC236}">
                  <a16:creationId xmlns:a16="http://schemas.microsoft.com/office/drawing/2014/main" id="{6AA57265-0701-CE88-4561-BEBE8A83293A}"/>
                </a:ext>
              </a:extLst>
            </p:cNvPr>
            <p:cNvSpPr/>
            <p:nvPr/>
          </p:nvSpPr>
          <p:spPr>
            <a:xfrm>
              <a:off x="6399188" y="0"/>
              <a:ext cx="1438995" cy="1629051"/>
            </a:xfrm>
            <a:custGeom>
              <a:avLst/>
              <a:gdLst/>
              <a:ahLst/>
              <a:cxnLst/>
              <a:rect l="l" t="t" r="r" b="b"/>
              <a:pathLst>
                <a:path w="1438995" h="1629051">
                  <a:moveTo>
                    <a:pt x="0" y="0"/>
                  </a:moveTo>
                  <a:lnTo>
                    <a:pt x="1438995" y="0"/>
                  </a:lnTo>
                  <a:lnTo>
                    <a:pt x="1438995" y="1629051"/>
                  </a:lnTo>
                  <a:lnTo>
                    <a:pt x="0" y="1629051"/>
                  </a:lnTo>
                  <a:lnTo>
                    <a:pt x="0" y="0"/>
                  </a:lnTo>
                  <a:close/>
                </a:path>
              </a:pathLst>
            </a:custGeom>
            <a:blipFill>
              <a:blip r:embed="rId15"/>
              <a:stretch>
                <a:fillRect/>
              </a:stretch>
            </a:blipFill>
          </p:spPr>
        </p:sp>
      </p:grpSp>
      <p:pic>
        <p:nvPicPr>
          <p:cNvPr id="15" name="Recording 2025-06-08 201655">
            <a:hlinkClick r:id="" action="ppaction://media"/>
            <a:extLst>
              <a:ext uri="{FF2B5EF4-FFF2-40B4-BE49-F238E27FC236}">
                <a16:creationId xmlns:a16="http://schemas.microsoft.com/office/drawing/2014/main" id="{22ED2880-27B6-030E-7122-3A54BAE00D48}"/>
              </a:ext>
            </a:extLst>
          </p:cNvPr>
          <p:cNvPicPr>
            <a:picLocks noChangeAspect="1"/>
          </p:cNvPicPr>
          <p:nvPr>
            <a:videoFile r:link="rId2"/>
            <p:extLst>
              <p:ext uri="{DAA4B4D4-6D71-4841-9C94-3DE7FCFB9230}">
                <p14:media xmlns:p14="http://schemas.microsoft.com/office/powerpoint/2010/main" r:embed="rId1"/>
              </p:ext>
            </p:extLst>
          </p:nvPr>
        </p:nvPicPr>
        <p:blipFill>
          <a:blip r:embed="rId16"/>
          <a:stretch>
            <a:fillRect/>
          </a:stretch>
        </p:blipFill>
        <p:spPr>
          <a:xfrm>
            <a:off x="8661022" y="2146529"/>
            <a:ext cx="3029327" cy="2183504"/>
          </a:xfrm>
          <a:prstGeom prst="rect">
            <a:avLst/>
          </a:prstGeom>
        </p:spPr>
      </p:pic>
    </p:spTree>
    <p:extLst>
      <p:ext uri="{BB962C8B-B14F-4D97-AF65-F5344CB8AC3E}">
        <p14:creationId xmlns:p14="http://schemas.microsoft.com/office/powerpoint/2010/main" val="3426178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349"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5"/>
                </p:tgtEl>
              </p:cMediaNode>
            </p:video>
            <p:seq concurrent="1" nextAc="seek">
              <p:cTn id="8" restart="whenNotActive" fill="hold" evtFilter="cancelBubble" nodeType="interactiveSeq">
                <p:stCondLst>
                  <p:cond evt="onClick" delay="0">
                    <p:tgtEl>
                      <p:spTgt spid="1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5"/>
                                        </p:tgtEl>
                                      </p:cBhvr>
                                    </p:cmd>
                                  </p:childTnLst>
                                </p:cTn>
                              </p:par>
                            </p:childTnLst>
                          </p:cTn>
                        </p:par>
                      </p:childTnLst>
                    </p:cTn>
                  </p:par>
                </p:childTnLst>
              </p:cTn>
              <p:nextCondLst>
                <p:cond evt="onClick" delay="0">
                  <p:tgtEl>
                    <p:spTgt spid="15"/>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5125A9A-CFBB-7F82-94E3-407C47E2C55D}"/>
              </a:ext>
            </a:extLst>
          </p:cNvPr>
          <p:cNvSpPr>
            <a:spLocks noGrp="1"/>
          </p:cNvSpPr>
          <p:nvPr>
            <p:ph type="title"/>
          </p:nvPr>
        </p:nvSpPr>
        <p:spPr>
          <a:xfrm>
            <a:off x="581192" y="702156"/>
            <a:ext cx="11029616" cy="503189"/>
          </a:xfrm>
        </p:spPr>
        <p:txBody>
          <a:bodyPr>
            <a:noAutofit/>
          </a:bodyPr>
          <a:lstStyle/>
          <a:p>
            <a:r>
              <a:rPr lang="en-US" b="1" dirty="0"/>
              <a:t>Computational Analysis</a:t>
            </a:r>
          </a:p>
        </p:txBody>
      </p:sp>
      <p:sp>
        <p:nvSpPr>
          <p:cNvPr id="4" name="TextBox 3">
            <a:extLst>
              <a:ext uri="{FF2B5EF4-FFF2-40B4-BE49-F238E27FC236}">
                <a16:creationId xmlns:a16="http://schemas.microsoft.com/office/drawing/2014/main" id="{76AEEF0A-749E-2021-4646-23655BA90F1E}"/>
              </a:ext>
            </a:extLst>
          </p:cNvPr>
          <p:cNvSpPr txBox="1"/>
          <p:nvPr/>
        </p:nvSpPr>
        <p:spPr>
          <a:xfrm>
            <a:off x="581192" y="1231255"/>
            <a:ext cx="1999137" cy="461665"/>
          </a:xfrm>
          <a:prstGeom prst="rect">
            <a:avLst/>
          </a:prstGeom>
          <a:noFill/>
        </p:spPr>
        <p:txBody>
          <a:bodyPr wrap="none" rtlCol="0">
            <a:spAutoFit/>
          </a:bodyPr>
          <a:lstStyle/>
          <a:p>
            <a:r>
              <a:rPr lang="en-US" sz="2400" dirty="0">
                <a:solidFill>
                  <a:srgbClr val="FFFF00"/>
                </a:solidFill>
              </a:rPr>
              <a:t>Modal Analysis</a:t>
            </a:r>
          </a:p>
        </p:txBody>
      </p:sp>
      <p:graphicFrame>
        <p:nvGraphicFramePr>
          <p:cNvPr id="6" name="Diagram 5">
            <a:extLst>
              <a:ext uri="{FF2B5EF4-FFF2-40B4-BE49-F238E27FC236}">
                <a16:creationId xmlns:a16="http://schemas.microsoft.com/office/drawing/2014/main" id="{63A14089-4B8A-5850-EBFE-E037BBB5BEB2}"/>
              </a:ext>
            </a:extLst>
          </p:cNvPr>
          <p:cNvGraphicFramePr/>
          <p:nvPr>
            <p:extLst>
              <p:ext uri="{D42A27DB-BD31-4B8C-83A1-F6EECF244321}">
                <p14:modId xmlns:p14="http://schemas.microsoft.com/office/powerpoint/2010/main" val="3015490983"/>
              </p:ext>
            </p:extLst>
          </p:nvPr>
        </p:nvGraphicFramePr>
        <p:xfrm>
          <a:off x="439606" y="1016409"/>
          <a:ext cx="8266029" cy="51394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 name="Picture 1">
            <a:extLst>
              <a:ext uri="{FF2B5EF4-FFF2-40B4-BE49-F238E27FC236}">
                <a16:creationId xmlns:a16="http://schemas.microsoft.com/office/drawing/2014/main" id="{0D179D91-611A-2255-8DEA-7829D25F4A41}"/>
              </a:ext>
            </a:extLst>
          </p:cNvPr>
          <p:cNvPicPr>
            <a:picLocks noChangeAspect="1"/>
          </p:cNvPicPr>
          <p:nvPr/>
        </p:nvPicPr>
        <p:blipFill rotWithShape="1">
          <a:blip r:embed="rId7"/>
          <a:srcRect l="1799" t="2448" b="-1"/>
          <a:stretch/>
        </p:blipFill>
        <p:spPr bwMode="auto">
          <a:xfrm>
            <a:off x="5469207" y="4746728"/>
            <a:ext cx="6283187" cy="2099388"/>
          </a:xfrm>
          <a:prstGeom prst="rect">
            <a:avLst/>
          </a:prstGeom>
          <a:ln>
            <a:solidFill>
              <a:schemeClr val="tx1"/>
            </a:solidFill>
          </a:ln>
          <a:extLst>
            <a:ext uri="{53640926-AAD7-44D8-BBD7-CCE9431645EC}">
              <a14:shadowObscured xmlns:a14="http://schemas.microsoft.com/office/drawing/2010/main"/>
            </a:ext>
          </a:extLst>
        </p:spPr>
      </p:pic>
      <p:grpSp>
        <p:nvGrpSpPr>
          <p:cNvPr id="5" name="Group 14">
            <a:extLst>
              <a:ext uri="{FF2B5EF4-FFF2-40B4-BE49-F238E27FC236}">
                <a16:creationId xmlns:a16="http://schemas.microsoft.com/office/drawing/2014/main" id="{C588C4FE-AE46-C333-CCFC-64C9BE1DA4F0}"/>
              </a:ext>
            </a:extLst>
          </p:cNvPr>
          <p:cNvGrpSpPr/>
          <p:nvPr/>
        </p:nvGrpSpPr>
        <p:grpSpPr>
          <a:xfrm>
            <a:off x="9658537" y="11884"/>
            <a:ext cx="2050862" cy="429876"/>
            <a:chOff x="0" y="0"/>
            <a:chExt cx="7838183" cy="1629051"/>
          </a:xfrm>
        </p:grpSpPr>
        <p:sp>
          <p:nvSpPr>
            <p:cNvPr id="7" name="Freeform 15">
              <a:extLst>
                <a:ext uri="{FF2B5EF4-FFF2-40B4-BE49-F238E27FC236}">
                  <a16:creationId xmlns:a16="http://schemas.microsoft.com/office/drawing/2014/main" id="{210E5CC6-65BC-A58E-AB77-EED9CA77E509}"/>
                </a:ext>
              </a:extLst>
            </p:cNvPr>
            <p:cNvSpPr/>
            <p:nvPr/>
          </p:nvSpPr>
          <p:spPr>
            <a:xfrm>
              <a:off x="2068432" y="472763"/>
              <a:ext cx="4016856" cy="1096665"/>
            </a:xfrm>
            <a:custGeom>
              <a:avLst/>
              <a:gdLst/>
              <a:ahLst/>
              <a:cxnLst/>
              <a:rect l="l" t="t" r="r" b="b"/>
              <a:pathLst>
                <a:path w="4016856" h="1096665">
                  <a:moveTo>
                    <a:pt x="0" y="0"/>
                  </a:moveTo>
                  <a:lnTo>
                    <a:pt x="4016856" y="0"/>
                  </a:lnTo>
                  <a:lnTo>
                    <a:pt x="4016856" y="1096666"/>
                  </a:lnTo>
                  <a:lnTo>
                    <a:pt x="0" y="1096666"/>
                  </a:lnTo>
                  <a:lnTo>
                    <a:pt x="0" y="0"/>
                  </a:lnTo>
                  <a:close/>
                </a:path>
              </a:pathLst>
            </a:custGeom>
            <a:blipFill>
              <a:blip r:embed="rId8"/>
              <a:stretch>
                <a:fillRect/>
              </a:stretch>
            </a:blipFill>
          </p:spPr>
        </p:sp>
        <p:sp>
          <p:nvSpPr>
            <p:cNvPr id="8" name="Freeform 16">
              <a:extLst>
                <a:ext uri="{FF2B5EF4-FFF2-40B4-BE49-F238E27FC236}">
                  <a16:creationId xmlns:a16="http://schemas.microsoft.com/office/drawing/2014/main" id="{56358437-C6E6-0A17-BAA8-3B3A37225B36}"/>
                </a:ext>
              </a:extLst>
            </p:cNvPr>
            <p:cNvSpPr/>
            <p:nvPr/>
          </p:nvSpPr>
          <p:spPr>
            <a:xfrm>
              <a:off x="0" y="0"/>
              <a:ext cx="1629051" cy="1629051"/>
            </a:xfrm>
            <a:custGeom>
              <a:avLst/>
              <a:gdLst/>
              <a:ahLst/>
              <a:cxnLst/>
              <a:rect l="l" t="t" r="r" b="b"/>
              <a:pathLst>
                <a:path w="1629051" h="1629051">
                  <a:moveTo>
                    <a:pt x="0" y="0"/>
                  </a:moveTo>
                  <a:lnTo>
                    <a:pt x="1629051" y="0"/>
                  </a:lnTo>
                  <a:lnTo>
                    <a:pt x="1629051" y="1629051"/>
                  </a:lnTo>
                  <a:lnTo>
                    <a:pt x="0" y="1629051"/>
                  </a:lnTo>
                  <a:lnTo>
                    <a:pt x="0" y="0"/>
                  </a:lnTo>
                  <a:close/>
                </a:path>
              </a:pathLst>
            </a:custGeom>
            <a:blipFill>
              <a:blip r:embed="rId9"/>
              <a:stretch>
                <a:fillRect/>
              </a:stretch>
            </a:blipFill>
          </p:spPr>
        </p:sp>
        <p:sp>
          <p:nvSpPr>
            <p:cNvPr id="9" name="Freeform 17">
              <a:extLst>
                <a:ext uri="{FF2B5EF4-FFF2-40B4-BE49-F238E27FC236}">
                  <a16:creationId xmlns:a16="http://schemas.microsoft.com/office/drawing/2014/main" id="{2D7BCCBF-45FE-A320-F15A-80D9C77AE2A0}"/>
                </a:ext>
              </a:extLst>
            </p:cNvPr>
            <p:cNvSpPr/>
            <p:nvPr/>
          </p:nvSpPr>
          <p:spPr>
            <a:xfrm>
              <a:off x="6399188" y="0"/>
              <a:ext cx="1438995" cy="1629051"/>
            </a:xfrm>
            <a:custGeom>
              <a:avLst/>
              <a:gdLst/>
              <a:ahLst/>
              <a:cxnLst/>
              <a:rect l="l" t="t" r="r" b="b"/>
              <a:pathLst>
                <a:path w="1438995" h="1629051">
                  <a:moveTo>
                    <a:pt x="0" y="0"/>
                  </a:moveTo>
                  <a:lnTo>
                    <a:pt x="1438995" y="0"/>
                  </a:lnTo>
                  <a:lnTo>
                    <a:pt x="1438995" y="1629051"/>
                  </a:lnTo>
                  <a:lnTo>
                    <a:pt x="0" y="1629051"/>
                  </a:lnTo>
                  <a:lnTo>
                    <a:pt x="0" y="0"/>
                  </a:lnTo>
                  <a:close/>
                </a:path>
              </a:pathLst>
            </a:custGeom>
            <a:blipFill>
              <a:blip r:embed="rId10"/>
              <a:stretch>
                <a:fillRect/>
              </a:stretch>
            </a:blipFill>
          </p:spPr>
        </p:sp>
      </p:grpSp>
      <p:pic>
        <p:nvPicPr>
          <p:cNvPr id="10" name="Picture 9">
            <a:extLst>
              <a:ext uri="{FF2B5EF4-FFF2-40B4-BE49-F238E27FC236}">
                <a16:creationId xmlns:a16="http://schemas.microsoft.com/office/drawing/2014/main" id="{39264BF7-ED3A-78B6-14BB-AFE493260792}"/>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038173" y="1958449"/>
            <a:ext cx="4093210" cy="2035175"/>
          </a:xfrm>
          <a:prstGeom prst="rect">
            <a:avLst/>
          </a:prstGeom>
        </p:spPr>
      </p:pic>
      <p:sp>
        <p:nvSpPr>
          <p:cNvPr id="11" name="TextBox 10">
            <a:extLst>
              <a:ext uri="{FF2B5EF4-FFF2-40B4-BE49-F238E27FC236}">
                <a16:creationId xmlns:a16="http://schemas.microsoft.com/office/drawing/2014/main" id="{EA176155-E876-68BE-E4E6-6AFF3D968626}"/>
              </a:ext>
            </a:extLst>
          </p:cNvPr>
          <p:cNvSpPr txBox="1"/>
          <p:nvPr/>
        </p:nvSpPr>
        <p:spPr>
          <a:xfrm>
            <a:off x="10725248" y="3993624"/>
            <a:ext cx="1302088" cy="276999"/>
          </a:xfrm>
          <a:prstGeom prst="rect">
            <a:avLst/>
          </a:prstGeom>
          <a:noFill/>
        </p:spPr>
        <p:txBody>
          <a:bodyPr wrap="none" rtlCol="0">
            <a:spAutoFit/>
          </a:bodyPr>
          <a:lstStyle/>
          <a:p>
            <a:r>
              <a:rPr lang="en-US" sz="1200" dirty="0">
                <a:solidFill>
                  <a:schemeClr val="bg2">
                    <a:lumMod val="75000"/>
                  </a:schemeClr>
                </a:solidFill>
              </a:rPr>
              <a:t>Frequency &amp; RPM</a:t>
            </a:r>
          </a:p>
        </p:txBody>
      </p:sp>
    </p:spTree>
    <p:extLst>
      <p:ext uri="{BB962C8B-B14F-4D97-AF65-F5344CB8AC3E}">
        <p14:creationId xmlns:p14="http://schemas.microsoft.com/office/powerpoint/2010/main" val="2723457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A217E-F7F7-E3CF-C31F-9FC058B117F6}"/>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F3E1A210-5AFF-305C-9B19-49569B25D958}"/>
              </a:ext>
            </a:extLst>
          </p:cNvPr>
          <p:cNvSpPr>
            <a:spLocks noGrp="1"/>
          </p:cNvSpPr>
          <p:nvPr>
            <p:ph type="title"/>
          </p:nvPr>
        </p:nvSpPr>
        <p:spPr>
          <a:xfrm>
            <a:off x="581192" y="702156"/>
            <a:ext cx="11029616" cy="503189"/>
          </a:xfrm>
        </p:spPr>
        <p:txBody>
          <a:bodyPr>
            <a:noAutofit/>
          </a:bodyPr>
          <a:lstStyle/>
          <a:p>
            <a:r>
              <a:rPr lang="en-US" b="1" dirty="0"/>
              <a:t>Computational Analysis</a:t>
            </a:r>
          </a:p>
        </p:txBody>
      </p:sp>
      <p:sp>
        <p:nvSpPr>
          <p:cNvPr id="4" name="TextBox 3">
            <a:extLst>
              <a:ext uri="{FF2B5EF4-FFF2-40B4-BE49-F238E27FC236}">
                <a16:creationId xmlns:a16="http://schemas.microsoft.com/office/drawing/2014/main" id="{A816657D-C0B3-8450-ABB5-F0017CA80787}"/>
              </a:ext>
            </a:extLst>
          </p:cNvPr>
          <p:cNvSpPr txBox="1"/>
          <p:nvPr/>
        </p:nvSpPr>
        <p:spPr>
          <a:xfrm>
            <a:off x="581192" y="1231255"/>
            <a:ext cx="2885918" cy="461665"/>
          </a:xfrm>
          <a:prstGeom prst="rect">
            <a:avLst/>
          </a:prstGeom>
          <a:noFill/>
        </p:spPr>
        <p:txBody>
          <a:bodyPr wrap="none" rtlCol="0">
            <a:spAutoFit/>
          </a:bodyPr>
          <a:lstStyle/>
          <a:p>
            <a:r>
              <a:rPr lang="en-US" sz="2400" dirty="0">
                <a:solidFill>
                  <a:srgbClr val="FFFF00"/>
                </a:solidFill>
              </a:rPr>
              <a:t>Aerodynamic Analysis</a:t>
            </a:r>
          </a:p>
        </p:txBody>
      </p:sp>
      <p:graphicFrame>
        <p:nvGraphicFramePr>
          <p:cNvPr id="6" name="Diagram 5">
            <a:extLst>
              <a:ext uri="{FF2B5EF4-FFF2-40B4-BE49-F238E27FC236}">
                <a16:creationId xmlns:a16="http://schemas.microsoft.com/office/drawing/2014/main" id="{B804C4E0-35C7-572A-8AA9-318C7A4E25CF}"/>
              </a:ext>
            </a:extLst>
          </p:cNvPr>
          <p:cNvGraphicFramePr/>
          <p:nvPr>
            <p:extLst>
              <p:ext uri="{D42A27DB-BD31-4B8C-83A1-F6EECF244321}">
                <p14:modId xmlns:p14="http://schemas.microsoft.com/office/powerpoint/2010/main" val="2957675655"/>
              </p:ext>
            </p:extLst>
          </p:nvPr>
        </p:nvGraphicFramePr>
        <p:xfrm>
          <a:off x="359483" y="1367161"/>
          <a:ext cx="10151499" cy="42595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5" name="Group 4">
            <a:extLst>
              <a:ext uri="{FF2B5EF4-FFF2-40B4-BE49-F238E27FC236}">
                <a16:creationId xmlns:a16="http://schemas.microsoft.com/office/drawing/2014/main" id="{61EA191B-CF95-D51D-4884-8D2728CC4B9A}"/>
              </a:ext>
            </a:extLst>
          </p:cNvPr>
          <p:cNvGrpSpPr/>
          <p:nvPr/>
        </p:nvGrpSpPr>
        <p:grpSpPr>
          <a:xfrm>
            <a:off x="174970" y="4687207"/>
            <a:ext cx="3464242" cy="2018381"/>
            <a:chOff x="0" y="0"/>
            <a:chExt cx="6670454" cy="3959391"/>
          </a:xfrm>
        </p:grpSpPr>
        <p:grpSp>
          <p:nvGrpSpPr>
            <p:cNvPr id="8" name="Group 7">
              <a:extLst>
                <a:ext uri="{FF2B5EF4-FFF2-40B4-BE49-F238E27FC236}">
                  <a16:creationId xmlns:a16="http://schemas.microsoft.com/office/drawing/2014/main" id="{096468DB-EDC1-BA02-D28F-CDE9BB5A5C0C}"/>
                </a:ext>
              </a:extLst>
            </p:cNvPr>
            <p:cNvGrpSpPr/>
            <p:nvPr/>
          </p:nvGrpSpPr>
          <p:grpSpPr>
            <a:xfrm>
              <a:off x="71562" y="0"/>
              <a:ext cx="6598892" cy="1899920"/>
              <a:chOff x="0" y="0"/>
              <a:chExt cx="6598892" cy="1899920"/>
            </a:xfrm>
          </p:grpSpPr>
          <p:pic>
            <p:nvPicPr>
              <p:cNvPr id="12" name="Picture 11">
                <a:extLst>
                  <a:ext uri="{FF2B5EF4-FFF2-40B4-BE49-F238E27FC236}">
                    <a16:creationId xmlns:a16="http://schemas.microsoft.com/office/drawing/2014/main" id="{1DFC61F4-36B6-C2F1-2D7C-77E18FA6D962}"/>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r="8272" b="18742"/>
              <a:stretch/>
            </p:blipFill>
            <p:spPr bwMode="auto">
              <a:xfrm>
                <a:off x="3824577" y="23854"/>
                <a:ext cx="2774315" cy="1860550"/>
              </a:xfrm>
              <a:prstGeom prst="rect">
                <a:avLst/>
              </a:prstGeom>
              <a:ln>
                <a:solidFill>
                  <a:schemeClr val="tx1"/>
                </a:solidFill>
              </a:ln>
              <a:extLst>
                <a:ext uri="{53640926-AAD7-44D8-BBD7-CCE9431645EC}">
                  <a14:shadowObscured xmlns:a14="http://schemas.microsoft.com/office/drawing/2010/main"/>
                </a:ext>
              </a:extLst>
            </p:spPr>
          </p:pic>
          <p:pic>
            <p:nvPicPr>
              <p:cNvPr id="13" name="Picture 12">
                <a:extLst>
                  <a:ext uri="{FF2B5EF4-FFF2-40B4-BE49-F238E27FC236}">
                    <a16:creationId xmlns:a16="http://schemas.microsoft.com/office/drawing/2014/main" id="{5397A09F-3730-9C34-8129-6E2A209580D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0" y="0"/>
                <a:ext cx="3783330" cy="1899920"/>
              </a:xfrm>
              <a:prstGeom prst="rect">
                <a:avLst/>
              </a:prstGeom>
              <a:ln>
                <a:solidFill>
                  <a:schemeClr val="tx1"/>
                </a:solidFill>
              </a:ln>
            </p:spPr>
          </p:pic>
        </p:grpSp>
        <p:grpSp>
          <p:nvGrpSpPr>
            <p:cNvPr id="9" name="Group 8">
              <a:extLst>
                <a:ext uri="{FF2B5EF4-FFF2-40B4-BE49-F238E27FC236}">
                  <a16:creationId xmlns:a16="http://schemas.microsoft.com/office/drawing/2014/main" id="{A89AF75C-6D4B-EABE-37ED-88FB7ECC3FAA}"/>
                </a:ext>
              </a:extLst>
            </p:cNvPr>
            <p:cNvGrpSpPr/>
            <p:nvPr/>
          </p:nvGrpSpPr>
          <p:grpSpPr>
            <a:xfrm>
              <a:off x="0" y="1924216"/>
              <a:ext cx="6606541" cy="2035175"/>
              <a:chOff x="0" y="0"/>
              <a:chExt cx="6623050" cy="2021205"/>
            </a:xfrm>
          </p:grpSpPr>
          <p:pic>
            <p:nvPicPr>
              <p:cNvPr id="10" name="Picture 9">
                <a:extLst>
                  <a:ext uri="{FF2B5EF4-FFF2-40B4-BE49-F238E27FC236}">
                    <a16:creationId xmlns:a16="http://schemas.microsoft.com/office/drawing/2014/main" id="{156CCC45-3E1B-1F15-58AF-3AD5A19CD5CE}"/>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0" y="0"/>
                <a:ext cx="4006850" cy="2021205"/>
              </a:xfrm>
              <a:prstGeom prst="rect">
                <a:avLst/>
              </a:prstGeom>
              <a:ln>
                <a:solidFill>
                  <a:schemeClr val="tx1"/>
                </a:solidFill>
              </a:ln>
            </p:spPr>
          </p:pic>
          <p:pic>
            <p:nvPicPr>
              <p:cNvPr id="11" name="Picture 10">
                <a:extLst>
                  <a:ext uri="{FF2B5EF4-FFF2-40B4-BE49-F238E27FC236}">
                    <a16:creationId xmlns:a16="http://schemas.microsoft.com/office/drawing/2014/main" id="{5D102991-8A37-5720-2FC3-DFF80930979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023360" y="23854"/>
                <a:ext cx="2599690" cy="1912620"/>
              </a:xfrm>
              <a:prstGeom prst="rect">
                <a:avLst/>
              </a:prstGeom>
              <a:ln>
                <a:solidFill>
                  <a:schemeClr val="tx1"/>
                </a:solidFill>
              </a:ln>
            </p:spPr>
          </p:pic>
        </p:grpSp>
      </p:grpSp>
      <p:grpSp>
        <p:nvGrpSpPr>
          <p:cNvPr id="14" name="Group 13">
            <a:extLst>
              <a:ext uri="{FF2B5EF4-FFF2-40B4-BE49-F238E27FC236}">
                <a16:creationId xmlns:a16="http://schemas.microsoft.com/office/drawing/2014/main" id="{4732E611-F57C-2865-CC3D-B5E357966AC3}"/>
              </a:ext>
            </a:extLst>
          </p:cNvPr>
          <p:cNvGrpSpPr/>
          <p:nvPr/>
        </p:nvGrpSpPr>
        <p:grpSpPr>
          <a:xfrm>
            <a:off x="4867018" y="4983056"/>
            <a:ext cx="3121400" cy="1746951"/>
            <a:chOff x="0" y="0"/>
            <a:chExt cx="3178175" cy="1738161"/>
          </a:xfrm>
        </p:grpSpPr>
        <p:pic>
          <p:nvPicPr>
            <p:cNvPr id="15" name="Picture 14">
              <a:extLst>
                <a:ext uri="{FF2B5EF4-FFF2-40B4-BE49-F238E27FC236}">
                  <a16:creationId xmlns:a16="http://schemas.microsoft.com/office/drawing/2014/main" id="{C13FC86F-F30F-DE53-A9E8-BF02A8B7B383}"/>
                </a:ext>
              </a:extLst>
            </p:cNvPr>
            <p:cNvPicPr>
              <a:picLocks noChangeAspect="1"/>
            </p:cNvPicPr>
            <p:nvPr/>
          </p:nvPicPr>
          <p:blipFill rotWithShape="1">
            <a:blip r:embed="rId11" cstate="print">
              <a:extLst>
                <a:ext uri="{28A0092B-C50C-407E-A947-70E740481C1C}">
                  <a14:useLocalDpi xmlns:a14="http://schemas.microsoft.com/office/drawing/2010/main" val="0"/>
                </a:ext>
              </a:extLst>
            </a:blip>
            <a:srcRect t="992"/>
            <a:stretch/>
          </p:blipFill>
          <p:spPr bwMode="auto">
            <a:xfrm>
              <a:off x="19050" y="0"/>
              <a:ext cx="3159125" cy="1713865"/>
            </a:xfrm>
            <a:prstGeom prst="rect">
              <a:avLst/>
            </a:prstGeom>
            <a:ln>
              <a:solidFill>
                <a:schemeClr val="tx1"/>
              </a:solidFill>
            </a:ln>
            <a:extLst>
              <a:ext uri="{53640926-AAD7-44D8-BBD7-CCE9431645EC}">
                <a14:shadowObscured xmlns:a14="http://schemas.microsoft.com/office/drawing/2010/main"/>
              </a:ext>
            </a:extLst>
          </p:spPr>
        </p:pic>
        <p:sp>
          <p:nvSpPr>
            <p:cNvPr id="16" name="Text Box 1">
              <a:extLst>
                <a:ext uri="{FF2B5EF4-FFF2-40B4-BE49-F238E27FC236}">
                  <a16:creationId xmlns:a16="http://schemas.microsoft.com/office/drawing/2014/main" id="{174A48CB-90C2-7347-6FC9-3A00378C7E9E}"/>
                </a:ext>
              </a:extLst>
            </p:cNvPr>
            <p:cNvSpPr txBox="1"/>
            <p:nvPr/>
          </p:nvSpPr>
          <p:spPr>
            <a:xfrm>
              <a:off x="0" y="1539406"/>
              <a:ext cx="1783080" cy="198755"/>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noAutofit/>
            </a:bodyPr>
            <a:lstStyle/>
            <a:p>
              <a:pPr marL="0" marR="0">
                <a:lnSpc>
                  <a:spcPct val="115000"/>
                </a:lnSpc>
                <a:spcAft>
                  <a:spcPts val="1000"/>
                </a:spcAft>
              </a:pPr>
              <a:r>
                <a:rPr lang="en-US" sz="900" i="1" kern="100" dirty="0">
                  <a:solidFill>
                    <a:srgbClr val="44546A"/>
                  </a:solidFill>
                  <a:effectLst/>
                  <a:latin typeface="Arial" panose="020B0604020202020204" pitchFamily="34" charset="0"/>
                  <a:ea typeface="Calibri" panose="020F0502020204030204" pitchFamily="34" charset="0"/>
                  <a:cs typeface="Cordia New" panose="020B0304020202020204" pitchFamily="34" charset="-34"/>
                </a:rPr>
                <a:t>Figure  – Flowlines about UAS</a:t>
              </a:r>
            </a:p>
          </p:txBody>
        </p:sp>
      </p:grpSp>
      <p:grpSp>
        <p:nvGrpSpPr>
          <p:cNvPr id="17" name="Group 16">
            <a:extLst>
              <a:ext uri="{FF2B5EF4-FFF2-40B4-BE49-F238E27FC236}">
                <a16:creationId xmlns:a16="http://schemas.microsoft.com/office/drawing/2014/main" id="{966B71F1-65DC-1527-00EB-E95CDEA4E43E}"/>
              </a:ext>
            </a:extLst>
          </p:cNvPr>
          <p:cNvGrpSpPr/>
          <p:nvPr/>
        </p:nvGrpSpPr>
        <p:grpSpPr>
          <a:xfrm>
            <a:off x="8159641" y="5020532"/>
            <a:ext cx="3939053" cy="1784453"/>
            <a:chOff x="0" y="0"/>
            <a:chExt cx="4555490" cy="2036169"/>
          </a:xfrm>
        </p:grpSpPr>
        <p:pic>
          <p:nvPicPr>
            <p:cNvPr id="18" name="Picture 17">
              <a:extLst>
                <a:ext uri="{FF2B5EF4-FFF2-40B4-BE49-F238E27FC236}">
                  <a16:creationId xmlns:a16="http://schemas.microsoft.com/office/drawing/2014/main" id="{0EE75D30-FC73-F1FF-D1AA-337A3F93D09D}"/>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4555490" cy="1925320"/>
            </a:xfrm>
            <a:prstGeom prst="rect">
              <a:avLst/>
            </a:prstGeom>
            <a:ln>
              <a:solidFill>
                <a:schemeClr val="tx1"/>
              </a:solidFill>
            </a:ln>
          </p:spPr>
        </p:pic>
        <p:sp>
          <p:nvSpPr>
            <p:cNvPr id="19" name="Text Box 1">
              <a:extLst>
                <a:ext uri="{FF2B5EF4-FFF2-40B4-BE49-F238E27FC236}">
                  <a16:creationId xmlns:a16="http://schemas.microsoft.com/office/drawing/2014/main" id="{48839016-50F0-D6E9-B15C-9EDC25C19206}"/>
                </a:ext>
              </a:extLst>
            </p:cNvPr>
            <p:cNvSpPr txBox="1"/>
            <p:nvPr/>
          </p:nvSpPr>
          <p:spPr>
            <a:xfrm>
              <a:off x="2883177" y="1833604"/>
              <a:ext cx="1668780" cy="202565"/>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noAutofit/>
            </a:bodyPr>
            <a:lstStyle/>
            <a:p>
              <a:pPr marL="0" marR="0">
                <a:lnSpc>
                  <a:spcPct val="115000"/>
                </a:lnSpc>
                <a:spcAft>
                  <a:spcPts val="1000"/>
                </a:spcAft>
              </a:pPr>
              <a:r>
                <a:rPr lang="en-US" sz="900" i="1" kern="100" dirty="0">
                  <a:solidFill>
                    <a:srgbClr val="44546A"/>
                  </a:solidFill>
                  <a:effectLst/>
                  <a:latin typeface="Arial" panose="020B0604020202020204" pitchFamily="34" charset="0"/>
                  <a:ea typeface="Calibri" panose="020F0502020204030204" pitchFamily="34" charset="0"/>
                  <a:cs typeface="Cordia New" panose="020B0304020202020204" pitchFamily="34" charset="-34"/>
                </a:rPr>
                <a:t>Figure 18 -Drag Analysis of UAS</a:t>
              </a:r>
            </a:p>
          </p:txBody>
        </p:sp>
      </p:grpSp>
      <p:grpSp>
        <p:nvGrpSpPr>
          <p:cNvPr id="20" name="Group 14">
            <a:extLst>
              <a:ext uri="{FF2B5EF4-FFF2-40B4-BE49-F238E27FC236}">
                <a16:creationId xmlns:a16="http://schemas.microsoft.com/office/drawing/2014/main" id="{AEB69A68-4CAF-7204-BB00-48BB2D91D121}"/>
              </a:ext>
            </a:extLst>
          </p:cNvPr>
          <p:cNvGrpSpPr/>
          <p:nvPr/>
        </p:nvGrpSpPr>
        <p:grpSpPr>
          <a:xfrm>
            <a:off x="9658537" y="11884"/>
            <a:ext cx="2050862" cy="429876"/>
            <a:chOff x="0" y="0"/>
            <a:chExt cx="7838183" cy="1629051"/>
          </a:xfrm>
        </p:grpSpPr>
        <p:sp>
          <p:nvSpPr>
            <p:cNvPr id="21" name="Freeform 15">
              <a:extLst>
                <a:ext uri="{FF2B5EF4-FFF2-40B4-BE49-F238E27FC236}">
                  <a16:creationId xmlns:a16="http://schemas.microsoft.com/office/drawing/2014/main" id="{0345C9DA-C5E1-D3A8-657A-D7B284CCC78E}"/>
                </a:ext>
              </a:extLst>
            </p:cNvPr>
            <p:cNvSpPr/>
            <p:nvPr/>
          </p:nvSpPr>
          <p:spPr>
            <a:xfrm>
              <a:off x="2068432" y="472763"/>
              <a:ext cx="4016856" cy="1096665"/>
            </a:xfrm>
            <a:custGeom>
              <a:avLst/>
              <a:gdLst/>
              <a:ahLst/>
              <a:cxnLst/>
              <a:rect l="l" t="t" r="r" b="b"/>
              <a:pathLst>
                <a:path w="4016856" h="1096665">
                  <a:moveTo>
                    <a:pt x="0" y="0"/>
                  </a:moveTo>
                  <a:lnTo>
                    <a:pt x="4016856" y="0"/>
                  </a:lnTo>
                  <a:lnTo>
                    <a:pt x="4016856" y="1096666"/>
                  </a:lnTo>
                  <a:lnTo>
                    <a:pt x="0" y="1096666"/>
                  </a:lnTo>
                  <a:lnTo>
                    <a:pt x="0" y="0"/>
                  </a:lnTo>
                  <a:close/>
                </a:path>
              </a:pathLst>
            </a:custGeom>
            <a:blipFill>
              <a:blip r:embed="rId13"/>
              <a:stretch>
                <a:fillRect/>
              </a:stretch>
            </a:blipFill>
          </p:spPr>
        </p:sp>
        <p:sp>
          <p:nvSpPr>
            <p:cNvPr id="22" name="Freeform 16">
              <a:extLst>
                <a:ext uri="{FF2B5EF4-FFF2-40B4-BE49-F238E27FC236}">
                  <a16:creationId xmlns:a16="http://schemas.microsoft.com/office/drawing/2014/main" id="{DA24F976-E496-99FE-A1DE-BC3841C1561E}"/>
                </a:ext>
              </a:extLst>
            </p:cNvPr>
            <p:cNvSpPr/>
            <p:nvPr/>
          </p:nvSpPr>
          <p:spPr>
            <a:xfrm>
              <a:off x="0" y="0"/>
              <a:ext cx="1629051" cy="1629051"/>
            </a:xfrm>
            <a:custGeom>
              <a:avLst/>
              <a:gdLst/>
              <a:ahLst/>
              <a:cxnLst/>
              <a:rect l="l" t="t" r="r" b="b"/>
              <a:pathLst>
                <a:path w="1629051" h="1629051">
                  <a:moveTo>
                    <a:pt x="0" y="0"/>
                  </a:moveTo>
                  <a:lnTo>
                    <a:pt x="1629051" y="0"/>
                  </a:lnTo>
                  <a:lnTo>
                    <a:pt x="1629051" y="1629051"/>
                  </a:lnTo>
                  <a:lnTo>
                    <a:pt x="0" y="1629051"/>
                  </a:lnTo>
                  <a:lnTo>
                    <a:pt x="0" y="0"/>
                  </a:lnTo>
                  <a:close/>
                </a:path>
              </a:pathLst>
            </a:custGeom>
            <a:blipFill>
              <a:blip r:embed="rId14"/>
              <a:stretch>
                <a:fillRect/>
              </a:stretch>
            </a:blipFill>
          </p:spPr>
        </p:sp>
        <p:sp>
          <p:nvSpPr>
            <p:cNvPr id="23" name="Freeform 17">
              <a:extLst>
                <a:ext uri="{FF2B5EF4-FFF2-40B4-BE49-F238E27FC236}">
                  <a16:creationId xmlns:a16="http://schemas.microsoft.com/office/drawing/2014/main" id="{AA066C66-0605-B23F-2473-0C196710232F}"/>
                </a:ext>
              </a:extLst>
            </p:cNvPr>
            <p:cNvSpPr/>
            <p:nvPr/>
          </p:nvSpPr>
          <p:spPr>
            <a:xfrm>
              <a:off x="6399188" y="0"/>
              <a:ext cx="1438995" cy="1629051"/>
            </a:xfrm>
            <a:custGeom>
              <a:avLst/>
              <a:gdLst/>
              <a:ahLst/>
              <a:cxnLst/>
              <a:rect l="l" t="t" r="r" b="b"/>
              <a:pathLst>
                <a:path w="1438995" h="1629051">
                  <a:moveTo>
                    <a:pt x="0" y="0"/>
                  </a:moveTo>
                  <a:lnTo>
                    <a:pt x="1438995" y="0"/>
                  </a:lnTo>
                  <a:lnTo>
                    <a:pt x="1438995" y="1629051"/>
                  </a:lnTo>
                  <a:lnTo>
                    <a:pt x="0" y="1629051"/>
                  </a:lnTo>
                  <a:lnTo>
                    <a:pt x="0" y="0"/>
                  </a:lnTo>
                  <a:close/>
                </a:path>
              </a:pathLst>
            </a:custGeom>
            <a:blipFill>
              <a:blip r:embed="rId15"/>
              <a:stretch>
                <a:fillRect/>
              </a:stretch>
            </a:blipFill>
          </p:spPr>
        </p:sp>
      </p:grpSp>
    </p:spTree>
    <p:extLst>
      <p:ext uri="{BB962C8B-B14F-4D97-AF65-F5344CB8AC3E}">
        <p14:creationId xmlns:p14="http://schemas.microsoft.com/office/powerpoint/2010/main" val="21271778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00E54-3480-B42C-6D04-38292BE199AB}"/>
              </a:ext>
            </a:extLst>
          </p:cNvPr>
          <p:cNvSpPr>
            <a:spLocks noGrp="1"/>
          </p:cNvSpPr>
          <p:nvPr>
            <p:ph type="title"/>
          </p:nvPr>
        </p:nvSpPr>
        <p:spPr>
          <a:xfrm>
            <a:off x="575894" y="729658"/>
            <a:ext cx="11029616" cy="505755"/>
          </a:xfrm>
        </p:spPr>
        <p:txBody>
          <a:bodyPr>
            <a:normAutofit fontScale="90000"/>
          </a:bodyPr>
          <a:lstStyle/>
          <a:p>
            <a:r>
              <a:rPr lang="en-US" b="1" dirty="0"/>
              <a:t>Center of gravity &amp; stability</a:t>
            </a:r>
          </a:p>
        </p:txBody>
      </p:sp>
      <p:sp>
        <p:nvSpPr>
          <p:cNvPr id="3" name="TextBox 2">
            <a:extLst>
              <a:ext uri="{FF2B5EF4-FFF2-40B4-BE49-F238E27FC236}">
                <a16:creationId xmlns:a16="http://schemas.microsoft.com/office/drawing/2014/main" id="{A2017C0E-DE5D-59D3-DB53-980A88C71E88}"/>
              </a:ext>
            </a:extLst>
          </p:cNvPr>
          <p:cNvSpPr txBox="1"/>
          <p:nvPr/>
        </p:nvSpPr>
        <p:spPr>
          <a:xfrm>
            <a:off x="575894" y="1322727"/>
            <a:ext cx="2303493" cy="430887"/>
          </a:xfrm>
          <a:prstGeom prst="rect">
            <a:avLst/>
          </a:prstGeom>
          <a:noFill/>
        </p:spPr>
        <p:txBody>
          <a:bodyPr wrap="square" rtlCol="0">
            <a:spAutoFit/>
          </a:bodyPr>
          <a:lstStyle/>
          <a:p>
            <a:r>
              <a:rPr lang="en-US" sz="2200" dirty="0">
                <a:solidFill>
                  <a:srgbClr val="FFFF00"/>
                </a:solidFill>
              </a:rPr>
              <a:t>Center of Gravity</a:t>
            </a:r>
          </a:p>
        </p:txBody>
      </p:sp>
      <p:sp>
        <p:nvSpPr>
          <p:cNvPr id="4" name="Rectangle 1">
            <a:extLst>
              <a:ext uri="{FF2B5EF4-FFF2-40B4-BE49-F238E27FC236}">
                <a16:creationId xmlns:a16="http://schemas.microsoft.com/office/drawing/2014/main" id="{DD618A75-7C94-0B76-734C-5720C6C56344}"/>
              </a:ext>
            </a:extLst>
          </p:cNvPr>
          <p:cNvSpPr>
            <a:spLocks noChangeArrowheads="1"/>
          </p:cNvSpPr>
          <p:nvPr/>
        </p:nvSpPr>
        <p:spPr bwMode="auto">
          <a:xfrm>
            <a:off x="429208" y="1890687"/>
            <a:ext cx="7781731"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tabLst/>
            </a:pPr>
            <a:r>
              <a:rPr kumimoji="0" lang="en-US" altLang="en-US" sz="1500" b="1" i="0" u="none" strike="noStrike" cap="none" normalizeH="0" baseline="0" dirty="0">
                <a:ln>
                  <a:noFill/>
                </a:ln>
                <a:solidFill>
                  <a:schemeClr val="tx1"/>
                </a:solidFill>
                <a:effectLst/>
              </a:rPr>
              <a:t>Importance:</a:t>
            </a:r>
            <a:br>
              <a:rPr kumimoji="0" lang="en-US" altLang="en-US" sz="1500" b="0" i="0" u="none" strike="noStrike" cap="none" normalizeH="0" baseline="0" dirty="0">
                <a:ln>
                  <a:noFill/>
                </a:ln>
                <a:solidFill>
                  <a:schemeClr val="tx1"/>
                </a:solidFill>
                <a:effectLst/>
              </a:rPr>
            </a:br>
            <a:r>
              <a:rPr kumimoji="0" lang="en-US" altLang="en-US" sz="1500" b="0" i="0" u="none" strike="noStrike" cap="none" normalizeH="0" baseline="0" dirty="0">
                <a:ln>
                  <a:noFill/>
                </a:ln>
                <a:solidFill>
                  <a:schemeClr val="tx1"/>
                </a:solidFill>
                <a:effectLst/>
              </a:rPr>
              <a:t>An accurately placed CG is essential for balanced lift, control responsiveness, and overall flight performance.</a:t>
            </a:r>
          </a:p>
          <a:p>
            <a:pPr marL="0" marR="0" lvl="0" indent="0" defTabSz="914400" rtl="0" eaLnBrk="0" fontAlgn="base" latinLnBrk="0" hangingPunct="0">
              <a:lnSpc>
                <a:spcPct val="100000"/>
              </a:lnSpc>
              <a:spcBef>
                <a:spcPct val="0"/>
              </a:spcBef>
              <a:spcAft>
                <a:spcPct val="0"/>
              </a:spcAft>
              <a:buClrTx/>
              <a:buSzTx/>
              <a:tabLst/>
            </a:pPr>
            <a:r>
              <a:rPr kumimoji="0" lang="en-US" altLang="en-US" sz="1500" b="1" i="0" u="none" strike="noStrike" cap="none" normalizeH="0" baseline="0" dirty="0">
                <a:ln>
                  <a:noFill/>
                </a:ln>
                <a:solidFill>
                  <a:schemeClr val="tx1"/>
                </a:solidFill>
                <a:effectLst/>
              </a:rPr>
              <a:t>Desired CG Positioning:</a:t>
            </a:r>
            <a:endParaRPr kumimoji="0" lang="en-US" altLang="en-US" sz="1500" b="0" i="0" u="none" strike="noStrike" cap="none" normalizeH="0" baseline="0" dirty="0">
              <a:ln>
                <a:noFill/>
              </a:ln>
              <a:solidFill>
                <a:schemeClr val="tx1"/>
              </a:solidFill>
              <a:effectLst/>
            </a:endParaRP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500" b="1" i="0" u="none" strike="noStrike" cap="none" normalizeH="0" baseline="0" dirty="0">
                <a:ln>
                  <a:noFill/>
                </a:ln>
                <a:solidFill>
                  <a:schemeClr val="tx1"/>
                </a:solidFill>
                <a:effectLst/>
              </a:rPr>
              <a:t>Horizontal:</a:t>
            </a:r>
            <a:r>
              <a:rPr kumimoji="0" lang="en-US" altLang="en-US" sz="1500" b="0" i="0" u="none" strike="noStrike" cap="none" normalizeH="0" baseline="0" dirty="0">
                <a:ln>
                  <a:noFill/>
                </a:ln>
                <a:solidFill>
                  <a:schemeClr val="tx1"/>
                </a:solidFill>
                <a:effectLst/>
              </a:rPr>
              <a:t> At the geometric center of the “X” formed by the four motor arms, ensuring uniform lift from each propeller.</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500" b="1" i="0" u="none" strike="noStrike" cap="none" normalizeH="0" baseline="0" dirty="0">
                <a:ln>
                  <a:noFill/>
                </a:ln>
                <a:solidFill>
                  <a:schemeClr val="tx1"/>
                </a:solidFill>
                <a:effectLst/>
              </a:rPr>
              <a:t>Vertical:</a:t>
            </a:r>
            <a:r>
              <a:rPr kumimoji="0" lang="en-US" altLang="en-US" sz="1500" b="0" i="0" u="none" strike="noStrike" cap="none" normalizeH="0" baseline="0" dirty="0">
                <a:ln>
                  <a:noFill/>
                </a:ln>
                <a:solidFill>
                  <a:schemeClr val="tx1"/>
                </a:solidFill>
                <a:effectLst/>
              </a:rPr>
              <a:t> At or just below the propeller plane.</a:t>
            </a:r>
          </a:p>
          <a:p>
            <a:pPr marL="457200" marR="0" lvl="1" indent="0"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rPr>
              <a:t>A higher CG (closer to prop plane) improves positional stability (e.g., hover), yet may reduce speed stability.</a:t>
            </a:r>
          </a:p>
          <a:p>
            <a:pPr marL="457200" marR="0" lvl="1" indent="0"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rPr>
              <a:t>A lower CG (below prop plane) enhances speed stability but can slightly compromise hovering precision.</a:t>
            </a:r>
          </a:p>
        </p:txBody>
      </p:sp>
      <p:sp>
        <p:nvSpPr>
          <p:cNvPr id="6" name="TextBox 5">
            <a:extLst>
              <a:ext uri="{FF2B5EF4-FFF2-40B4-BE49-F238E27FC236}">
                <a16:creationId xmlns:a16="http://schemas.microsoft.com/office/drawing/2014/main" id="{6560F91D-BF76-E719-1F6A-2251A2266A9C}"/>
              </a:ext>
            </a:extLst>
          </p:cNvPr>
          <p:cNvSpPr txBox="1"/>
          <p:nvPr/>
        </p:nvSpPr>
        <p:spPr>
          <a:xfrm>
            <a:off x="426498" y="4522177"/>
            <a:ext cx="7010000" cy="2169825"/>
          </a:xfrm>
          <a:prstGeom prst="rect">
            <a:avLst/>
          </a:prstGeom>
          <a:noFill/>
        </p:spPr>
        <p:txBody>
          <a:bodyPr wrap="square">
            <a:spAutoFit/>
          </a:bodyPr>
          <a:lstStyle/>
          <a:p>
            <a:pPr algn="just">
              <a:buNone/>
            </a:pPr>
            <a:r>
              <a:rPr lang="en-US" sz="1500" b="1" dirty="0"/>
              <a:t>Methodology (SolidWorks Mass Properties):</a:t>
            </a:r>
            <a:endParaRPr lang="en-US" sz="1500" dirty="0"/>
          </a:p>
          <a:p>
            <a:pPr algn="just">
              <a:buFont typeface="+mj-lt"/>
              <a:buAutoNum type="arabicPeriod"/>
            </a:pPr>
            <a:r>
              <a:rPr lang="en-US" sz="1500" b="1" dirty="0"/>
              <a:t>Assemble Full CAD Model:</a:t>
            </a:r>
            <a:r>
              <a:rPr lang="en-US" sz="1500" dirty="0"/>
              <a:t> All structural and electronic components (frame, motors, battery, flight controller, sensors, etc.) are positioned in their intended locations.</a:t>
            </a:r>
          </a:p>
          <a:p>
            <a:pPr algn="just">
              <a:buFont typeface="+mj-lt"/>
              <a:buAutoNum type="arabicPeriod"/>
            </a:pPr>
            <a:r>
              <a:rPr lang="en-US" sz="1500" b="1" dirty="0"/>
              <a:t>Hand Calculation:</a:t>
            </a:r>
            <a:r>
              <a:rPr lang="en-US" sz="1500" dirty="0"/>
              <a:t> Using </a:t>
            </a:r>
            <a:r>
              <a:rPr lang="en-US" sz="1500" b="1" dirty="0"/>
              <a:t>measure </a:t>
            </a:r>
            <a:r>
              <a:rPr lang="en-US" sz="1500" dirty="0"/>
              <a:t>feature to estimate the distance of different components from origin and CG is calculated using formulas.</a:t>
            </a:r>
          </a:p>
          <a:p>
            <a:pPr algn="just">
              <a:buFont typeface="+mj-lt"/>
              <a:buAutoNum type="arabicPeriod"/>
            </a:pPr>
            <a:r>
              <a:rPr lang="en-US" sz="1500" b="1" dirty="0"/>
              <a:t>Preliminary Coordinates (Approximate):</a:t>
            </a:r>
            <a:endParaRPr lang="en-US" sz="1500" dirty="0"/>
          </a:p>
          <a:p>
            <a:pPr marL="742950" lvl="1" indent="-285750" algn="just">
              <a:buFont typeface="+mj-lt"/>
              <a:buAutoNum type="arabicPeriod"/>
            </a:pPr>
            <a:r>
              <a:rPr lang="en-US" sz="1500" dirty="0"/>
              <a:t>𝑥 = -0.20 mm</a:t>
            </a:r>
          </a:p>
          <a:p>
            <a:pPr marL="742950" lvl="1" indent="-285750" algn="just">
              <a:buFont typeface="+mj-lt"/>
              <a:buAutoNum type="arabicPeriod"/>
            </a:pPr>
            <a:r>
              <a:rPr lang="en-US" sz="1500" dirty="0"/>
              <a:t>𝑦 = +1.08 mm</a:t>
            </a:r>
          </a:p>
          <a:p>
            <a:pPr marL="742950" lvl="1" indent="-285750" algn="just">
              <a:buFont typeface="+mj-lt"/>
              <a:buAutoNum type="arabicPeriod"/>
            </a:pPr>
            <a:r>
              <a:rPr lang="en-US" sz="1500" dirty="0"/>
              <a:t>𝑧 = +28.94 mm</a:t>
            </a:r>
          </a:p>
        </p:txBody>
      </p:sp>
      <p:grpSp>
        <p:nvGrpSpPr>
          <p:cNvPr id="5" name="Group 4">
            <a:extLst>
              <a:ext uri="{FF2B5EF4-FFF2-40B4-BE49-F238E27FC236}">
                <a16:creationId xmlns:a16="http://schemas.microsoft.com/office/drawing/2014/main" id="{FF57D1C5-39C1-FBC3-5AF8-0C896C161054}"/>
              </a:ext>
            </a:extLst>
          </p:cNvPr>
          <p:cNvGrpSpPr/>
          <p:nvPr/>
        </p:nvGrpSpPr>
        <p:grpSpPr>
          <a:xfrm>
            <a:off x="7884367" y="2077108"/>
            <a:ext cx="3878425" cy="4407668"/>
            <a:chOff x="0" y="0"/>
            <a:chExt cx="3766652" cy="2611755"/>
          </a:xfrm>
        </p:grpSpPr>
        <p:pic>
          <p:nvPicPr>
            <p:cNvPr id="7" name="Picture 6">
              <a:extLst>
                <a:ext uri="{FF2B5EF4-FFF2-40B4-BE49-F238E27FC236}">
                  <a16:creationId xmlns:a16="http://schemas.microsoft.com/office/drawing/2014/main" id="{ADB5A20C-3865-9707-265F-2695A30769D8}"/>
                </a:ext>
              </a:extLst>
            </p:cNvPr>
            <p:cNvPicPr>
              <a:picLocks noChangeAspect="1"/>
            </p:cNvPicPr>
            <p:nvPr/>
          </p:nvPicPr>
          <p:blipFill>
            <a:blip r:embed="rId2" cstate="print">
              <a:extLst>
                <a:ext uri="{BEBA8EAE-BF5A-486C-A8C5-ECC9F3942E4B}">
                  <a14:imgProps xmlns:a14="http://schemas.microsoft.com/office/drawing/2010/main">
                    <a14:imgLayer r:embed="rId3">
                      <a14:imgEffect>
                        <a14:backgroundRemoval t="1858" b="98762" l="2256" r="99141">
                          <a14:foregroundMark x1="6230" y1="4489" x2="6337" y2="17028"/>
                          <a14:foregroundMark x1="7626" y1="43963" x2="7626" y2="43963"/>
                          <a14:foregroundMark x1="2470" y1="43189" x2="2470" y2="43189"/>
                          <a14:foregroundMark x1="3437" y1="2477" x2="2793" y2="4334"/>
                          <a14:foregroundMark x1="2685" y1="4489" x2="2685" y2="4489"/>
                          <a14:foregroundMark x1="52095" y1="2012" x2="52095" y2="2012"/>
                          <a14:foregroundMark x1="28679" y1="75542" x2="28679" y2="75542"/>
                          <a14:foregroundMark x1="22019" y1="94582" x2="22019" y2="94582"/>
                          <a14:foregroundMark x1="15467" y1="95975" x2="15467" y2="95975"/>
                          <a14:foregroundMark x1="44146" y1="97059" x2="44146" y2="97059"/>
                          <a14:foregroundMark x1="69817" y1="17647" x2="69817" y2="17647"/>
                          <a14:foregroundMark x1="71536" y1="41176" x2="71536" y2="41176"/>
                          <a14:foregroundMark x1="80988" y1="62848" x2="80988" y2="62848"/>
                          <a14:foregroundMark x1="61976" y1="80960" x2="61976" y2="80960"/>
                          <a14:foregroundMark x1="95489" y1="69350" x2="95489" y2="69350"/>
                          <a14:foregroundMark x1="99141" y1="69040" x2="99141" y2="69040"/>
                          <a14:foregroundMark x1="15897" y1="98762" x2="15897" y2="98762"/>
                          <a14:foregroundMark x1="14823" y1="73684" x2="15252" y2="73839"/>
                          <a14:foregroundMark x1="69066" y1="48916" x2="69066" y2="48916"/>
                          <a14:foregroundMark x1="5693" y1="2167" x2="5693" y2="2167"/>
                        </a14:backgroundRemoval>
                      </a14:imgEffect>
                    </a14:imgLayer>
                  </a14:imgProps>
                </a:ext>
                <a:ext uri="{28A0092B-C50C-407E-A947-70E740481C1C}">
                  <a14:useLocalDpi xmlns:a14="http://schemas.microsoft.com/office/drawing/2010/main" val="0"/>
                </a:ext>
              </a:extLst>
            </a:blip>
            <a:stretch>
              <a:fillRect/>
            </a:stretch>
          </p:blipFill>
          <p:spPr>
            <a:xfrm>
              <a:off x="0" y="0"/>
              <a:ext cx="3763645" cy="2611755"/>
            </a:xfrm>
            <a:prstGeom prst="rect">
              <a:avLst/>
            </a:prstGeom>
            <a:ln>
              <a:solidFill>
                <a:schemeClr val="tx1"/>
              </a:solidFill>
            </a:ln>
          </p:spPr>
        </p:pic>
        <p:sp>
          <p:nvSpPr>
            <p:cNvPr id="8" name="Text Box 1">
              <a:extLst>
                <a:ext uri="{FF2B5EF4-FFF2-40B4-BE49-F238E27FC236}">
                  <a16:creationId xmlns:a16="http://schemas.microsoft.com/office/drawing/2014/main" id="{788EC1DA-4721-C3B8-F9AB-5948C88BA78F}"/>
                </a:ext>
              </a:extLst>
            </p:cNvPr>
            <p:cNvSpPr txBox="1"/>
            <p:nvPr/>
          </p:nvSpPr>
          <p:spPr>
            <a:xfrm>
              <a:off x="2098507" y="2357453"/>
              <a:ext cx="1668145" cy="254301"/>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noAutofit/>
            </a:bodyPr>
            <a:lstStyle/>
            <a:p>
              <a:pPr marL="0" marR="0">
                <a:lnSpc>
                  <a:spcPct val="115000"/>
                </a:lnSpc>
                <a:spcAft>
                  <a:spcPts val="1000"/>
                </a:spcAft>
              </a:pPr>
              <a:r>
                <a:rPr lang="en-US" sz="900" i="1" kern="100">
                  <a:solidFill>
                    <a:srgbClr val="44546A"/>
                  </a:solidFill>
                  <a:effectLst/>
                  <a:latin typeface="Arial" panose="020B0604020202020204" pitchFamily="34" charset="0"/>
                  <a:ea typeface="Calibri" panose="020F0502020204030204" pitchFamily="34" charset="0"/>
                  <a:cs typeface="Cordia New" panose="020B0304020202020204" pitchFamily="34" charset="-34"/>
                </a:rPr>
                <a:t>Figure 24 - Exploded Final CAD</a:t>
              </a:r>
            </a:p>
          </p:txBody>
        </p:sp>
      </p:grpSp>
      <p:grpSp>
        <p:nvGrpSpPr>
          <p:cNvPr id="9" name="Group 14">
            <a:extLst>
              <a:ext uri="{FF2B5EF4-FFF2-40B4-BE49-F238E27FC236}">
                <a16:creationId xmlns:a16="http://schemas.microsoft.com/office/drawing/2014/main" id="{F22CC0E4-2775-592A-1502-5A6BC06EAA66}"/>
              </a:ext>
            </a:extLst>
          </p:cNvPr>
          <p:cNvGrpSpPr/>
          <p:nvPr/>
        </p:nvGrpSpPr>
        <p:grpSpPr>
          <a:xfrm>
            <a:off x="9658537" y="11884"/>
            <a:ext cx="2050862" cy="429876"/>
            <a:chOff x="0" y="0"/>
            <a:chExt cx="7838183" cy="1629051"/>
          </a:xfrm>
        </p:grpSpPr>
        <p:sp>
          <p:nvSpPr>
            <p:cNvPr id="10" name="Freeform 15">
              <a:extLst>
                <a:ext uri="{FF2B5EF4-FFF2-40B4-BE49-F238E27FC236}">
                  <a16:creationId xmlns:a16="http://schemas.microsoft.com/office/drawing/2014/main" id="{7E771462-25ED-FC1F-4277-A6A116FBB0CA}"/>
                </a:ext>
              </a:extLst>
            </p:cNvPr>
            <p:cNvSpPr/>
            <p:nvPr/>
          </p:nvSpPr>
          <p:spPr>
            <a:xfrm>
              <a:off x="2068432" y="472763"/>
              <a:ext cx="4016856" cy="1096665"/>
            </a:xfrm>
            <a:custGeom>
              <a:avLst/>
              <a:gdLst/>
              <a:ahLst/>
              <a:cxnLst/>
              <a:rect l="l" t="t" r="r" b="b"/>
              <a:pathLst>
                <a:path w="4016856" h="1096665">
                  <a:moveTo>
                    <a:pt x="0" y="0"/>
                  </a:moveTo>
                  <a:lnTo>
                    <a:pt x="4016856" y="0"/>
                  </a:lnTo>
                  <a:lnTo>
                    <a:pt x="4016856" y="1096666"/>
                  </a:lnTo>
                  <a:lnTo>
                    <a:pt x="0" y="1096666"/>
                  </a:lnTo>
                  <a:lnTo>
                    <a:pt x="0" y="0"/>
                  </a:lnTo>
                  <a:close/>
                </a:path>
              </a:pathLst>
            </a:custGeom>
            <a:blipFill>
              <a:blip r:embed="rId4"/>
              <a:stretch>
                <a:fillRect/>
              </a:stretch>
            </a:blipFill>
          </p:spPr>
        </p:sp>
        <p:sp>
          <p:nvSpPr>
            <p:cNvPr id="11" name="Freeform 16">
              <a:extLst>
                <a:ext uri="{FF2B5EF4-FFF2-40B4-BE49-F238E27FC236}">
                  <a16:creationId xmlns:a16="http://schemas.microsoft.com/office/drawing/2014/main" id="{DF299497-118E-B933-6D82-33C119EDA6C3}"/>
                </a:ext>
              </a:extLst>
            </p:cNvPr>
            <p:cNvSpPr/>
            <p:nvPr/>
          </p:nvSpPr>
          <p:spPr>
            <a:xfrm>
              <a:off x="0" y="0"/>
              <a:ext cx="1629051" cy="1629051"/>
            </a:xfrm>
            <a:custGeom>
              <a:avLst/>
              <a:gdLst/>
              <a:ahLst/>
              <a:cxnLst/>
              <a:rect l="l" t="t" r="r" b="b"/>
              <a:pathLst>
                <a:path w="1629051" h="1629051">
                  <a:moveTo>
                    <a:pt x="0" y="0"/>
                  </a:moveTo>
                  <a:lnTo>
                    <a:pt x="1629051" y="0"/>
                  </a:lnTo>
                  <a:lnTo>
                    <a:pt x="1629051" y="1629051"/>
                  </a:lnTo>
                  <a:lnTo>
                    <a:pt x="0" y="1629051"/>
                  </a:lnTo>
                  <a:lnTo>
                    <a:pt x="0" y="0"/>
                  </a:lnTo>
                  <a:close/>
                </a:path>
              </a:pathLst>
            </a:custGeom>
            <a:blipFill>
              <a:blip r:embed="rId5"/>
              <a:stretch>
                <a:fillRect/>
              </a:stretch>
            </a:blipFill>
          </p:spPr>
        </p:sp>
        <p:sp>
          <p:nvSpPr>
            <p:cNvPr id="12" name="Freeform 17">
              <a:extLst>
                <a:ext uri="{FF2B5EF4-FFF2-40B4-BE49-F238E27FC236}">
                  <a16:creationId xmlns:a16="http://schemas.microsoft.com/office/drawing/2014/main" id="{55FA2698-4718-7804-64C3-C80A50634387}"/>
                </a:ext>
              </a:extLst>
            </p:cNvPr>
            <p:cNvSpPr/>
            <p:nvPr/>
          </p:nvSpPr>
          <p:spPr>
            <a:xfrm>
              <a:off x="6399188" y="0"/>
              <a:ext cx="1438995" cy="1629051"/>
            </a:xfrm>
            <a:custGeom>
              <a:avLst/>
              <a:gdLst/>
              <a:ahLst/>
              <a:cxnLst/>
              <a:rect l="l" t="t" r="r" b="b"/>
              <a:pathLst>
                <a:path w="1438995" h="1629051">
                  <a:moveTo>
                    <a:pt x="0" y="0"/>
                  </a:moveTo>
                  <a:lnTo>
                    <a:pt x="1438995" y="0"/>
                  </a:lnTo>
                  <a:lnTo>
                    <a:pt x="1438995" y="1629051"/>
                  </a:lnTo>
                  <a:lnTo>
                    <a:pt x="0" y="1629051"/>
                  </a:lnTo>
                  <a:lnTo>
                    <a:pt x="0" y="0"/>
                  </a:lnTo>
                  <a:close/>
                </a:path>
              </a:pathLst>
            </a:custGeom>
            <a:blipFill>
              <a:blip r:embed="rId6"/>
              <a:stretch>
                <a:fillRect/>
              </a:stretch>
            </a:blipFill>
          </p:spPr>
        </p:sp>
      </p:grpSp>
    </p:spTree>
    <p:extLst>
      <p:ext uri="{BB962C8B-B14F-4D97-AF65-F5344CB8AC3E}">
        <p14:creationId xmlns:p14="http://schemas.microsoft.com/office/powerpoint/2010/main" val="25769373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228C3-A788-E59D-BE99-253E6FCB32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475549-8207-CCD2-8611-003A7DC79D99}"/>
              </a:ext>
            </a:extLst>
          </p:cNvPr>
          <p:cNvSpPr>
            <a:spLocks noGrp="1"/>
          </p:cNvSpPr>
          <p:nvPr>
            <p:ph type="title"/>
          </p:nvPr>
        </p:nvSpPr>
        <p:spPr>
          <a:xfrm>
            <a:off x="575894" y="729658"/>
            <a:ext cx="11029616" cy="505755"/>
          </a:xfrm>
        </p:spPr>
        <p:txBody>
          <a:bodyPr>
            <a:normAutofit fontScale="90000"/>
          </a:bodyPr>
          <a:lstStyle/>
          <a:p>
            <a:r>
              <a:rPr lang="en-US" b="1" dirty="0"/>
              <a:t>Center of gravity &amp; stability</a:t>
            </a:r>
          </a:p>
        </p:txBody>
      </p:sp>
      <p:sp>
        <p:nvSpPr>
          <p:cNvPr id="3" name="TextBox 2">
            <a:extLst>
              <a:ext uri="{FF2B5EF4-FFF2-40B4-BE49-F238E27FC236}">
                <a16:creationId xmlns:a16="http://schemas.microsoft.com/office/drawing/2014/main" id="{791A87F3-0FF3-4266-2CC2-F11DE783690A}"/>
              </a:ext>
            </a:extLst>
          </p:cNvPr>
          <p:cNvSpPr txBox="1"/>
          <p:nvPr/>
        </p:nvSpPr>
        <p:spPr>
          <a:xfrm>
            <a:off x="575894" y="1322727"/>
            <a:ext cx="2303493" cy="430887"/>
          </a:xfrm>
          <a:prstGeom prst="rect">
            <a:avLst/>
          </a:prstGeom>
          <a:noFill/>
        </p:spPr>
        <p:txBody>
          <a:bodyPr wrap="square" rtlCol="0">
            <a:spAutoFit/>
          </a:bodyPr>
          <a:lstStyle/>
          <a:p>
            <a:r>
              <a:rPr lang="en-US" sz="2200" dirty="0">
                <a:solidFill>
                  <a:srgbClr val="FFFF00"/>
                </a:solidFill>
              </a:rPr>
              <a:t>Stability Analysis</a:t>
            </a:r>
          </a:p>
        </p:txBody>
      </p:sp>
      <p:grpSp>
        <p:nvGrpSpPr>
          <p:cNvPr id="25" name="Group 24">
            <a:extLst>
              <a:ext uri="{FF2B5EF4-FFF2-40B4-BE49-F238E27FC236}">
                <a16:creationId xmlns:a16="http://schemas.microsoft.com/office/drawing/2014/main" id="{31645DAD-057F-F682-8673-08C071FC5BC9}"/>
              </a:ext>
            </a:extLst>
          </p:cNvPr>
          <p:cNvGrpSpPr/>
          <p:nvPr/>
        </p:nvGrpSpPr>
        <p:grpSpPr>
          <a:xfrm>
            <a:off x="450574" y="1938422"/>
            <a:ext cx="11251097" cy="4494522"/>
            <a:chOff x="812908" y="2278617"/>
            <a:chExt cx="15774202" cy="8000217"/>
          </a:xfrm>
        </p:grpSpPr>
        <p:grpSp>
          <p:nvGrpSpPr>
            <p:cNvPr id="5" name="Group 6">
              <a:extLst>
                <a:ext uri="{FF2B5EF4-FFF2-40B4-BE49-F238E27FC236}">
                  <a16:creationId xmlns:a16="http://schemas.microsoft.com/office/drawing/2014/main" id="{680D819C-3EF6-DF5C-AD1A-6902E943EA84}"/>
                </a:ext>
              </a:extLst>
            </p:cNvPr>
            <p:cNvGrpSpPr/>
            <p:nvPr/>
          </p:nvGrpSpPr>
          <p:grpSpPr>
            <a:xfrm>
              <a:off x="812909" y="2439786"/>
              <a:ext cx="4640821" cy="990272"/>
              <a:chOff x="0" y="0"/>
              <a:chExt cx="3060886" cy="653141"/>
            </a:xfrm>
          </p:grpSpPr>
          <p:sp>
            <p:nvSpPr>
              <p:cNvPr id="7" name="Freeform 7">
                <a:extLst>
                  <a:ext uri="{FF2B5EF4-FFF2-40B4-BE49-F238E27FC236}">
                    <a16:creationId xmlns:a16="http://schemas.microsoft.com/office/drawing/2014/main" id="{0B7E481B-55F1-A587-58C1-8847F43C05FB}"/>
                  </a:ext>
                </a:extLst>
              </p:cNvPr>
              <p:cNvSpPr/>
              <p:nvPr/>
            </p:nvSpPr>
            <p:spPr>
              <a:xfrm>
                <a:off x="0" y="0"/>
                <a:ext cx="3060886" cy="653141"/>
              </a:xfrm>
              <a:custGeom>
                <a:avLst/>
                <a:gdLst/>
                <a:ahLst/>
                <a:cxnLst/>
                <a:rect l="l" t="t" r="r" b="b"/>
                <a:pathLst>
                  <a:path w="3060886" h="653141">
                    <a:moveTo>
                      <a:pt x="2857686" y="0"/>
                    </a:moveTo>
                    <a:lnTo>
                      <a:pt x="0" y="0"/>
                    </a:lnTo>
                    <a:lnTo>
                      <a:pt x="0" y="653141"/>
                    </a:lnTo>
                    <a:lnTo>
                      <a:pt x="2857686" y="653141"/>
                    </a:lnTo>
                    <a:lnTo>
                      <a:pt x="3060886" y="326570"/>
                    </a:lnTo>
                    <a:lnTo>
                      <a:pt x="2857686" y="0"/>
                    </a:lnTo>
                    <a:close/>
                  </a:path>
                </a:pathLst>
              </a:custGeom>
              <a:solidFill>
                <a:srgbClr val="2B485F"/>
              </a:solidFill>
            </p:spPr>
          </p:sp>
          <p:sp>
            <p:nvSpPr>
              <p:cNvPr id="8" name="TextBox 8">
                <a:extLst>
                  <a:ext uri="{FF2B5EF4-FFF2-40B4-BE49-F238E27FC236}">
                    <a16:creationId xmlns:a16="http://schemas.microsoft.com/office/drawing/2014/main" id="{6795BE03-B979-BFCD-7148-DF4718A78F0C}"/>
                  </a:ext>
                </a:extLst>
              </p:cNvPr>
              <p:cNvSpPr txBox="1"/>
              <p:nvPr/>
            </p:nvSpPr>
            <p:spPr>
              <a:xfrm>
                <a:off x="0" y="-38100"/>
                <a:ext cx="2946586" cy="691241"/>
              </a:xfrm>
              <a:prstGeom prst="rect">
                <a:avLst/>
              </a:prstGeom>
            </p:spPr>
            <p:txBody>
              <a:bodyPr lIns="50800" tIns="50800" rIns="50800" bIns="50800" rtlCol="0" anchor="ctr"/>
              <a:lstStyle/>
              <a:p>
                <a:pPr algn="ctr">
                  <a:lnSpc>
                    <a:spcPts val="2659"/>
                  </a:lnSpc>
                </a:pPr>
                <a:endParaRPr/>
              </a:p>
            </p:txBody>
          </p:sp>
        </p:grpSp>
        <p:sp>
          <p:nvSpPr>
            <p:cNvPr id="9" name="Freeform 10">
              <a:extLst>
                <a:ext uri="{FF2B5EF4-FFF2-40B4-BE49-F238E27FC236}">
                  <a16:creationId xmlns:a16="http://schemas.microsoft.com/office/drawing/2014/main" id="{FBCAA63B-6E14-565D-7213-98AE12A2514D}"/>
                </a:ext>
              </a:extLst>
            </p:cNvPr>
            <p:cNvSpPr/>
            <p:nvPr/>
          </p:nvSpPr>
          <p:spPr>
            <a:xfrm>
              <a:off x="7445874" y="3810328"/>
              <a:ext cx="8777883" cy="5514694"/>
            </a:xfrm>
            <a:custGeom>
              <a:avLst/>
              <a:gdLst/>
              <a:ahLst/>
              <a:cxnLst/>
              <a:rect l="l" t="t" r="r" b="b"/>
              <a:pathLst>
                <a:path w="8982449" h="5514694">
                  <a:moveTo>
                    <a:pt x="0" y="0"/>
                  </a:moveTo>
                  <a:lnTo>
                    <a:pt x="8982449" y="0"/>
                  </a:lnTo>
                  <a:lnTo>
                    <a:pt x="8982449" y="5514694"/>
                  </a:lnTo>
                  <a:lnTo>
                    <a:pt x="0" y="5514694"/>
                  </a:lnTo>
                  <a:lnTo>
                    <a:pt x="0" y="0"/>
                  </a:lnTo>
                  <a:close/>
                </a:path>
              </a:pathLst>
            </a:custGeom>
            <a:blipFill>
              <a:blip r:embed="rId2"/>
              <a:stretch>
                <a:fillRect/>
              </a:stretch>
            </a:blipFill>
          </p:spPr>
        </p:sp>
        <p:sp>
          <p:nvSpPr>
            <p:cNvPr id="10" name="TextBox 12">
              <a:extLst>
                <a:ext uri="{FF2B5EF4-FFF2-40B4-BE49-F238E27FC236}">
                  <a16:creationId xmlns:a16="http://schemas.microsoft.com/office/drawing/2014/main" id="{F3A41898-41DB-E8AC-D56C-5AB2204E649E}"/>
                </a:ext>
              </a:extLst>
            </p:cNvPr>
            <p:cNvSpPr txBox="1"/>
            <p:nvPr/>
          </p:nvSpPr>
          <p:spPr>
            <a:xfrm>
              <a:off x="929727" y="2463118"/>
              <a:ext cx="4374238" cy="1525278"/>
            </a:xfrm>
            <a:prstGeom prst="rect">
              <a:avLst/>
            </a:prstGeom>
          </p:spPr>
          <p:txBody>
            <a:bodyPr lIns="0" tIns="0" rIns="0" bIns="0" rtlCol="0" anchor="t">
              <a:spAutoFit/>
            </a:bodyPr>
            <a:lstStyle/>
            <a:p>
              <a:pPr algn="l">
                <a:lnSpc>
                  <a:spcPts val="3640"/>
                </a:lnSpc>
                <a:spcBef>
                  <a:spcPct val="0"/>
                </a:spcBef>
              </a:pPr>
              <a:r>
                <a:rPr lang="en-US" b="1" dirty="0">
                  <a:solidFill>
                    <a:srgbClr val="FFFFFF"/>
                  </a:solidFill>
                  <a:ea typeface="Inter Bold"/>
                  <a:cs typeface="Inter Bold"/>
                  <a:sym typeface="Inter Bold"/>
                </a:rPr>
                <a:t>Control System Validation (MATLAB Simulation)</a:t>
              </a:r>
            </a:p>
          </p:txBody>
        </p:sp>
        <p:grpSp>
          <p:nvGrpSpPr>
            <p:cNvPr id="11" name="Group 13">
              <a:extLst>
                <a:ext uri="{FF2B5EF4-FFF2-40B4-BE49-F238E27FC236}">
                  <a16:creationId xmlns:a16="http://schemas.microsoft.com/office/drawing/2014/main" id="{4F8874D7-A4B3-4337-F7E6-F5E883EB1942}"/>
                </a:ext>
              </a:extLst>
            </p:cNvPr>
            <p:cNvGrpSpPr/>
            <p:nvPr/>
          </p:nvGrpSpPr>
          <p:grpSpPr>
            <a:xfrm>
              <a:off x="812909" y="4192058"/>
              <a:ext cx="4640821" cy="990272"/>
              <a:chOff x="0" y="0"/>
              <a:chExt cx="6187762" cy="1320363"/>
            </a:xfrm>
          </p:grpSpPr>
          <p:grpSp>
            <p:nvGrpSpPr>
              <p:cNvPr id="12" name="Group 14">
                <a:extLst>
                  <a:ext uri="{FF2B5EF4-FFF2-40B4-BE49-F238E27FC236}">
                    <a16:creationId xmlns:a16="http://schemas.microsoft.com/office/drawing/2014/main" id="{9C535154-F2DF-63E7-5F2D-012D86A56C47}"/>
                  </a:ext>
                </a:extLst>
              </p:cNvPr>
              <p:cNvGrpSpPr/>
              <p:nvPr/>
            </p:nvGrpSpPr>
            <p:grpSpPr>
              <a:xfrm>
                <a:off x="0" y="0"/>
                <a:ext cx="6187762" cy="1320363"/>
                <a:chOff x="0" y="0"/>
                <a:chExt cx="3060886" cy="653141"/>
              </a:xfrm>
            </p:grpSpPr>
            <p:sp>
              <p:nvSpPr>
                <p:cNvPr id="14" name="Freeform 15">
                  <a:extLst>
                    <a:ext uri="{FF2B5EF4-FFF2-40B4-BE49-F238E27FC236}">
                      <a16:creationId xmlns:a16="http://schemas.microsoft.com/office/drawing/2014/main" id="{2A50106A-5D2B-4864-2665-1634C62AA99D}"/>
                    </a:ext>
                  </a:extLst>
                </p:cNvPr>
                <p:cNvSpPr/>
                <p:nvPr/>
              </p:nvSpPr>
              <p:spPr>
                <a:xfrm>
                  <a:off x="0" y="0"/>
                  <a:ext cx="3060886" cy="653141"/>
                </a:xfrm>
                <a:custGeom>
                  <a:avLst/>
                  <a:gdLst/>
                  <a:ahLst/>
                  <a:cxnLst/>
                  <a:rect l="l" t="t" r="r" b="b"/>
                  <a:pathLst>
                    <a:path w="3060886" h="653141">
                      <a:moveTo>
                        <a:pt x="2857686" y="0"/>
                      </a:moveTo>
                      <a:lnTo>
                        <a:pt x="0" y="0"/>
                      </a:lnTo>
                      <a:lnTo>
                        <a:pt x="0" y="653141"/>
                      </a:lnTo>
                      <a:lnTo>
                        <a:pt x="2857686" y="653141"/>
                      </a:lnTo>
                      <a:lnTo>
                        <a:pt x="3060886" y="326570"/>
                      </a:lnTo>
                      <a:lnTo>
                        <a:pt x="2857686" y="0"/>
                      </a:lnTo>
                      <a:close/>
                    </a:path>
                  </a:pathLst>
                </a:custGeom>
                <a:solidFill>
                  <a:srgbClr val="2B485F"/>
                </a:solidFill>
              </p:spPr>
            </p:sp>
            <p:sp>
              <p:nvSpPr>
                <p:cNvPr id="15" name="TextBox 16">
                  <a:extLst>
                    <a:ext uri="{FF2B5EF4-FFF2-40B4-BE49-F238E27FC236}">
                      <a16:creationId xmlns:a16="http://schemas.microsoft.com/office/drawing/2014/main" id="{ECA0FF3F-CC66-1419-1590-8CDC5E4E7748}"/>
                    </a:ext>
                  </a:extLst>
                </p:cNvPr>
                <p:cNvSpPr txBox="1"/>
                <p:nvPr/>
              </p:nvSpPr>
              <p:spPr>
                <a:xfrm>
                  <a:off x="0" y="-38100"/>
                  <a:ext cx="2946586" cy="691241"/>
                </a:xfrm>
                <a:prstGeom prst="rect">
                  <a:avLst/>
                </a:prstGeom>
              </p:spPr>
              <p:txBody>
                <a:bodyPr lIns="50800" tIns="50800" rIns="50800" bIns="50800" rtlCol="0" anchor="ctr"/>
                <a:lstStyle/>
                <a:p>
                  <a:pPr algn="ctr">
                    <a:lnSpc>
                      <a:spcPts val="2659"/>
                    </a:lnSpc>
                  </a:pPr>
                  <a:endParaRPr/>
                </a:p>
              </p:txBody>
            </p:sp>
          </p:grpSp>
          <p:sp>
            <p:nvSpPr>
              <p:cNvPr id="13" name="TextBox 17">
                <a:extLst>
                  <a:ext uri="{FF2B5EF4-FFF2-40B4-BE49-F238E27FC236}">
                    <a16:creationId xmlns:a16="http://schemas.microsoft.com/office/drawing/2014/main" id="{4F32FCD9-BDF2-DE63-E3B6-0F47D84A3A5E}"/>
                  </a:ext>
                </a:extLst>
              </p:cNvPr>
              <p:cNvSpPr txBox="1"/>
              <p:nvPr/>
            </p:nvSpPr>
            <p:spPr>
              <a:xfrm>
                <a:off x="355442" y="307756"/>
                <a:ext cx="5632633" cy="952481"/>
              </a:xfrm>
              <a:prstGeom prst="rect">
                <a:avLst/>
              </a:prstGeom>
            </p:spPr>
            <p:txBody>
              <a:bodyPr lIns="0" tIns="0" rIns="0" bIns="0" rtlCol="0" anchor="t">
                <a:spAutoFit/>
              </a:bodyPr>
              <a:lstStyle/>
              <a:p>
                <a:pPr algn="l">
                  <a:lnSpc>
                    <a:spcPts val="3640"/>
                  </a:lnSpc>
                  <a:spcBef>
                    <a:spcPct val="0"/>
                  </a:spcBef>
                </a:pPr>
                <a:r>
                  <a:rPr lang="en-US" b="1">
                    <a:solidFill>
                      <a:srgbClr val="FFFFFF"/>
                    </a:solidFill>
                    <a:ea typeface="Inter Bold"/>
                    <a:cs typeface="Inter Bold"/>
                    <a:sym typeface="Inter Bold"/>
                  </a:rPr>
                  <a:t>Tuned PID Parameters</a:t>
                </a:r>
              </a:p>
            </p:txBody>
          </p:sp>
        </p:grpSp>
        <p:grpSp>
          <p:nvGrpSpPr>
            <p:cNvPr id="16" name="Group 18">
              <a:extLst>
                <a:ext uri="{FF2B5EF4-FFF2-40B4-BE49-F238E27FC236}">
                  <a16:creationId xmlns:a16="http://schemas.microsoft.com/office/drawing/2014/main" id="{78997653-EF5C-0345-39FD-F31CF441B6A9}"/>
                </a:ext>
              </a:extLst>
            </p:cNvPr>
            <p:cNvGrpSpPr/>
            <p:nvPr/>
          </p:nvGrpSpPr>
          <p:grpSpPr>
            <a:xfrm>
              <a:off x="812908" y="7181964"/>
              <a:ext cx="4640821" cy="1048038"/>
              <a:chOff x="-155759" y="-77021"/>
              <a:chExt cx="6187762" cy="1397384"/>
            </a:xfrm>
          </p:grpSpPr>
          <p:grpSp>
            <p:nvGrpSpPr>
              <p:cNvPr id="17" name="Group 19">
                <a:extLst>
                  <a:ext uri="{FF2B5EF4-FFF2-40B4-BE49-F238E27FC236}">
                    <a16:creationId xmlns:a16="http://schemas.microsoft.com/office/drawing/2014/main" id="{E90ACA85-486E-CE20-956B-38C669A62CAF}"/>
                  </a:ext>
                </a:extLst>
              </p:cNvPr>
              <p:cNvGrpSpPr/>
              <p:nvPr/>
            </p:nvGrpSpPr>
            <p:grpSpPr>
              <a:xfrm>
                <a:off x="-155759" y="-77021"/>
                <a:ext cx="6187762" cy="1397384"/>
                <a:chOff x="-77049" y="-38100"/>
                <a:chExt cx="3060886" cy="691241"/>
              </a:xfrm>
            </p:grpSpPr>
            <p:sp>
              <p:nvSpPr>
                <p:cNvPr id="19" name="Freeform 20">
                  <a:extLst>
                    <a:ext uri="{FF2B5EF4-FFF2-40B4-BE49-F238E27FC236}">
                      <a16:creationId xmlns:a16="http://schemas.microsoft.com/office/drawing/2014/main" id="{258EB427-7D5F-60F6-02EF-D0FC0EF8E985}"/>
                    </a:ext>
                  </a:extLst>
                </p:cNvPr>
                <p:cNvSpPr/>
                <p:nvPr/>
              </p:nvSpPr>
              <p:spPr>
                <a:xfrm>
                  <a:off x="-77049" y="-19051"/>
                  <a:ext cx="3060886" cy="653141"/>
                </a:xfrm>
                <a:custGeom>
                  <a:avLst/>
                  <a:gdLst/>
                  <a:ahLst/>
                  <a:cxnLst/>
                  <a:rect l="l" t="t" r="r" b="b"/>
                  <a:pathLst>
                    <a:path w="3060886" h="653141">
                      <a:moveTo>
                        <a:pt x="2857686" y="0"/>
                      </a:moveTo>
                      <a:lnTo>
                        <a:pt x="0" y="0"/>
                      </a:lnTo>
                      <a:lnTo>
                        <a:pt x="0" y="653141"/>
                      </a:lnTo>
                      <a:lnTo>
                        <a:pt x="2857686" y="653141"/>
                      </a:lnTo>
                      <a:lnTo>
                        <a:pt x="3060886" y="326570"/>
                      </a:lnTo>
                      <a:lnTo>
                        <a:pt x="2857686" y="0"/>
                      </a:lnTo>
                      <a:close/>
                    </a:path>
                  </a:pathLst>
                </a:custGeom>
                <a:solidFill>
                  <a:srgbClr val="2B485F"/>
                </a:solidFill>
              </p:spPr>
            </p:sp>
            <p:sp>
              <p:nvSpPr>
                <p:cNvPr id="20" name="TextBox 21">
                  <a:extLst>
                    <a:ext uri="{FF2B5EF4-FFF2-40B4-BE49-F238E27FC236}">
                      <a16:creationId xmlns:a16="http://schemas.microsoft.com/office/drawing/2014/main" id="{24D653F9-704C-B44A-E7FE-4169B2E4DDE8}"/>
                    </a:ext>
                  </a:extLst>
                </p:cNvPr>
                <p:cNvSpPr txBox="1"/>
                <p:nvPr/>
              </p:nvSpPr>
              <p:spPr>
                <a:xfrm>
                  <a:off x="0" y="-38100"/>
                  <a:ext cx="2946586" cy="691241"/>
                </a:xfrm>
                <a:prstGeom prst="rect">
                  <a:avLst/>
                </a:prstGeom>
              </p:spPr>
              <p:txBody>
                <a:bodyPr lIns="50800" tIns="50800" rIns="50800" bIns="50800" rtlCol="0" anchor="ctr"/>
                <a:lstStyle/>
                <a:p>
                  <a:pPr algn="ctr">
                    <a:lnSpc>
                      <a:spcPts val="2659"/>
                    </a:lnSpc>
                  </a:pPr>
                  <a:endParaRPr/>
                </a:p>
              </p:txBody>
            </p:sp>
          </p:grpSp>
          <p:sp>
            <p:nvSpPr>
              <p:cNvPr id="18" name="TextBox 22">
                <a:extLst>
                  <a:ext uri="{FF2B5EF4-FFF2-40B4-BE49-F238E27FC236}">
                    <a16:creationId xmlns:a16="http://schemas.microsoft.com/office/drawing/2014/main" id="{9AD19C3A-70F4-0B8B-36BE-BABA511A39FE}"/>
                  </a:ext>
                </a:extLst>
              </p:cNvPr>
              <p:cNvSpPr txBox="1"/>
              <p:nvPr/>
            </p:nvSpPr>
            <p:spPr>
              <a:xfrm>
                <a:off x="277563" y="49913"/>
                <a:ext cx="5632633" cy="952481"/>
              </a:xfrm>
              <a:prstGeom prst="rect">
                <a:avLst/>
              </a:prstGeom>
            </p:spPr>
            <p:txBody>
              <a:bodyPr lIns="0" tIns="0" rIns="0" bIns="0" rtlCol="0" anchor="t">
                <a:spAutoFit/>
              </a:bodyPr>
              <a:lstStyle/>
              <a:p>
                <a:pPr algn="l">
                  <a:lnSpc>
                    <a:spcPts val="3640"/>
                  </a:lnSpc>
                  <a:spcBef>
                    <a:spcPct val="0"/>
                  </a:spcBef>
                </a:pPr>
                <a:r>
                  <a:rPr lang="en-US" b="1" dirty="0">
                    <a:solidFill>
                      <a:srgbClr val="FFFFFF"/>
                    </a:solidFill>
                    <a:ea typeface="Inter Bold"/>
                    <a:cs typeface="Inter Bold"/>
                    <a:sym typeface="Inter Bold"/>
                  </a:rPr>
                  <a:t>Simulation Insights</a:t>
                </a:r>
              </a:p>
            </p:txBody>
          </p:sp>
        </p:grpSp>
        <p:sp>
          <p:nvSpPr>
            <p:cNvPr id="21" name="TextBox 23">
              <a:extLst>
                <a:ext uri="{FF2B5EF4-FFF2-40B4-BE49-F238E27FC236}">
                  <a16:creationId xmlns:a16="http://schemas.microsoft.com/office/drawing/2014/main" id="{66CE6854-978F-10B3-2084-9462FBBA7BFB}"/>
                </a:ext>
              </a:extLst>
            </p:cNvPr>
            <p:cNvSpPr txBox="1"/>
            <p:nvPr/>
          </p:nvSpPr>
          <p:spPr>
            <a:xfrm>
              <a:off x="812909" y="5228334"/>
              <a:ext cx="5352935" cy="1907626"/>
            </a:xfrm>
            <a:prstGeom prst="rect">
              <a:avLst/>
            </a:prstGeom>
          </p:spPr>
          <p:txBody>
            <a:bodyPr lIns="0" tIns="0" rIns="0" bIns="0" rtlCol="0" anchor="t">
              <a:spAutoFit/>
            </a:bodyPr>
            <a:lstStyle/>
            <a:p>
              <a:pPr marL="453388" lvl="1" indent="-226694" algn="l">
                <a:lnSpc>
                  <a:spcPts val="2939"/>
                </a:lnSpc>
                <a:buFont typeface="Arial"/>
                <a:buChar char="•"/>
              </a:pPr>
              <a:r>
                <a:rPr lang="en-US" dirty="0">
                  <a:solidFill>
                    <a:srgbClr val="000000"/>
                  </a:solidFill>
                  <a:ea typeface="Inter"/>
                  <a:cs typeface="Inter"/>
                  <a:sym typeface="Inter"/>
                </a:rPr>
                <a:t>Proportional Gain (</a:t>
              </a:r>
              <a:r>
                <a:rPr lang="en-US" dirty="0" err="1">
                  <a:solidFill>
                    <a:srgbClr val="000000"/>
                  </a:solidFill>
                  <a:ea typeface="Inter"/>
                  <a:cs typeface="Inter"/>
                  <a:sym typeface="Inter"/>
                </a:rPr>
                <a:t>Kp</a:t>
              </a:r>
              <a:r>
                <a:rPr lang="en-US" dirty="0">
                  <a:solidFill>
                    <a:srgbClr val="000000"/>
                  </a:solidFill>
                  <a:ea typeface="Inter"/>
                  <a:cs typeface="Inter"/>
                  <a:sym typeface="Inter"/>
                </a:rPr>
                <a:t>): 30</a:t>
              </a:r>
            </a:p>
            <a:p>
              <a:pPr marL="453388" lvl="1" indent="-226694" algn="l">
                <a:lnSpc>
                  <a:spcPts val="2939"/>
                </a:lnSpc>
                <a:spcBef>
                  <a:spcPct val="0"/>
                </a:spcBef>
                <a:buFont typeface="Arial"/>
                <a:buChar char="•"/>
              </a:pPr>
              <a:r>
                <a:rPr lang="en-US" dirty="0">
                  <a:solidFill>
                    <a:srgbClr val="000000"/>
                  </a:solidFill>
                  <a:ea typeface="Inter"/>
                  <a:cs typeface="Inter"/>
                  <a:sym typeface="Inter"/>
                </a:rPr>
                <a:t>Integral Gain (Ki): 50</a:t>
              </a:r>
            </a:p>
            <a:p>
              <a:pPr marL="453388" lvl="1" indent="-226694" algn="l">
                <a:lnSpc>
                  <a:spcPts val="2939"/>
                </a:lnSpc>
                <a:spcBef>
                  <a:spcPct val="0"/>
                </a:spcBef>
                <a:buFont typeface="Arial"/>
                <a:buChar char="•"/>
              </a:pPr>
              <a:r>
                <a:rPr lang="en-US" dirty="0">
                  <a:solidFill>
                    <a:srgbClr val="000000"/>
                  </a:solidFill>
                  <a:ea typeface="Inter"/>
                  <a:cs typeface="Inter"/>
                  <a:sym typeface="Inter"/>
                </a:rPr>
                <a:t>Derivative Gain (</a:t>
              </a:r>
              <a:r>
                <a:rPr lang="en-US" dirty="0" err="1">
                  <a:solidFill>
                    <a:srgbClr val="000000"/>
                  </a:solidFill>
                  <a:ea typeface="Inter"/>
                  <a:cs typeface="Inter"/>
                  <a:sym typeface="Inter"/>
                </a:rPr>
                <a:t>Kd</a:t>
              </a:r>
              <a:r>
                <a:rPr lang="en-US" dirty="0">
                  <a:solidFill>
                    <a:srgbClr val="000000"/>
                  </a:solidFill>
                  <a:ea typeface="Inter"/>
                  <a:cs typeface="Inter"/>
                  <a:sym typeface="Inter"/>
                </a:rPr>
                <a:t>): 10</a:t>
              </a:r>
            </a:p>
          </p:txBody>
        </p:sp>
        <p:sp>
          <p:nvSpPr>
            <p:cNvPr id="22" name="TextBox 24">
              <a:extLst>
                <a:ext uri="{FF2B5EF4-FFF2-40B4-BE49-F238E27FC236}">
                  <a16:creationId xmlns:a16="http://schemas.microsoft.com/office/drawing/2014/main" id="{8DBB5DDC-159E-924C-30DD-0CBF905DCEAF}"/>
                </a:ext>
              </a:extLst>
            </p:cNvPr>
            <p:cNvSpPr txBox="1"/>
            <p:nvPr/>
          </p:nvSpPr>
          <p:spPr>
            <a:xfrm>
              <a:off x="812909" y="8371208"/>
              <a:ext cx="7249510" cy="1907626"/>
            </a:xfrm>
            <a:prstGeom prst="rect">
              <a:avLst/>
            </a:prstGeom>
          </p:spPr>
          <p:txBody>
            <a:bodyPr lIns="0" tIns="0" rIns="0" bIns="0" rtlCol="0" anchor="t">
              <a:spAutoFit/>
            </a:bodyPr>
            <a:lstStyle/>
            <a:p>
              <a:pPr marL="453388" lvl="1" indent="-226694" algn="l">
                <a:lnSpc>
                  <a:spcPts val="2939"/>
                </a:lnSpc>
                <a:buFont typeface="Arial"/>
                <a:buChar char="•"/>
              </a:pPr>
              <a:r>
                <a:rPr lang="en-US" dirty="0">
                  <a:solidFill>
                    <a:srgbClr val="000000"/>
                  </a:solidFill>
                  <a:ea typeface="Inter"/>
                  <a:cs typeface="Inter"/>
                  <a:sym typeface="Inter"/>
                </a:rPr>
                <a:t>Smooth altitude response with no overshoot</a:t>
              </a:r>
            </a:p>
            <a:p>
              <a:pPr marL="453388" lvl="1" indent="-226694" algn="l">
                <a:lnSpc>
                  <a:spcPts val="2939"/>
                </a:lnSpc>
                <a:buFont typeface="Arial"/>
                <a:buChar char="•"/>
              </a:pPr>
              <a:r>
                <a:rPr lang="en-US" dirty="0">
                  <a:solidFill>
                    <a:srgbClr val="000000"/>
                  </a:solidFill>
                  <a:ea typeface="Inter"/>
                  <a:cs typeface="Inter"/>
                  <a:sym typeface="Inter"/>
                </a:rPr>
                <a:t>Thrust control remains within safe limits</a:t>
              </a:r>
            </a:p>
            <a:p>
              <a:pPr algn="l">
                <a:lnSpc>
                  <a:spcPts val="2939"/>
                </a:lnSpc>
                <a:spcBef>
                  <a:spcPct val="0"/>
                </a:spcBef>
              </a:pPr>
              <a:endParaRPr lang="en-US" dirty="0">
                <a:solidFill>
                  <a:srgbClr val="000000"/>
                </a:solidFill>
                <a:ea typeface="Inter"/>
                <a:cs typeface="Inter"/>
                <a:sym typeface="Inter"/>
              </a:endParaRPr>
            </a:p>
          </p:txBody>
        </p:sp>
        <p:sp>
          <p:nvSpPr>
            <p:cNvPr id="23" name="TextBox 25">
              <a:extLst>
                <a:ext uri="{FF2B5EF4-FFF2-40B4-BE49-F238E27FC236}">
                  <a16:creationId xmlns:a16="http://schemas.microsoft.com/office/drawing/2014/main" id="{C850BAF6-28B3-59D6-D4B6-649B39449F69}"/>
                </a:ext>
              </a:extLst>
            </p:cNvPr>
            <p:cNvSpPr txBox="1"/>
            <p:nvPr/>
          </p:nvSpPr>
          <p:spPr>
            <a:xfrm>
              <a:off x="5453731" y="2278617"/>
              <a:ext cx="11133379" cy="1970399"/>
            </a:xfrm>
            <a:prstGeom prst="rect">
              <a:avLst/>
            </a:prstGeom>
          </p:spPr>
          <p:txBody>
            <a:bodyPr lIns="0" tIns="0" rIns="0" bIns="0" rtlCol="0" anchor="t">
              <a:spAutoFit/>
            </a:bodyPr>
            <a:lstStyle/>
            <a:p>
              <a:pPr marL="466584" lvl="1" indent="-233292" algn="l">
                <a:lnSpc>
                  <a:spcPts val="3025"/>
                </a:lnSpc>
                <a:buFont typeface="Arial"/>
                <a:buChar char="•"/>
              </a:pPr>
              <a:r>
                <a:rPr lang="en-US" dirty="0">
                  <a:solidFill>
                    <a:srgbClr val="000000"/>
                  </a:solidFill>
                  <a:ea typeface="Inter"/>
                  <a:cs typeface="Inter"/>
                  <a:sym typeface="Inter"/>
                </a:rPr>
                <a:t>Simplified vertical dynamics model including thrust and air damping</a:t>
              </a:r>
            </a:p>
            <a:p>
              <a:pPr marL="466584" lvl="1" indent="-233292" algn="l">
                <a:lnSpc>
                  <a:spcPts val="3025"/>
                </a:lnSpc>
                <a:buFont typeface="Arial"/>
                <a:buChar char="•"/>
              </a:pPr>
              <a:r>
                <a:rPr lang="en-US" dirty="0">
                  <a:solidFill>
                    <a:srgbClr val="000000"/>
                  </a:solidFill>
                  <a:ea typeface="Inter"/>
                  <a:cs typeface="Inter"/>
                  <a:sym typeface="Inter"/>
                </a:rPr>
                <a:t>PID Controller implemented for altitude regulation</a:t>
              </a:r>
            </a:p>
            <a:p>
              <a:pPr algn="l">
                <a:lnSpc>
                  <a:spcPts val="3025"/>
                </a:lnSpc>
                <a:spcBef>
                  <a:spcPct val="0"/>
                </a:spcBef>
              </a:pPr>
              <a:endParaRPr lang="en-US" dirty="0">
                <a:solidFill>
                  <a:srgbClr val="000000"/>
                </a:solidFill>
                <a:ea typeface="Inter"/>
                <a:cs typeface="Inter"/>
                <a:sym typeface="Inter"/>
              </a:endParaRPr>
            </a:p>
          </p:txBody>
        </p:sp>
        <p:sp>
          <p:nvSpPr>
            <p:cNvPr id="24" name="TextBox 30">
              <a:extLst>
                <a:ext uri="{FF2B5EF4-FFF2-40B4-BE49-F238E27FC236}">
                  <a16:creationId xmlns:a16="http://schemas.microsoft.com/office/drawing/2014/main" id="{8DF841BE-A402-E8DF-BB20-C473348E506D}"/>
                </a:ext>
              </a:extLst>
            </p:cNvPr>
            <p:cNvSpPr txBox="1"/>
            <p:nvPr/>
          </p:nvSpPr>
          <p:spPr>
            <a:xfrm>
              <a:off x="7445874" y="9467227"/>
              <a:ext cx="8597012" cy="577401"/>
            </a:xfrm>
            <a:prstGeom prst="rect">
              <a:avLst/>
            </a:prstGeom>
          </p:spPr>
          <p:txBody>
            <a:bodyPr wrap="square" lIns="0" tIns="0" rIns="0" bIns="0" rtlCol="0" anchor="t">
              <a:spAutoFit/>
            </a:bodyPr>
            <a:lstStyle/>
            <a:p>
              <a:pPr algn="l">
                <a:lnSpc>
                  <a:spcPts val="2790"/>
                </a:lnSpc>
                <a:spcBef>
                  <a:spcPct val="0"/>
                </a:spcBef>
              </a:pPr>
              <a:r>
                <a:rPr lang="en-US" dirty="0">
                  <a:solidFill>
                    <a:srgbClr val="000000"/>
                  </a:solidFill>
                  <a:ea typeface="Inter"/>
                  <a:cs typeface="Inter"/>
                  <a:sym typeface="Inter"/>
                </a:rPr>
                <a:t>fig. MATLAB Simulation for Stability Analysis</a:t>
              </a:r>
            </a:p>
          </p:txBody>
        </p:sp>
      </p:grpSp>
      <p:grpSp>
        <p:nvGrpSpPr>
          <p:cNvPr id="4" name="Group 14">
            <a:extLst>
              <a:ext uri="{FF2B5EF4-FFF2-40B4-BE49-F238E27FC236}">
                <a16:creationId xmlns:a16="http://schemas.microsoft.com/office/drawing/2014/main" id="{736640D1-065A-EAAF-1D59-A0BB6C163C03}"/>
              </a:ext>
            </a:extLst>
          </p:cNvPr>
          <p:cNvGrpSpPr/>
          <p:nvPr/>
        </p:nvGrpSpPr>
        <p:grpSpPr>
          <a:xfrm>
            <a:off x="9658537" y="11884"/>
            <a:ext cx="2050862" cy="429876"/>
            <a:chOff x="0" y="0"/>
            <a:chExt cx="7838183" cy="1629051"/>
          </a:xfrm>
        </p:grpSpPr>
        <p:sp>
          <p:nvSpPr>
            <p:cNvPr id="6" name="Freeform 15">
              <a:extLst>
                <a:ext uri="{FF2B5EF4-FFF2-40B4-BE49-F238E27FC236}">
                  <a16:creationId xmlns:a16="http://schemas.microsoft.com/office/drawing/2014/main" id="{3ADD07CD-D2FF-CF8E-D814-E3F4E4C5E0C9}"/>
                </a:ext>
              </a:extLst>
            </p:cNvPr>
            <p:cNvSpPr/>
            <p:nvPr/>
          </p:nvSpPr>
          <p:spPr>
            <a:xfrm>
              <a:off x="2068432" y="472763"/>
              <a:ext cx="4016856" cy="1096665"/>
            </a:xfrm>
            <a:custGeom>
              <a:avLst/>
              <a:gdLst/>
              <a:ahLst/>
              <a:cxnLst/>
              <a:rect l="l" t="t" r="r" b="b"/>
              <a:pathLst>
                <a:path w="4016856" h="1096665">
                  <a:moveTo>
                    <a:pt x="0" y="0"/>
                  </a:moveTo>
                  <a:lnTo>
                    <a:pt x="4016856" y="0"/>
                  </a:lnTo>
                  <a:lnTo>
                    <a:pt x="4016856" y="1096666"/>
                  </a:lnTo>
                  <a:lnTo>
                    <a:pt x="0" y="1096666"/>
                  </a:lnTo>
                  <a:lnTo>
                    <a:pt x="0" y="0"/>
                  </a:lnTo>
                  <a:close/>
                </a:path>
              </a:pathLst>
            </a:custGeom>
            <a:blipFill>
              <a:blip r:embed="rId3"/>
              <a:stretch>
                <a:fillRect/>
              </a:stretch>
            </a:blipFill>
          </p:spPr>
        </p:sp>
        <p:sp>
          <p:nvSpPr>
            <p:cNvPr id="26" name="Freeform 16">
              <a:extLst>
                <a:ext uri="{FF2B5EF4-FFF2-40B4-BE49-F238E27FC236}">
                  <a16:creationId xmlns:a16="http://schemas.microsoft.com/office/drawing/2014/main" id="{75512C12-7440-E981-908F-8B60D346EF03}"/>
                </a:ext>
              </a:extLst>
            </p:cNvPr>
            <p:cNvSpPr/>
            <p:nvPr/>
          </p:nvSpPr>
          <p:spPr>
            <a:xfrm>
              <a:off x="0" y="0"/>
              <a:ext cx="1629051" cy="1629051"/>
            </a:xfrm>
            <a:custGeom>
              <a:avLst/>
              <a:gdLst/>
              <a:ahLst/>
              <a:cxnLst/>
              <a:rect l="l" t="t" r="r" b="b"/>
              <a:pathLst>
                <a:path w="1629051" h="1629051">
                  <a:moveTo>
                    <a:pt x="0" y="0"/>
                  </a:moveTo>
                  <a:lnTo>
                    <a:pt x="1629051" y="0"/>
                  </a:lnTo>
                  <a:lnTo>
                    <a:pt x="1629051" y="1629051"/>
                  </a:lnTo>
                  <a:lnTo>
                    <a:pt x="0" y="1629051"/>
                  </a:lnTo>
                  <a:lnTo>
                    <a:pt x="0" y="0"/>
                  </a:lnTo>
                  <a:close/>
                </a:path>
              </a:pathLst>
            </a:custGeom>
            <a:blipFill>
              <a:blip r:embed="rId4"/>
              <a:stretch>
                <a:fillRect/>
              </a:stretch>
            </a:blipFill>
          </p:spPr>
        </p:sp>
        <p:sp>
          <p:nvSpPr>
            <p:cNvPr id="27" name="Freeform 17">
              <a:extLst>
                <a:ext uri="{FF2B5EF4-FFF2-40B4-BE49-F238E27FC236}">
                  <a16:creationId xmlns:a16="http://schemas.microsoft.com/office/drawing/2014/main" id="{C18025E5-7257-5366-6CC8-3713A757E119}"/>
                </a:ext>
              </a:extLst>
            </p:cNvPr>
            <p:cNvSpPr/>
            <p:nvPr/>
          </p:nvSpPr>
          <p:spPr>
            <a:xfrm>
              <a:off x="6399188" y="0"/>
              <a:ext cx="1438995" cy="1629051"/>
            </a:xfrm>
            <a:custGeom>
              <a:avLst/>
              <a:gdLst/>
              <a:ahLst/>
              <a:cxnLst/>
              <a:rect l="l" t="t" r="r" b="b"/>
              <a:pathLst>
                <a:path w="1438995" h="1629051">
                  <a:moveTo>
                    <a:pt x="0" y="0"/>
                  </a:moveTo>
                  <a:lnTo>
                    <a:pt x="1438995" y="0"/>
                  </a:lnTo>
                  <a:lnTo>
                    <a:pt x="1438995" y="1629051"/>
                  </a:lnTo>
                  <a:lnTo>
                    <a:pt x="0" y="1629051"/>
                  </a:lnTo>
                  <a:lnTo>
                    <a:pt x="0" y="0"/>
                  </a:lnTo>
                  <a:close/>
                </a:path>
              </a:pathLst>
            </a:custGeom>
            <a:blipFill>
              <a:blip r:embed="rId5"/>
              <a:stretch>
                <a:fillRect/>
              </a:stretch>
            </a:blipFill>
          </p:spPr>
        </p:sp>
      </p:grpSp>
    </p:spTree>
    <p:extLst>
      <p:ext uri="{BB962C8B-B14F-4D97-AF65-F5344CB8AC3E}">
        <p14:creationId xmlns:p14="http://schemas.microsoft.com/office/powerpoint/2010/main" val="32962193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AE9AC2E5-6078-9D35-1D26-A6D747DC6D80}"/>
              </a:ext>
            </a:extLst>
          </p:cNvPr>
          <p:cNvGrpSpPr/>
          <p:nvPr/>
        </p:nvGrpSpPr>
        <p:grpSpPr>
          <a:xfrm>
            <a:off x="5195579" y="1003417"/>
            <a:ext cx="6513820" cy="3793864"/>
            <a:chOff x="5549106" y="1485123"/>
            <a:chExt cx="6513820" cy="3793864"/>
          </a:xfrm>
        </p:grpSpPr>
        <p:pic>
          <p:nvPicPr>
            <p:cNvPr id="9" name="Picture 8">
              <a:extLst>
                <a:ext uri="{FF2B5EF4-FFF2-40B4-BE49-F238E27FC236}">
                  <a16:creationId xmlns:a16="http://schemas.microsoft.com/office/drawing/2014/main" id="{27CC345A-5221-C40C-B988-71155CE40654}"/>
                </a:ext>
              </a:extLst>
            </p:cNvPr>
            <p:cNvPicPr>
              <a:picLocks noChangeAspect="1"/>
            </p:cNvPicPr>
            <p:nvPr/>
          </p:nvPicPr>
          <p:blipFill>
            <a:blip r:embed="rId2"/>
            <a:stretch>
              <a:fillRect/>
            </a:stretch>
          </p:blipFill>
          <p:spPr>
            <a:xfrm>
              <a:off x="5549106" y="2888343"/>
              <a:ext cx="2143125" cy="2143125"/>
            </a:xfrm>
            <a:prstGeom prst="rect">
              <a:avLst/>
            </a:prstGeom>
          </p:spPr>
        </p:pic>
        <p:pic>
          <p:nvPicPr>
            <p:cNvPr id="11" name="Picture 10">
              <a:extLst>
                <a:ext uri="{FF2B5EF4-FFF2-40B4-BE49-F238E27FC236}">
                  <a16:creationId xmlns:a16="http://schemas.microsoft.com/office/drawing/2014/main" id="{ECC6D792-920D-189D-CED8-73B270168124}"/>
                </a:ext>
              </a:extLst>
            </p:cNvPr>
            <p:cNvPicPr>
              <a:picLocks noChangeAspect="1"/>
            </p:cNvPicPr>
            <p:nvPr/>
          </p:nvPicPr>
          <p:blipFill>
            <a:blip r:embed="rId3"/>
            <a:stretch>
              <a:fillRect/>
            </a:stretch>
          </p:blipFill>
          <p:spPr>
            <a:xfrm>
              <a:off x="7568324" y="2888343"/>
              <a:ext cx="1822385" cy="2088734"/>
            </a:xfrm>
            <a:prstGeom prst="rect">
              <a:avLst/>
            </a:prstGeom>
          </p:spPr>
        </p:pic>
        <p:pic>
          <p:nvPicPr>
            <p:cNvPr id="15" name="Picture 14">
              <a:extLst>
                <a:ext uri="{FF2B5EF4-FFF2-40B4-BE49-F238E27FC236}">
                  <a16:creationId xmlns:a16="http://schemas.microsoft.com/office/drawing/2014/main" id="{0E87C01D-BB58-DD54-6532-836CA3DF4D5E}"/>
                </a:ext>
              </a:extLst>
            </p:cNvPr>
            <p:cNvPicPr>
              <a:picLocks noChangeAspect="1"/>
            </p:cNvPicPr>
            <p:nvPr/>
          </p:nvPicPr>
          <p:blipFill>
            <a:blip r:embed="rId4"/>
            <a:stretch>
              <a:fillRect/>
            </a:stretch>
          </p:blipFill>
          <p:spPr>
            <a:xfrm>
              <a:off x="9638522" y="1485123"/>
              <a:ext cx="2424404" cy="2424404"/>
            </a:xfrm>
            <a:prstGeom prst="rect">
              <a:avLst/>
            </a:prstGeom>
          </p:spPr>
        </p:pic>
        <p:pic>
          <p:nvPicPr>
            <p:cNvPr id="13" name="Picture 12">
              <a:extLst>
                <a:ext uri="{FF2B5EF4-FFF2-40B4-BE49-F238E27FC236}">
                  <a16:creationId xmlns:a16="http://schemas.microsoft.com/office/drawing/2014/main" id="{5123A2F5-A14D-AEB8-B2CC-8215AA6F896C}"/>
                </a:ext>
              </a:extLst>
            </p:cNvPr>
            <p:cNvPicPr>
              <a:picLocks noChangeAspect="1"/>
            </p:cNvPicPr>
            <p:nvPr/>
          </p:nvPicPr>
          <p:blipFill>
            <a:blip r:embed="rId5"/>
            <a:stretch>
              <a:fillRect/>
            </a:stretch>
          </p:blipFill>
          <p:spPr>
            <a:xfrm>
              <a:off x="9390709" y="3311589"/>
              <a:ext cx="2598956" cy="1967398"/>
            </a:xfrm>
            <a:prstGeom prst="rect">
              <a:avLst/>
            </a:prstGeom>
          </p:spPr>
        </p:pic>
      </p:grpSp>
      <p:sp>
        <p:nvSpPr>
          <p:cNvPr id="5" name="Title 4">
            <a:extLst>
              <a:ext uri="{FF2B5EF4-FFF2-40B4-BE49-F238E27FC236}">
                <a16:creationId xmlns:a16="http://schemas.microsoft.com/office/drawing/2014/main" id="{5A99912E-3794-291B-BD0E-8736963404A7}"/>
              </a:ext>
            </a:extLst>
          </p:cNvPr>
          <p:cNvSpPr>
            <a:spLocks noGrp="1"/>
          </p:cNvSpPr>
          <p:nvPr>
            <p:ph type="title"/>
          </p:nvPr>
        </p:nvSpPr>
        <p:spPr>
          <a:xfrm>
            <a:off x="581192" y="703139"/>
            <a:ext cx="10669562" cy="600556"/>
          </a:xfrm>
        </p:spPr>
        <p:txBody>
          <a:bodyPr>
            <a:normAutofit fontScale="90000"/>
          </a:bodyPr>
          <a:lstStyle/>
          <a:p>
            <a:r>
              <a:rPr lang="en-US" b="1" dirty="0"/>
              <a:t>Electronics &amp; Communication Systems</a:t>
            </a:r>
          </a:p>
        </p:txBody>
      </p:sp>
      <p:sp>
        <p:nvSpPr>
          <p:cNvPr id="6" name="Text Placeholder 5">
            <a:extLst>
              <a:ext uri="{FF2B5EF4-FFF2-40B4-BE49-F238E27FC236}">
                <a16:creationId xmlns:a16="http://schemas.microsoft.com/office/drawing/2014/main" id="{47FD4F5B-8B3C-0EC3-C324-BD74F0302DCD}"/>
              </a:ext>
            </a:extLst>
          </p:cNvPr>
          <p:cNvSpPr>
            <a:spLocks noGrp="1"/>
          </p:cNvSpPr>
          <p:nvPr>
            <p:ph type="body" idx="1"/>
          </p:nvPr>
        </p:nvSpPr>
        <p:spPr>
          <a:xfrm>
            <a:off x="581192" y="1303695"/>
            <a:ext cx="8450841" cy="600556"/>
          </a:xfrm>
        </p:spPr>
        <p:txBody>
          <a:bodyPr>
            <a:noAutofit/>
          </a:bodyPr>
          <a:lstStyle/>
          <a:p>
            <a:pPr algn="just"/>
            <a:r>
              <a:rPr lang="en-US" sz="1600" dirty="0"/>
              <a:t>UAS electronics integrate flight controllers, power management, sensors , and onboard computing, while communication systems employ radio telemetry, RF links, and ground station interfaces for data exchange and control.</a:t>
            </a:r>
          </a:p>
        </p:txBody>
      </p:sp>
      <p:sp>
        <p:nvSpPr>
          <p:cNvPr id="7" name="Rectangle 1">
            <a:extLst>
              <a:ext uri="{FF2B5EF4-FFF2-40B4-BE49-F238E27FC236}">
                <a16:creationId xmlns:a16="http://schemas.microsoft.com/office/drawing/2014/main" id="{BD4A5CF0-4D8F-620C-E9E2-8370FA844122}"/>
              </a:ext>
            </a:extLst>
          </p:cNvPr>
          <p:cNvSpPr>
            <a:spLocks noChangeArrowheads="1"/>
          </p:cNvSpPr>
          <p:nvPr/>
        </p:nvSpPr>
        <p:spPr bwMode="auto">
          <a:xfrm>
            <a:off x="655837" y="2504807"/>
            <a:ext cx="501717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rPr>
              <a:t>Objectives: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rPr>
              <a:t>Stable Power Distribution</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rPr>
              <a:t>Precise Flight Control &amp; Navigation</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rPr>
              <a:t>Reliable Telemetry</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rPr>
              <a:t>Onboard Processing</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rPr>
              <a:t>Environmental Sensing</a:t>
            </a:r>
          </a:p>
        </p:txBody>
      </p:sp>
      <p:grpSp>
        <p:nvGrpSpPr>
          <p:cNvPr id="17" name="Group 14">
            <a:extLst>
              <a:ext uri="{FF2B5EF4-FFF2-40B4-BE49-F238E27FC236}">
                <a16:creationId xmlns:a16="http://schemas.microsoft.com/office/drawing/2014/main" id="{8AFDB5C8-F3A9-1DB4-3BEA-4925DC750ACF}"/>
              </a:ext>
            </a:extLst>
          </p:cNvPr>
          <p:cNvGrpSpPr/>
          <p:nvPr/>
        </p:nvGrpSpPr>
        <p:grpSpPr>
          <a:xfrm>
            <a:off x="9658537" y="11884"/>
            <a:ext cx="2050862" cy="429876"/>
            <a:chOff x="0" y="0"/>
            <a:chExt cx="7838183" cy="1629051"/>
          </a:xfrm>
        </p:grpSpPr>
        <p:sp>
          <p:nvSpPr>
            <p:cNvPr id="18" name="Freeform 15">
              <a:extLst>
                <a:ext uri="{FF2B5EF4-FFF2-40B4-BE49-F238E27FC236}">
                  <a16:creationId xmlns:a16="http://schemas.microsoft.com/office/drawing/2014/main" id="{EBF6A934-7E6A-6468-5E9F-1C178E323316}"/>
                </a:ext>
              </a:extLst>
            </p:cNvPr>
            <p:cNvSpPr/>
            <p:nvPr/>
          </p:nvSpPr>
          <p:spPr>
            <a:xfrm>
              <a:off x="2068432" y="472763"/>
              <a:ext cx="4016856" cy="1096665"/>
            </a:xfrm>
            <a:custGeom>
              <a:avLst/>
              <a:gdLst/>
              <a:ahLst/>
              <a:cxnLst/>
              <a:rect l="l" t="t" r="r" b="b"/>
              <a:pathLst>
                <a:path w="4016856" h="1096665">
                  <a:moveTo>
                    <a:pt x="0" y="0"/>
                  </a:moveTo>
                  <a:lnTo>
                    <a:pt x="4016856" y="0"/>
                  </a:lnTo>
                  <a:lnTo>
                    <a:pt x="4016856" y="1096666"/>
                  </a:lnTo>
                  <a:lnTo>
                    <a:pt x="0" y="1096666"/>
                  </a:lnTo>
                  <a:lnTo>
                    <a:pt x="0" y="0"/>
                  </a:lnTo>
                  <a:close/>
                </a:path>
              </a:pathLst>
            </a:custGeom>
            <a:blipFill>
              <a:blip r:embed="rId6"/>
              <a:stretch>
                <a:fillRect/>
              </a:stretch>
            </a:blipFill>
          </p:spPr>
        </p:sp>
        <p:sp>
          <p:nvSpPr>
            <p:cNvPr id="19" name="Freeform 16">
              <a:extLst>
                <a:ext uri="{FF2B5EF4-FFF2-40B4-BE49-F238E27FC236}">
                  <a16:creationId xmlns:a16="http://schemas.microsoft.com/office/drawing/2014/main" id="{28EA7C8A-25D6-E041-9AA0-6E40C44570A0}"/>
                </a:ext>
              </a:extLst>
            </p:cNvPr>
            <p:cNvSpPr/>
            <p:nvPr/>
          </p:nvSpPr>
          <p:spPr>
            <a:xfrm>
              <a:off x="0" y="0"/>
              <a:ext cx="1629051" cy="1629051"/>
            </a:xfrm>
            <a:custGeom>
              <a:avLst/>
              <a:gdLst/>
              <a:ahLst/>
              <a:cxnLst/>
              <a:rect l="l" t="t" r="r" b="b"/>
              <a:pathLst>
                <a:path w="1629051" h="1629051">
                  <a:moveTo>
                    <a:pt x="0" y="0"/>
                  </a:moveTo>
                  <a:lnTo>
                    <a:pt x="1629051" y="0"/>
                  </a:lnTo>
                  <a:lnTo>
                    <a:pt x="1629051" y="1629051"/>
                  </a:lnTo>
                  <a:lnTo>
                    <a:pt x="0" y="1629051"/>
                  </a:lnTo>
                  <a:lnTo>
                    <a:pt x="0" y="0"/>
                  </a:lnTo>
                  <a:close/>
                </a:path>
              </a:pathLst>
            </a:custGeom>
            <a:blipFill>
              <a:blip r:embed="rId7"/>
              <a:stretch>
                <a:fillRect/>
              </a:stretch>
            </a:blipFill>
          </p:spPr>
        </p:sp>
        <p:sp>
          <p:nvSpPr>
            <p:cNvPr id="20" name="Freeform 17">
              <a:extLst>
                <a:ext uri="{FF2B5EF4-FFF2-40B4-BE49-F238E27FC236}">
                  <a16:creationId xmlns:a16="http://schemas.microsoft.com/office/drawing/2014/main" id="{A5DAEDE1-A699-4103-733E-3BA7DF37E125}"/>
                </a:ext>
              </a:extLst>
            </p:cNvPr>
            <p:cNvSpPr/>
            <p:nvPr/>
          </p:nvSpPr>
          <p:spPr>
            <a:xfrm>
              <a:off x="6399188" y="0"/>
              <a:ext cx="1438995" cy="1629051"/>
            </a:xfrm>
            <a:custGeom>
              <a:avLst/>
              <a:gdLst/>
              <a:ahLst/>
              <a:cxnLst/>
              <a:rect l="l" t="t" r="r" b="b"/>
              <a:pathLst>
                <a:path w="1438995" h="1629051">
                  <a:moveTo>
                    <a:pt x="0" y="0"/>
                  </a:moveTo>
                  <a:lnTo>
                    <a:pt x="1438995" y="0"/>
                  </a:lnTo>
                  <a:lnTo>
                    <a:pt x="1438995" y="1629051"/>
                  </a:lnTo>
                  <a:lnTo>
                    <a:pt x="0" y="1629051"/>
                  </a:lnTo>
                  <a:lnTo>
                    <a:pt x="0" y="0"/>
                  </a:lnTo>
                  <a:close/>
                </a:path>
              </a:pathLst>
            </a:custGeom>
            <a:blipFill>
              <a:blip r:embed="rId8"/>
              <a:stretch>
                <a:fillRect/>
              </a:stretch>
            </a:blipFill>
          </p:spPr>
        </p:sp>
      </p:grpSp>
      <p:sp>
        <p:nvSpPr>
          <p:cNvPr id="21" name="TextBox 20">
            <a:extLst>
              <a:ext uri="{FF2B5EF4-FFF2-40B4-BE49-F238E27FC236}">
                <a16:creationId xmlns:a16="http://schemas.microsoft.com/office/drawing/2014/main" id="{A349E11E-4455-776F-82DE-3E9FE86EC2A1}"/>
              </a:ext>
            </a:extLst>
          </p:cNvPr>
          <p:cNvSpPr txBox="1"/>
          <p:nvPr/>
        </p:nvSpPr>
        <p:spPr>
          <a:xfrm>
            <a:off x="10782206" y="4443799"/>
            <a:ext cx="845744" cy="369332"/>
          </a:xfrm>
          <a:prstGeom prst="rect">
            <a:avLst/>
          </a:prstGeom>
          <a:noFill/>
        </p:spPr>
        <p:txBody>
          <a:bodyPr wrap="none" rtlCol="0">
            <a:spAutoFit/>
          </a:bodyPr>
          <a:lstStyle/>
          <a:p>
            <a:r>
              <a:rPr lang="en-US" dirty="0">
                <a:solidFill>
                  <a:schemeClr val="bg2">
                    <a:lumMod val="75000"/>
                  </a:schemeClr>
                </a:solidFill>
              </a:rPr>
              <a:t>robu.in</a:t>
            </a:r>
          </a:p>
        </p:txBody>
      </p:sp>
    </p:spTree>
    <p:extLst>
      <p:ext uri="{BB962C8B-B14F-4D97-AF65-F5344CB8AC3E}">
        <p14:creationId xmlns:p14="http://schemas.microsoft.com/office/powerpoint/2010/main" val="1828604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8">
            <a:extLst>
              <a:ext uri="{FF2B5EF4-FFF2-40B4-BE49-F238E27FC236}">
                <a16:creationId xmlns:a16="http://schemas.microsoft.com/office/drawing/2014/main" id="{8ED63B63-F20B-7DFA-F0FB-23F7A54B2DBD}"/>
              </a:ext>
            </a:extLst>
          </p:cNvPr>
          <p:cNvSpPr txBox="1"/>
          <p:nvPr/>
        </p:nvSpPr>
        <p:spPr>
          <a:xfrm>
            <a:off x="563559" y="3411672"/>
            <a:ext cx="2979502" cy="478272"/>
          </a:xfrm>
          <a:prstGeom prst="rect">
            <a:avLst/>
          </a:prstGeom>
        </p:spPr>
        <p:txBody>
          <a:bodyPr wrap="square" lIns="0" tIns="0" rIns="0" bIns="0" rtlCol="0" anchor="t">
            <a:spAutoFit/>
          </a:bodyPr>
          <a:lstStyle/>
          <a:p>
            <a:pPr algn="ctr">
              <a:lnSpc>
                <a:spcPts val="4408"/>
              </a:lnSpc>
              <a:spcBef>
                <a:spcPct val="0"/>
              </a:spcBef>
            </a:pPr>
            <a:r>
              <a:rPr lang="en-US" b="1" dirty="0">
                <a:solidFill>
                  <a:srgbClr val="000000"/>
                </a:solidFill>
                <a:ea typeface="Inter Bold"/>
                <a:cs typeface="Inter Bold"/>
                <a:sym typeface="Inter Bold"/>
              </a:rPr>
              <a:t>Communication System</a:t>
            </a:r>
          </a:p>
        </p:txBody>
      </p:sp>
      <p:grpSp>
        <p:nvGrpSpPr>
          <p:cNvPr id="18" name="Group 17">
            <a:extLst>
              <a:ext uri="{FF2B5EF4-FFF2-40B4-BE49-F238E27FC236}">
                <a16:creationId xmlns:a16="http://schemas.microsoft.com/office/drawing/2014/main" id="{C981EF6C-CF86-D512-32B5-52E39E606D93}"/>
              </a:ext>
            </a:extLst>
          </p:cNvPr>
          <p:cNvGrpSpPr/>
          <p:nvPr/>
        </p:nvGrpSpPr>
        <p:grpSpPr>
          <a:xfrm>
            <a:off x="444989" y="595254"/>
            <a:ext cx="10966878" cy="5613101"/>
            <a:chOff x="2068363" y="476843"/>
            <a:chExt cx="15279037" cy="6969031"/>
          </a:xfrm>
        </p:grpSpPr>
        <p:sp>
          <p:nvSpPr>
            <p:cNvPr id="2" name="AutoShape 2">
              <a:extLst>
                <a:ext uri="{FF2B5EF4-FFF2-40B4-BE49-F238E27FC236}">
                  <a16:creationId xmlns:a16="http://schemas.microsoft.com/office/drawing/2014/main" id="{9C15840D-7CA1-C2FA-47AE-D7CC987332F7}"/>
                </a:ext>
              </a:extLst>
            </p:cNvPr>
            <p:cNvSpPr/>
            <p:nvPr/>
          </p:nvSpPr>
          <p:spPr>
            <a:xfrm>
              <a:off x="3163817" y="4813015"/>
              <a:ext cx="1947108" cy="0"/>
            </a:xfrm>
            <a:prstGeom prst="line">
              <a:avLst/>
            </a:prstGeom>
            <a:ln w="142875" cap="flat">
              <a:solidFill>
                <a:srgbClr val="2B485F"/>
              </a:solidFill>
              <a:prstDash val="solid"/>
              <a:headEnd type="none" w="sm" len="sm"/>
              <a:tailEnd type="none" w="sm" len="sm"/>
            </a:ln>
          </p:spPr>
          <p:txBody>
            <a:bodyPr/>
            <a:lstStyle/>
            <a:p>
              <a:endParaRPr lang="en-US" dirty="0"/>
            </a:p>
          </p:txBody>
        </p:sp>
        <p:sp>
          <p:nvSpPr>
            <p:cNvPr id="3" name="AutoShape 3">
              <a:extLst>
                <a:ext uri="{FF2B5EF4-FFF2-40B4-BE49-F238E27FC236}">
                  <a16:creationId xmlns:a16="http://schemas.microsoft.com/office/drawing/2014/main" id="{7E49C1D0-FAE7-ABD8-1DA0-E98797321E7D}"/>
                </a:ext>
              </a:extLst>
            </p:cNvPr>
            <p:cNvSpPr/>
            <p:nvPr/>
          </p:nvSpPr>
          <p:spPr>
            <a:xfrm>
              <a:off x="8134411" y="4813015"/>
              <a:ext cx="1947108" cy="0"/>
            </a:xfrm>
            <a:prstGeom prst="line">
              <a:avLst/>
            </a:prstGeom>
            <a:ln w="142875" cap="flat">
              <a:solidFill>
                <a:srgbClr val="2B485F"/>
              </a:solidFill>
              <a:prstDash val="solid"/>
              <a:headEnd type="none" w="sm" len="sm"/>
              <a:tailEnd type="none" w="sm" len="sm"/>
            </a:ln>
          </p:spPr>
        </p:sp>
        <p:sp>
          <p:nvSpPr>
            <p:cNvPr id="4" name="AutoShape 4">
              <a:extLst>
                <a:ext uri="{FF2B5EF4-FFF2-40B4-BE49-F238E27FC236}">
                  <a16:creationId xmlns:a16="http://schemas.microsoft.com/office/drawing/2014/main" id="{69C4C673-A4B4-7010-57F1-5746571036A2}"/>
                </a:ext>
              </a:extLst>
            </p:cNvPr>
            <p:cNvSpPr/>
            <p:nvPr/>
          </p:nvSpPr>
          <p:spPr>
            <a:xfrm>
              <a:off x="13522698" y="4813016"/>
              <a:ext cx="1947107" cy="0"/>
            </a:xfrm>
            <a:prstGeom prst="line">
              <a:avLst/>
            </a:prstGeom>
            <a:ln w="142875" cap="flat">
              <a:solidFill>
                <a:srgbClr val="2B485F"/>
              </a:solidFill>
              <a:prstDash val="solid"/>
              <a:headEnd type="none" w="sm" len="sm"/>
              <a:tailEnd type="none" w="sm" len="sm"/>
            </a:ln>
          </p:spPr>
        </p:sp>
        <p:grpSp>
          <p:nvGrpSpPr>
            <p:cNvPr id="5" name="Group 11">
              <a:extLst>
                <a:ext uri="{FF2B5EF4-FFF2-40B4-BE49-F238E27FC236}">
                  <a16:creationId xmlns:a16="http://schemas.microsoft.com/office/drawing/2014/main" id="{7DC5294D-B660-A3F7-E276-2545DF0CCD3F}"/>
                </a:ext>
              </a:extLst>
            </p:cNvPr>
            <p:cNvGrpSpPr/>
            <p:nvPr/>
          </p:nvGrpSpPr>
          <p:grpSpPr>
            <a:xfrm>
              <a:off x="2068363" y="476843"/>
              <a:ext cx="7788442" cy="1073898"/>
              <a:chOff x="0" y="-55156"/>
              <a:chExt cx="5136921" cy="708297"/>
            </a:xfrm>
          </p:grpSpPr>
          <p:sp>
            <p:nvSpPr>
              <p:cNvPr id="6" name="Freeform 12">
                <a:extLst>
                  <a:ext uri="{FF2B5EF4-FFF2-40B4-BE49-F238E27FC236}">
                    <a16:creationId xmlns:a16="http://schemas.microsoft.com/office/drawing/2014/main" id="{7C6A5FF9-A19F-82AA-7099-CF6429E446F8}"/>
                  </a:ext>
                </a:extLst>
              </p:cNvPr>
              <p:cNvSpPr/>
              <p:nvPr/>
            </p:nvSpPr>
            <p:spPr>
              <a:xfrm>
                <a:off x="0" y="-55156"/>
                <a:ext cx="5136921" cy="653141"/>
              </a:xfrm>
              <a:custGeom>
                <a:avLst/>
                <a:gdLst/>
                <a:ahLst/>
                <a:cxnLst/>
                <a:rect l="l" t="t" r="r" b="b"/>
                <a:pathLst>
                  <a:path w="5136921" h="653141">
                    <a:moveTo>
                      <a:pt x="4933721" y="0"/>
                    </a:moveTo>
                    <a:lnTo>
                      <a:pt x="0" y="0"/>
                    </a:lnTo>
                    <a:lnTo>
                      <a:pt x="0" y="653141"/>
                    </a:lnTo>
                    <a:lnTo>
                      <a:pt x="4933721" y="653141"/>
                    </a:lnTo>
                    <a:lnTo>
                      <a:pt x="5136921" y="326570"/>
                    </a:lnTo>
                    <a:lnTo>
                      <a:pt x="4933721" y="0"/>
                    </a:lnTo>
                    <a:close/>
                  </a:path>
                </a:pathLst>
              </a:custGeom>
              <a:solidFill>
                <a:srgbClr val="2B485F"/>
              </a:solidFill>
            </p:spPr>
          </p:sp>
          <p:sp>
            <p:nvSpPr>
              <p:cNvPr id="7" name="TextBox 13">
                <a:extLst>
                  <a:ext uri="{FF2B5EF4-FFF2-40B4-BE49-F238E27FC236}">
                    <a16:creationId xmlns:a16="http://schemas.microsoft.com/office/drawing/2014/main" id="{98C2FCB3-F17F-21F9-56EE-B30CD304B1A3}"/>
                  </a:ext>
                </a:extLst>
              </p:cNvPr>
              <p:cNvSpPr txBox="1"/>
              <p:nvPr/>
            </p:nvSpPr>
            <p:spPr>
              <a:xfrm>
                <a:off x="0" y="-38100"/>
                <a:ext cx="5022621" cy="691241"/>
              </a:xfrm>
              <a:prstGeom prst="rect">
                <a:avLst/>
              </a:prstGeom>
            </p:spPr>
            <p:txBody>
              <a:bodyPr lIns="50800" tIns="50800" rIns="50800" bIns="50800" rtlCol="0" anchor="ctr"/>
              <a:lstStyle/>
              <a:p>
                <a:pPr algn="ctr"/>
                <a:endParaRPr sz="1400"/>
              </a:p>
            </p:txBody>
          </p:sp>
        </p:grpSp>
        <p:sp>
          <p:nvSpPr>
            <p:cNvPr id="8" name="Freeform 15">
              <a:extLst>
                <a:ext uri="{FF2B5EF4-FFF2-40B4-BE49-F238E27FC236}">
                  <a16:creationId xmlns:a16="http://schemas.microsoft.com/office/drawing/2014/main" id="{B8197AE4-9B51-8822-5A06-6FF3271B472A}"/>
                </a:ext>
              </a:extLst>
            </p:cNvPr>
            <p:cNvSpPr/>
            <p:nvPr/>
          </p:nvSpPr>
          <p:spPr>
            <a:xfrm>
              <a:off x="7928158" y="1627002"/>
              <a:ext cx="2642021" cy="2522327"/>
            </a:xfrm>
            <a:custGeom>
              <a:avLst/>
              <a:gdLst/>
              <a:ahLst/>
              <a:cxnLst/>
              <a:rect l="l" t="t" r="r" b="b"/>
              <a:pathLst>
                <a:path w="2715276" h="2715276">
                  <a:moveTo>
                    <a:pt x="0" y="0"/>
                  </a:moveTo>
                  <a:lnTo>
                    <a:pt x="2715276" y="0"/>
                  </a:lnTo>
                  <a:lnTo>
                    <a:pt x="2715276" y="2715277"/>
                  </a:lnTo>
                  <a:lnTo>
                    <a:pt x="0" y="2715277"/>
                  </a:lnTo>
                  <a:lnTo>
                    <a:pt x="0" y="0"/>
                  </a:lnTo>
                  <a:close/>
                </a:path>
              </a:pathLst>
            </a:custGeom>
            <a:blipFill>
              <a:blip r:embed="rId2"/>
              <a:stretch>
                <a:fillRect/>
              </a:stretch>
            </a:blipFill>
          </p:spPr>
        </p:sp>
        <p:sp>
          <p:nvSpPr>
            <p:cNvPr id="9" name="Freeform 16">
              <a:extLst>
                <a:ext uri="{FF2B5EF4-FFF2-40B4-BE49-F238E27FC236}">
                  <a16:creationId xmlns:a16="http://schemas.microsoft.com/office/drawing/2014/main" id="{7C144703-8307-55ED-1D1F-6BD885F0C135}"/>
                </a:ext>
              </a:extLst>
            </p:cNvPr>
            <p:cNvSpPr/>
            <p:nvPr/>
          </p:nvSpPr>
          <p:spPr>
            <a:xfrm>
              <a:off x="2901409" y="1608508"/>
              <a:ext cx="2471924" cy="2432261"/>
            </a:xfrm>
            <a:custGeom>
              <a:avLst/>
              <a:gdLst/>
              <a:ahLst/>
              <a:cxnLst/>
              <a:rect l="l" t="t" r="r" b="b"/>
              <a:pathLst>
                <a:path w="2704603" h="2779870">
                  <a:moveTo>
                    <a:pt x="0" y="0"/>
                  </a:moveTo>
                  <a:lnTo>
                    <a:pt x="2704602" y="0"/>
                  </a:lnTo>
                  <a:lnTo>
                    <a:pt x="2704602" y="2779870"/>
                  </a:lnTo>
                  <a:lnTo>
                    <a:pt x="0" y="2779870"/>
                  </a:lnTo>
                  <a:lnTo>
                    <a:pt x="0" y="0"/>
                  </a:lnTo>
                  <a:close/>
                </a:path>
              </a:pathLst>
            </a:custGeom>
            <a:blipFill>
              <a:blip r:embed="rId3"/>
              <a:stretch>
                <a:fillRect/>
              </a:stretch>
            </a:blipFill>
          </p:spPr>
        </p:sp>
        <p:sp>
          <p:nvSpPr>
            <p:cNvPr id="10" name="Freeform 17">
              <a:extLst>
                <a:ext uri="{FF2B5EF4-FFF2-40B4-BE49-F238E27FC236}">
                  <a16:creationId xmlns:a16="http://schemas.microsoft.com/office/drawing/2014/main" id="{E04F4CED-5661-CA4E-707E-885984905A0A}"/>
                </a:ext>
              </a:extLst>
            </p:cNvPr>
            <p:cNvSpPr/>
            <p:nvPr/>
          </p:nvSpPr>
          <p:spPr>
            <a:xfrm>
              <a:off x="13292362" y="1398266"/>
              <a:ext cx="2642019" cy="2642019"/>
            </a:xfrm>
            <a:custGeom>
              <a:avLst/>
              <a:gdLst/>
              <a:ahLst/>
              <a:cxnLst/>
              <a:rect l="l" t="t" r="r" b="b"/>
              <a:pathLst>
                <a:path w="2642019" h="2642019">
                  <a:moveTo>
                    <a:pt x="0" y="0"/>
                  </a:moveTo>
                  <a:lnTo>
                    <a:pt x="2642019" y="0"/>
                  </a:lnTo>
                  <a:lnTo>
                    <a:pt x="2642019" y="2642019"/>
                  </a:lnTo>
                  <a:lnTo>
                    <a:pt x="0" y="2642019"/>
                  </a:lnTo>
                  <a:lnTo>
                    <a:pt x="0" y="0"/>
                  </a:lnTo>
                  <a:close/>
                </a:path>
              </a:pathLst>
            </a:custGeom>
            <a:blipFill>
              <a:blip r:embed="rId4"/>
              <a:stretch>
                <a:fillRect/>
              </a:stretch>
            </a:blipFill>
          </p:spPr>
        </p:sp>
        <p:sp>
          <p:nvSpPr>
            <p:cNvPr id="12" name="TextBox 19">
              <a:extLst>
                <a:ext uri="{FF2B5EF4-FFF2-40B4-BE49-F238E27FC236}">
                  <a16:creationId xmlns:a16="http://schemas.microsoft.com/office/drawing/2014/main" id="{ADF76E29-493A-8508-19CF-67CBD355093B}"/>
                </a:ext>
              </a:extLst>
            </p:cNvPr>
            <p:cNvSpPr txBox="1"/>
            <p:nvPr/>
          </p:nvSpPr>
          <p:spPr>
            <a:xfrm>
              <a:off x="2068363" y="5240839"/>
              <a:ext cx="4559934" cy="1222799"/>
            </a:xfrm>
            <a:prstGeom prst="rect">
              <a:avLst/>
            </a:prstGeom>
          </p:spPr>
          <p:txBody>
            <a:bodyPr wrap="square" lIns="0" tIns="0" rIns="0" bIns="0" rtlCol="0" anchor="t">
              <a:spAutoFit/>
            </a:bodyPr>
            <a:lstStyle/>
            <a:p>
              <a:pPr algn="ctr">
                <a:spcBef>
                  <a:spcPct val="0"/>
                </a:spcBef>
              </a:pPr>
              <a:r>
                <a:rPr lang="en-US" sz="1600" dirty="0">
                  <a:solidFill>
                    <a:srgbClr val="000000"/>
                  </a:solidFill>
                  <a:ea typeface="Inter"/>
                  <a:cs typeface="Inter"/>
                  <a:sym typeface="Inter"/>
                </a:rPr>
                <a:t>3DR 433MHz Telemetry Radio Compatible with MAVLink &amp; Mission Planner</a:t>
              </a:r>
            </a:p>
            <a:p>
              <a:pPr algn="ctr">
                <a:spcBef>
                  <a:spcPct val="0"/>
                </a:spcBef>
              </a:pPr>
              <a:endParaRPr lang="en-US" sz="1600" dirty="0">
                <a:solidFill>
                  <a:srgbClr val="000000"/>
                </a:solidFill>
                <a:ea typeface="Inter"/>
                <a:cs typeface="Inter"/>
                <a:sym typeface="Inter"/>
              </a:endParaRPr>
            </a:p>
          </p:txBody>
        </p:sp>
        <p:sp>
          <p:nvSpPr>
            <p:cNvPr id="13" name="TextBox 20">
              <a:extLst>
                <a:ext uri="{FF2B5EF4-FFF2-40B4-BE49-F238E27FC236}">
                  <a16:creationId xmlns:a16="http://schemas.microsoft.com/office/drawing/2014/main" id="{B990BB04-8B48-5805-FF7B-5374502F8D57}"/>
                </a:ext>
              </a:extLst>
            </p:cNvPr>
            <p:cNvSpPr txBox="1"/>
            <p:nvPr/>
          </p:nvSpPr>
          <p:spPr>
            <a:xfrm>
              <a:off x="6967087" y="4149329"/>
              <a:ext cx="4738376" cy="343912"/>
            </a:xfrm>
            <a:prstGeom prst="rect">
              <a:avLst/>
            </a:prstGeom>
          </p:spPr>
          <p:txBody>
            <a:bodyPr wrap="square" lIns="0" tIns="0" rIns="0" bIns="0" rtlCol="0" anchor="t">
              <a:spAutoFit/>
            </a:bodyPr>
            <a:lstStyle/>
            <a:p>
              <a:pPr algn="ctr">
                <a:spcBef>
                  <a:spcPct val="0"/>
                </a:spcBef>
              </a:pPr>
              <a:r>
                <a:rPr lang="en-US" b="1" dirty="0">
                  <a:solidFill>
                    <a:srgbClr val="000000"/>
                  </a:solidFill>
                  <a:ea typeface="Inter Bold"/>
                  <a:cs typeface="Inter Bold"/>
                  <a:sym typeface="Inter Bold"/>
                </a:rPr>
                <a:t>Pixhawk–Raspberry Pi Interface</a:t>
              </a:r>
            </a:p>
          </p:txBody>
        </p:sp>
        <p:sp>
          <p:nvSpPr>
            <p:cNvPr id="14" name="TextBox 21">
              <a:extLst>
                <a:ext uri="{FF2B5EF4-FFF2-40B4-BE49-F238E27FC236}">
                  <a16:creationId xmlns:a16="http://schemas.microsoft.com/office/drawing/2014/main" id="{128BEE40-4F09-AE44-97D6-748EFC7BE65C}"/>
                </a:ext>
              </a:extLst>
            </p:cNvPr>
            <p:cNvSpPr txBox="1"/>
            <p:nvPr/>
          </p:nvSpPr>
          <p:spPr>
            <a:xfrm>
              <a:off x="12287958" y="3973610"/>
              <a:ext cx="4002877" cy="233074"/>
            </a:xfrm>
            <a:prstGeom prst="rect">
              <a:avLst/>
            </a:prstGeom>
          </p:spPr>
          <p:txBody>
            <a:bodyPr lIns="0" tIns="0" rIns="0" bIns="0" rtlCol="0" anchor="t">
              <a:spAutoFit/>
            </a:bodyPr>
            <a:lstStyle/>
            <a:p>
              <a:pPr algn="ctr">
                <a:spcBef>
                  <a:spcPct val="0"/>
                </a:spcBef>
              </a:pPr>
              <a:r>
                <a:rPr lang="en-US" sz="1400" b="1" dirty="0">
                  <a:solidFill>
                    <a:srgbClr val="000000"/>
                  </a:solidFill>
                  <a:ea typeface="Inter Bold"/>
                  <a:cs typeface="Inter Bold"/>
                  <a:sym typeface="Inter Bold"/>
                </a:rPr>
                <a:t>Control &amp; Navigation</a:t>
              </a:r>
            </a:p>
          </p:txBody>
        </p:sp>
        <p:sp>
          <p:nvSpPr>
            <p:cNvPr id="15" name="TextBox 22">
              <a:extLst>
                <a:ext uri="{FF2B5EF4-FFF2-40B4-BE49-F238E27FC236}">
                  <a16:creationId xmlns:a16="http://schemas.microsoft.com/office/drawing/2014/main" id="{4EE4D5AB-E06E-2065-742C-B33882B26D3A}"/>
                </a:ext>
              </a:extLst>
            </p:cNvPr>
            <p:cNvSpPr txBox="1"/>
            <p:nvPr/>
          </p:nvSpPr>
          <p:spPr>
            <a:xfrm>
              <a:off x="6967087" y="5181370"/>
              <a:ext cx="4674130" cy="1834199"/>
            </a:xfrm>
            <a:prstGeom prst="rect">
              <a:avLst/>
            </a:prstGeom>
          </p:spPr>
          <p:txBody>
            <a:bodyPr wrap="square" lIns="0" tIns="0" rIns="0" bIns="0" rtlCol="0" anchor="t">
              <a:spAutoFit/>
            </a:bodyPr>
            <a:lstStyle/>
            <a:p>
              <a:pPr marL="262898" lvl="1" algn="l"/>
              <a:r>
                <a:rPr lang="en-US" sz="1600" dirty="0">
                  <a:solidFill>
                    <a:srgbClr val="000000"/>
                  </a:solidFill>
                  <a:ea typeface="Inter"/>
                  <a:cs typeface="Inter"/>
                  <a:sym typeface="Inter"/>
                </a:rPr>
                <a:t>UART Communication: Enables bidirectional data flow (telemetry, commands)</a:t>
              </a:r>
            </a:p>
            <a:p>
              <a:pPr marL="262898" lvl="1" algn="l"/>
              <a:r>
                <a:rPr lang="en-US" sz="1600" dirty="0">
                  <a:solidFill>
                    <a:srgbClr val="000000"/>
                  </a:solidFill>
                  <a:ea typeface="Inter"/>
                  <a:cs typeface="Inter"/>
                  <a:sym typeface="Inter"/>
                </a:rPr>
                <a:t>I2C Integration: High-accuracy data for environmental monitoring</a:t>
              </a:r>
            </a:p>
            <a:p>
              <a:pPr algn="l">
                <a:spcBef>
                  <a:spcPct val="0"/>
                </a:spcBef>
              </a:pPr>
              <a:endParaRPr lang="en-US" sz="1600" dirty="0">
                <a:solidFill>
                  <a:srgbClr val="000000"/>
                </a:solidFill>
                <a:ea typeface="Inter"/>
                <a:cs typeface="Inter"/>
                <a:sym typeface="Inter"/>
              </a:endParaRPr>
            </a:p>
          </p:txBody>
        </p:sp>
        <p:sp>
          <p:nvSpPr>
            <p:cNvPr id="16" name="TextBox 23">
              <a:extLst>
                <a:ext uri="{FF2B5EF4-FFF2-40B4-BE49-F238E27FC236}">
                  <a16:creationId xmlns:a16="http://schemas.microsoft.com/office/drawing/2014/main" id="{E0C958B2-32F0-DF9E-FA38-4AF9307340E0}"/>
                </a:ext>
              </a:extLst>
            </p:cNvPr>
            <p:cNvSpPr txBox="1"/>
            <p:nvPr/>
          </p:nvSpPr>
          <p:spPr>
            <a:xfrm>
              <a:off x="11794200" y="5000276"/>
              <a:ext cx="5553200" cy="2445598"/>
            </a:xfrm>
            <a:prstGeom prst="rect">
              <a:avLst/>
            </a:prstGeom>
          </p:spPr>
          <p:txBody>
            <a:bodyPr wrap="square" lIns="0" tIns="0" rIns="0" bIns="0" rtlCol="0" anchor="t">
              <a:spAutoFit/>
            </a:bodyPr>
            <a:lstStyle/>
            <a:p>
              <a:pPr marL="512146" lvl="1" indent="-256073" algn="l">
                <a:buFont typeface="Arial"/>
                <a:buChar char="•"/>
              </a:pPr>
              <a:r>
                <a:rPr lang="en-US" sz="1600" dirty="0">
                  <a:solidFill>
                    <a:srgbClr val="000000"/>
                  </a:solidFill>
                  <a:ea typeface="Inter"/>
                  <a:cs typeface="Inter"/>
                  <a:sym typeface="Inter"/>
                </a:rPr>
                <a:t>Pixhawk 4: Real-time flight control and stabilization</a:t>
              </a:r>
            </a:p>
            <a:p>
              <a:pPr marL="512146" lvl="1" indent="-256073" algn="l">
                <a:buFont typeface="Arial"/>
                <a:buChar char="•"/>
              </a:pPr>
              <a:r>
                <a:rPr lang="en-US" sz="1600" dirty="0">
                  <a:solidFill>
                    <a:srgbClr val="000000"/>
                  </a:solidFill>
                  <a:ea typeface="Inter"/>
                  <a:cs typeface="Inter"/>
                  <a:sym typeface="Inter"/>
                </a:rPr>
                <a:t>Neo M8N GPS: High-precision navigation with RTK support</a:t>
              </a:r>
            </a:p>
            <a:p>
              <a:pPr marL="512146" lvl="1" indent="-256073" algn="l">
                <a:buFont typeface="Arial"/>
                <a:buChar char="•"/>
              </a:pPr>
              <a:r>
                <a:rPr lang="en-US" sz="1600" dirty="0">
                  <a:solidFill>
                    <a:srgbClr val="000000"/>
                  </a:solidFill>
                  <a:ea typeface="Inter"/>
                  <a:cs typeface="Inter"/>
                  <a:sym typeface="Inter"/>
                </a:rPr>
                <a:t>Raspberry Pi 5: Onboard object detection, sensor fusion, and decision-making</a:t>
              </a:r>
            </a:p>
            <a:p>
              <a:pPr marL="512146" lvl="1" indent="-256073" algn="l">
                <a:buFont typeface="Arial"/>
                <a:buChar char="•"/>
              </a:pPr>
              <a:r>
                <a:rPr lang="en-US" sz="1600" dirty="0">
                  <a:solidFill>
                    <a:srgbClr val="000000"/>
                  </a:solidFill>
                  <a:ea typeface="Inter"/>
                  <a:cs typeface="Inter"/>
                  <a:sym typeface="Inter"/>
                </a:rPr>
                <a:t>Mission Planner: GUI-based flight planning with RTH and waypoint support</a:t>
              </a:r>
            </a:p>
          </p:txBody>
        </p:sp>
        <p:sp>
          <p:nvSpPr>
            <p:cNvPr id="17" name="TextBox 24">
              <a:extLst>
                <a:ext uri="{FF2B5EF4-FFF2-40B4-BE49-F238E27FC236}">
                  <a16:creationId xmlns:a16="http://schemas.microsoft.com/office/drawing/2014/main" id="{9E7C6F96-4C65-56D6-D63C-6E4D998E18F5}"/>
                </a:ext>
              </a:extLst>
            </p:cNvPr>
            <p:cNvSpPr txBox="1"/>
            <p:nvPr/>
          </p:nvSpPr>
          <p:spPr>
            <a:xfrm>
              <a:off x="2431587" y="678022"/>
              <a:ext cx="6676379" cy="611400"/>
            </a:xfrm>
            <a:prstGeom prst="rect">
              <a:avLst/>
            </a:prstGeom>
          </p:spPr>
          <p:txBody>
            <a:bodyPr wrap="square" lIns="0" tIns="0" rIns="0" bIns="0" rtlCol="0" anchor="t">
              <a:spAutoFit/>
            </a:bodyPr>
            <a:lstStyle/>
            <a:p>
              <a:pPr algn="ctr">
                <a:spcBef>
                  <a:spcPct val="0"/>
                </a:spcBef>
              </a:pPr>
              <a:r>
                <a:rPr lang="en-US" sz="3200" b="1" dirty="0">
                  <a:solidFill>
                    <a:schemeClr val="bg1"/>
                  </a:solidFill>
                  <a:latin typeface="+mj-lt"/>
                  <a:ea typeface="League Spartan"/>
                  <a:cs typeface="League Spartan"/>
                  <a:sym typeface="League Spartan"/>
                </a:rPr>
                <a:t>Subsystem Selection </a:t>
              </a:r>
            </a:p>
          </p:txBody>
        </p:sp>
      </p:grpSp>
      <p:grpSp>
        <p:nvGrpSpPr>
          <p:cNvPr id="19" name="Group 14">
            <a:extLst>
              <a:ext uri="{FF2B5EF4-FFF2-40B4-BE49-F238E27FC236}">
                <a16:creationId xmlns:a16="http://schemas.microsoft.com/office/drawing/2014/main" id="{C82F59E2-272E-2698-3527-DCC66EBF1EF0}"/>
              </a:ext>
            </a:extLst>
          </p:cNvPr>
          <p:cNvGrpSpPr/>
          <p:nvPr/>
        </p:nvGrpSpPr>
        <p:grpSpPr>
          <a:xfrm>
            <a:off x="9658537" y="11884"/>
            <a:ext cx="2050862" cy="429876"/>
            <a:chOff x="0" y="0"/>
            <a:chExt cx="7838183" cy="1629051"/>
          </a:xfrm>
        </p:grpSpPr>
        <p:sp>
          <p:nvSpPr>
            <p:cNvPr id="20" name="Freeform 15">
              <a:extLst>
                <a:ext uri="{FF2B5EF4-FFF2-40B4-BE49-F238E27FC236}">
                  <a16:creationId xmlns:a16="http://schemas.microsoft.com/office/drawing/2014/main" id="{2E975720-2880-E662-1AEB-2288AF484A8F}"/>
                </a:ext>
              </a:extLst>
            </p:cNvPr>
            <p:cNvSpPr/>
            <p:nvPr/>
          </p:nvSpPr>
          <p:spPr>
            <a:xfrm>
              <a:off x="2068432" y="472763"/>
              <a:ext cx="4016856" cy="1096665"/>
            </a:xfrm>
            <a:custGeom>
              <a:avLst/>
              <a:gdLst/>
              <a:ahLst/>
              <a:cxnLst/>
              <a:rect l="l" t="t" r="r" b="b"/>
              <a:pathLst>
                <a:path w="4016856" h="1096665">
                  <a:moveTo>
                    <a:pt x="0" y="0"/>
                  </a:moveTo>
                  <a:lnTo>
                    <a:pt x="4016856" y="0"/>
                  </a:lnTo>
                  <a:lnTo>
                    <a:pt x="4016856" y="1096666"/>
                  </a:lnTo>
                  <a:lnTo>
                    <a:pt x="0" y="1096666"/>
                  </a:lnTo>
                  <a:lnTo>
                    <a:pt x="0" y="0"/>
                  </a:lnTo>
                  <a:close/>
                </a:path>
              </a:pathLst>
            </a:custGeom>
            <a:blipFill>
              <a:blip r:embed="rId5"/>
              <a:stretch>
                <a:fillRect/>
              </a:stretch>
            </a:blipFill>
          </p:spPr>
        </p:sp>
        <p:sp>
          <p:nvSpPr>
            <p:cNvPr id="21" name="Freeform 16">
              <a:extLst>
                <a:ext uri="{FF2B5EF4-FFF2-40B4-BE49-F238E27FC236}">
                  <a16:creationId xmlns:a16="http://schemas.microsoft.com/office/drawing/2014/main" id="{A598FFFB-1D96-B2D5-4AC8-508FC9037A6E}"/>
                </a:ext>
              </a:extLst>
            </p:cNvPr>
            <p:cNvSpPr/>
            <p:nvPr/>
          </p:nvSpPr>
          <p:spPr>
            <a:xfrm>
              <a:off x="0" y="0"/>
              <a:ext cx="1629051" cy="1629051"/>
            </a:xfrm>
            <a:custGeom>
              <a:avLst/>
              <a:gdLst/>
              <a:ahLst/>
              <a:cxnLst/>
              <a:rect l="l" t="t" r="r" b="b"/>
              <a:pathLst>
                <a:path w="1629051" h="1629051">
                  <a:moveTo>
                    <a:pt x="0" y="0"/>
                  </a:moveTo>
                  <a:lnTo>
                    <a:pt x="1629051" y="0"/>
                  </a:lnTo>
                  <a:lnTo>
                    <a:pt x="1629051" y="1629051"/>
                  </a:lnTo>
                  <a:lnTo>
                    <a:pt x="0" y="1629051"/>
                  </a:lnTo>
                  <a:lnTo>
                    <a:pt x="0" y="0"/>
                  </a:lnTo>
                  <a:close/>
                </a:path>
              </a:pathLst>
            </a:custGeom>
            <a:blipFill>
              <a:blip r:embed="rId6"/>
              <a:stretch>
                <a:fillRect/>
              </a:stretch>
            </a:blipFill>
          </p:spPr>
        </p:sp>
        <p:sp>
          <p:nvSpPr>
            <p:cNvPr id="22" name="Freeform 17">
              <a:extLst>
                <a:ext uri="{FF2B5EF4-FFF2-40B4-BE49-F238E27FC236}">
                  <a16:creationId xmlns:a16="http://schemas.microsoft.com/office/drawing/2014/main" id="{21D000E8-912D-DA42-A7F5-E0EC221A5B69}"/>
                </a:ext>
              </a:extLst>
            </p:cNvPr>
            <p:cNvSpPr/>
            <p:nvPr/>
          </p:nvSpPr>
          <p:spPr>
            <a:xfrm>
              <a:off x="6399188" y="0"/>
              <a:ext cx="1438995" cy="1629051"/>
            </a:xfrm>
            <a:custGeom>
              <a:avLst/>
              <a:gdLst/>
              <a:ahLst/>
              <a:cxnLst/>
              <a:rect l="l" t="t" r="r" b="b"/>
              <a:pathLst>
                <a:path w="1438995" h="1629051">
                  <a:moveTo>
                    <a:pt x="0" y="0"/>
                  </a:moveTo>
                  <a:lnTo>
                    <a:pt x="1438995" y="0"/>
                  </a:lnTo>
                  <a:lnTo>
                    <a:pt x="1438995" y="1629051"/>
                  </a:lnTo>
                  <a:lnTo>
                    <a:pt x="0" y="1629051"/>
                  </a:lnTo>
                  <a:lnTo>
                    <a:pt x="0" y="0"/>
                  </a:lnTo>
                  <a:close/>
                </a:path>
              </a:pathLst>
            </a:custGeom>
            <a:blipFill>
              <a:blip r:embed="rId7"/>
              <a:stretch>
                <a:fillRect/>
              </a:stretch>
            </a:blipFill>
          </p:spPr>
        </p:sp>
      </p:grpSp>
    </p:spTree>
    <p:extLst>
      <p:ext uri="{BB962C8B-B14F-4D97-AF65-F5344CB8AC3E}">
        <p14:creationId xmlns:p14="http://schemas.microsoft.com/office/powerpoint/2010/main" val="1390981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43267ABC-3CAE-5E99-F739-BEA34380A738}"/>
              </a:ext>
            </a:extLst>
          </p:cNvPr>
          <p:cNvGrpSpPr/>
          <p:nvPr/>
        </p:nvGrpSpPr>
        <p:grpSpPr>
          <a:xfrm>
            <a:off x="-3605096" y="426026"/>
            <a:ext cx="16158796" cy="6802316"/>
            <a:chOff x="-3605096" y="426026"/>
            <a:chExt cx="16158796" cy="6802316"/>
          </a:xfrm>
        </p:grpSpPr>
        <p:sp>
          <p:nvSpPr>
            <p:cNvPr id="3" name="TextBox 17">
              <a:extLst>
                <a:ext uri="{FF2B5EF4-FFF2-40B4-BE49-F238E27FC236}">
                  <a16:creationId xmlns:a16="http://schemas.microsoft.com/office/drawing/2014/main" id="{ACA62447-E89B-6A75-2C9A-B83954877628}"/>
                </a:ext>
              </a:extLst>
            </p:cNvPr>
            <p:cNvSpPr txBox="1"/>
            <p:nvPr/>
          </p:nvSpPr>
          <p:spPr>
            <a:xfrm>
              <a:off x="245642" y="2532428"/>
              <a:ext cx="3872947" cy="2954655"/>
            </a:xfrm>
            <a:prstGeom prst="rect">
              <a:avLst/>
            </a:prstGeom>
          </p:spPr>
          <p:txBody>
            <a:bodyPr wrap="square" lIns="0" tIns="0" rIns="0" bIns="0" rtlCol="0" anchor="t">
              <a:spAutoFit/>
            </a:bodyPr>
            <a:lstStyle/>
            <a:p>
              <a:pPr marL="488759" lvl="1" indent="-244380" algn="just">
                <a:buFont typeface="Arial"/>
                <a:buChar char="•"/>
              </a:pPr>
              <a:r>
                <a:rPr lang="en-US" sz="1600" dirty="0">
                  <a:solidFill>
                    <a:srgbClr val="000000"/>
                  </a:solidFill>
                  <a:ea typeface="Inter"/>
                  <a:cs typeface="Inter"/>
                  <a:sym typeface="Inter"/>
                </a:rPr>
                <a:t>Analog Camera: Real-time video, object detection (YOLO)</a:t>
              </a:r>
            </a:p>
            <a:p>
              <a:pPr marL="488759" lvl="1" indent="-244380" algn="just">
                <a:buFont typeface="Arial"/>
                <a:buChar char="•"/>
              </a:pPr>
              <a:r>
                <a:rPr lang="en-US" sz="1600" dirty="0">
                  <a:solidFill>
                    <a:srgbClr val="000000"/>
                  </a:solidFill>
                  <a:ea typeface="Inter"/>
                  <a:cs typeface="Inter"/>
                  <a:sym typeface="Inter"/>
                </a:rPr>
                <a:t>MQ2 Gas Sensor: Detects LPG, CO, CH₄, smoke, etc.</a:t>
              </a:r>
            </a:p>
            <a:p>
              <a:pPr marL="488759" lvl="1" indent="-244380" algn="just">
                <a:buFont typeface="Arial"/>
                <a:buChar char="•"/>
              </a:pPr>
              <a:r>
                <a:rPr lang="en-US" sz="1600" dirty="0">
                  <a:solidFill>
                    <a:srgbClr val="000000"/>
                  </a:solidFill>
                  <a:ea typeface="Inter"/>
                  <a:cs typeface="Inter"/>
                  <a:sym typeface="Inter"/>
                </a:rPr>
                <a:t>GL5537 LDR: Ambient light monitoring for camera adaptation</a:t>
              </a:r>
            </a:p>
            <a:p>
              <a:pPr marL="488759" lvl="1" indent="-244380" algn="just">
                <a:buFont typeface="Arial"/>
                <a:buChar char="•"/>
              </a:pPr>
              <a:r>
                <a:rPr lang="en-US" sz="1600" dirty="0">
                  <a:solidFill>
                    <a:srgbClr val="000000"/>
                  </a:solidFill>
                  <a:ea typeface="Inter"/>
                  <a:cs typeface="Inter"/>
                  <a:sym typeface="Inter"/>
                </a:rPr>
                <a:t>ADS1115 ADC: Converts analog signals to digital (for MQ2, LDR)</a:t>
              </a:r>
            </a:p>
            <a:p>
              <a:pPr marL="488759" lvl="1" indent="-244380" algn="just">
                <a:buFont typeface="Arial"/>
                <a:buChar char="•"/>
              </a:pPr>
              <a:r>
                <a:rPr lang="en-US" sz="1600" dirty="0">
                  <a:solidFill>
                    <a:srgbClr val="000000"/>
                  </a:solidFill>
                  <a:ea typeface="Inter"/>
                  <a:cs typeface="Inter"/>
                  <a:sym typeface="Inter"/>
                </a:rPr>
                <a:t>Ultrasonic Sensor: Flood-level detection &amp; obstacle avoidance</a:t>
              </a:r>
            </a:p>
            <a:p>
              <a:pPr marL="488759" lvl="1" indent="-244380" algn="just">
                <a:buFont typeface="Arial"/>
                <a:buChar char="•"/>
              </a:pPr>
              <a:r>
                <a:rPr lang="en-US" sz="1600" dirty="0">
                  <a:solidFill>
                    <a:srgbClr val="000000"/>
                  </a:solidFill>
                  <a:ea typeface="Inter"/>
                  <a:cs typeface="Inter"/>
                  <a:sym typeface="Inter"/>
                </a:rPr>
                <a:t>Servo Motor: Controls object-grabbing gripper arm</a:t>
              </a:r>
            </a:p>
          </p:txBody>
        </p:sp>
        <p:grpSp>
          <p:nvGrpSpPr>
            <p:cNvPr id="4" name="Group 3">
              <a:extLst>
                <a:ext uri="{FF2B5EF4-FFF2-40B4-BE49-F238E27FC236}">
                  <a16:creationId xmlns:a16="http://schemas.microsoft.com/office/drawing/2014/main" id="{F5FF3D0D-7EF6-7F2D-1213-828E7D0CD292}"/>
                </a:ext>
              </a:extLst>
            </p:cNvPr>
            <p:cNvGrpSpPr/>
            <p:nvPr/>
          </p:nvGrpSpPr>
          <p:grpSpPr>
            <a:xfrm>
              <a:off x="-3605096" y="426026"/>
              <a:ext cx="16158796" cy="6802316"/>
              <a:chOff x="-4860371" y="502703"/>
              <a:chExt cx="23643507" cy="10279433"/>
            </a:xfrm>
          </p:grpSpPr>
          <p:sp>
            <p:nvSpPr>
              <p:cNvPr id="5" name="AutoShape 2">
                <a:extLst>
                  <a:ext uri="{FF2B5EF4-FFF2-40B4-BE49-F238E27FC236}">
                    <a16:creationId xmlns:a16="http://schemas.microsoft.com/office/drawing/2014/main" id="{B7F3FA11-DFF8-23E7-02D4-20C8B88228E8}"/>
                  </a:ext>
                </a:extLst>
              </p:cNvPr>
              <p:cNvSpPr/>
              <p:nvPr/>
            </p:nvSpPr>
            <p:spPr>
              <a:xfrm>
                <a:off x="13680466" y="3223426"/>
                <a:ext cx="1947107" cy="0"/>
              </a:xfrm>
              <a:prstGeom prst="line">
                <a:avLst/>
              </a:prstGeom>
              <a:ln w="142875" cap="flat">
                <a:solidFill>
                  <a:srgbClr val="2B485F"/>
                </a:solidFill>
                <a:prstDash val="solid"/>
                <a:headEnd type="none" w="sm" len="sm"/>
                <a:tailEnd type="none" w="sm" len="sm"/>
              </a:ln>
            </p:spPr>
          </p:sp>
          <p:sp>
            <p:nvSpPr>
              <p:cNvPr id="6" name="AutoShape 3">
                <a:extLst>
                  <a:ext uri="{FF2B5EF4-FFF2-40B4-BE49-F238E27FC236}">
                    <a16:creationId xmlns:a16="http://schemas.microsoft.com/office/drawing/2014/main" id="{29319B31-D950-668D-8C9D-F413205647F5}"/>
                  </a:ext>
                </a:extLst>
              </p:cNvPr>
              <p:cNvSpPr/>
              <p:nvPr/>
            </p:nvSpPr>
            <p:spPr>
              <a:xfrm>
                <a:off x="2612951" y="3223426"/>
                <a:ext cx="1947107" cy="0"/>
              </a:xfrm>
              <a:prstGeom prst="line">
                <a:avLst/>
              </a:prstGeom>
              <a:ln w="142875" cap="flat">
                <a:solidFill>
                  <a:srgbClr val="2B485F"/>
                </a:solidFill>
                <a:prstDash val="solid"/>
                <a:headEnd type="none" w="sm" len="sm"/>
                <a:tailEnd type="none" w="sm" len="sm"/>
              </a:ln>
            </p:spPr>
          </p:sp>
          <p:grpSp>
            <p:nvGrpSpPr>
              <p:cNvPr id="7" name="Group 4">
                <a:extLst>
                  <a:ext uri="{FF2B5EF4-FFF2-40B4-BE49-F238E27FC236}">
                    <a16:creationId xmlns:a16="http://schemas.microsoft.com/office/drawing/2014/main" id="{E591AB3A-2064-136D-0F1A-52AC3A63315E}"/>
                  </a:ext>
                </a:extLst>
              </p:cNvPr>
              <p:cNvGrpSpPr/>
              <p:nvPr/>
            </p:nvGrpSpPr>
            <p:grpSpPr>
              <a:xfrm>
                <a:off x="-4860371" y="9267844"/>
                <a:ext cx="8220370" cy="1514292"/>
                <a:chOff x="0" y="-345621"/>
                <a:chExt cx="5421802" cy="998762"/>
              </a:xfrm>
            </p:grpSpPr>
            <p:sp>
              <p:nvSpPr>
                <p:cNvPr id="22" name="Freeform 5">
                  <a:extLst>
                    <a:ext uri="{FF2B5EF4-FFF2-40B4-BE49-F238E27FC236}">
                      <a16:creationId xmlns:a16="http://schemas.microsoft.com/office/drawing/2014/main" id="{5D01A296-E2B1-65C3-7D11-5E21C5A2A05B}"/>
                    </a:ext>
                  </a:extLst>
                </p:cNvPr>
                <p:cNvSpPr/>
                <p:nvPr/>
              </p:nvSpPr>
              <p:spPr>
                <a:xfrm>
                  <a:off x="3490572" y="-345621"/>
                  <a:ext cx="1931230" cy="653141"/>
                </a:xfrm>
                <a:custGeom>
                  <a:avLst/>
                  <a:gdLst/>
                  <a:ahLst/>
                  <a:cxnLst/>
                  <a:rect l="l" t="t" r="r" b="b"/>
                  <a:pathLst>
                    <a:path w="5136921" h="653141">
                      <a:moveTo>
                        <a:pt x="4933721" y="0"/>
                      </a:moveTo>
                      <a:lnTo>
                        <a:pt x="0" y="0"/>
                      </a:lnTo>
                      <a:lnTo>
                        <a:pt x="0" y="653141"/>
                      </a:lnTo>
                      <a:lnTo>
                        <a:pt x="4933721" y="653141"/>
                      </a:lnTo>
                      <a:lnTo>
                        <a:pt x="5136921" y="326570"/>
                      </a:lnTo>
                      <a:lnTo>
                        <a:pt x="4933721" y="0"/>
                      </a:lnTo>
                      <a:close/>
                    </a:path>
                  </a:pathLst>
                </a:custGeom>
                <a:solidFill>
                  <a:srgbClr val="2B485F"/>
                </a:solidFill>
              </p:spPr>
            </p:sp>
            <p:sp>
              <p:nvSpPr>
                <p:cNvPr id="23" name="TextBox 6">
                  <a:extLst>
                    <a:ext uri="{FF2B5EF4-FFF2-40B4-BE49-F238E27FC236}">
                      <a16:creationId xmlns:a16="http://schemas.microsoft.com/office/drawing/2014/main" id="{C6A6FCBE-6A61-1174-40CF-DF9F6F3EB72E}"/>
                    </a:ext>
                  </a:extLst>
                </p:cNvPr>
                <p:cNvSpPr txBox="1"/>
                <p:nvPr/>
              </p:nvSpPr>
              <p:spPr>
                <a:xfrm>
                  <a:off x="0" y="-38100"/>
                  <a:ext cx="5022621" cy="691241"/>
                </a:xfrm>
                <a:prstGeom prst="rect">
                  <a:avLst/>
                </a:prstGeom>
              </p:spPr>
              <p:txBody>
                <a:bodyPr lIns="50800" tIns="50800" rIns="50800" bIns="50800" rtlCol="0" anchor="ctr"/>
                <a:lstStyle/>
                <a:p>
                  <a:pPr algn="just"/>
                  <a:endParaRPr sz="1400"/>
                </a:p>
              </p:txBody>
            </p:sp>
          </p:grpSp>
          <p:grpSp>
            <p:nvGrpSpPr>
              <p:cNvPr id="8" name="Group 7">
                <a:extLst>
                  <a:ext uri="{FF2B5EF4-FFF2-40B4-BE49-F238E27FC236}">
                    <a16:creationId xmlns:a16="http://schemas.microsoft.com/office/drawing/2014/main" id="{7DFD579B-570F-99DA-3290-FCF1FDEF8AE2}"/>
                  </a:ext>
                </a:extLst>
              </p:cNvPr>
              <p:cNvGrpSpPr/>
              <p:nvPr/>
            </p:nvGrpSpPr>
            <p:grpSpPr>
              <a:xfrm rot="-5400000">
                <a:off x="16567529" y="8535286"/>
                <a:ext cx="2894373" cy="1536841"/>
                <a:chOff x="0" y="-360493"/>
                <a:chExt cx="1909004" cy="1013634"/>
              </a:xfrm>
            </p:grpSpPr>
            <p:sp>
              <p:nvSpPr>
                <p:cNvPr id="20" name="Freeform 8">
                  <a:extLst>
                    <a:ext uri="{FF2B5EF4-FFF2-40B4-BE49-F238E27FC236}">
                      <a16:creationId xmlns:a16="http://schemas.microsoft.com/office/drawing/2014/main" id="{5B7F97CC-F193-8704-5EDB-1DCD29D6B625}"/>
                    </a:ext>
                  </a:extLst>
                </p:cNvPr>
                <p:cNvSpPr/>
                <p:nvPr/>
              </p:nvSpPr>
              <p:spPr>
                <a:xfrm>
                  <a:off x="360359" y="-360493"/>
                  <a:ext cx="1548645" cy="653141"/>
                </a:xfrm>
                <a:custGeom>
                  <a:avLst/>
                  <a:gdLst/>
                  <a:ahLst/>
                  <a:cxnLst/>
                  <a:rect l="l" t="t" r="r" b="b"/>
                  <a:pathLst>
                    <a:path w="1548645" h="653141">
                      <a:moveTo>
                        <a:pt x="1345445" y="0"/>
                      </a:moveTo>
                      <a:lnTo>
                        <a:pt x="0" y="0"/>
                      </a:lnTo>
                      <a:lnTo>
                        <a:pt x="0" y="653141"/>
                      </a:lnTo>
                      <a:lnTo>
                        <a:pt x="1345445" y="653141"/>
                      </a:lnTo>
                      <a:lnTo>
                        <a:pt x="1548645" y="326570"/>
                      </a:lnTo>
                      <a:lnTo>
                        <a:pt x="1345445" y="0"/>
                      </a:lnTo>
                      <a:close/>
                    </a:path>
                  </a:pathLst>
                </a:custGeom>
                <a:solidFill>
                  <a:srgbClr val="2B485F"/>
                </a:solidFill>
              </p:spPr>
            </p:sp>
            <p:sp>
              <p:nvSpPr>
                <p:cNvPr id="21" name="TextBox 9">
                  <a:extLst>
                    <a:ext uri="{FF2B5EF4-FFF2-40B4-BE49-F238E27FC236}">
                      <a16:creationId xmlns:a16="http://schemas.microsoft.com/office/drawing/2014/main" id="{32345CFE-FE98-2A5F-9E77-F900A0FECBC1}"/>
                    </a:ext>
                  </a:extLst>
                </p:cNvPr>
                <p:cNvSpPr txBox="1"/>
                <p:nvPr/>
              </p:nvSpPr>
              <p:spPr>
                <a:xfrm>
                  <a:off x="0" y="-38100"/>
                  <a:ext cx="1434345" cy="691241"/>
                </a:xfrm>
                <a:prstGeom prst="rect">
                  <a:avLst/>
                </a:prstGeom>
              </p:spPr>
              <p:txBody>
                <a:bodyPr lIns="50800" tIns="50800" rIns="50800" bIns="50800" rtlCol="0" anchor="ctr"/>
                <a:lstStyle/>
                <a:p>
                  <a:pPr algn="just"/>
                  <a:endParaRPr sz="1400"/>
                </a:p>
              </p:txBody>
            </p:sp>
          </p:grpSp>
          <p:grpSp>
            <p:nvGrpSpPr>
              <p:cNvPr id="9" name="Group 10">
                <a:extLst>
                  <a:ext uri="{FF2B5EF4-FFF2-40B4-BE49-F238E27FC236}">
                    <a16:creationId xmlns:a16="http://schemas.microsoft.com/office/drawing/2014/main" id="{A4C955C6-BE5F-A325-2BE6-4AACF8867FBC}"/>
                  </a:ext>
                </a:extLst>
              </p:cNvPr>
              <p:cNvGrpSpPr/>
              <p:nvPr/>
            </p:nvGrpSpPr>
            <p:grpSpPr>
              <a:xfrm>
                <a:off x="1003000" y="502703"/>
                <a:ext cx="8680507" cy="1310047"/>
                <a:chOff x="-702667" y="-38100"/>
                <a:chExt cx="5725288" cy="864051"/>
              </a:xfrm>
            </p:grpSpPr>
            <p:sp>
              <p:nvSpPr>
                <p:cNvPr id="18" name="Freeform 11">
                  <a:extLst>
                    <a:ext uri="{FF2B5EF4-FFF2-40B4-BE49-F238E27FC236}">
                      <a16:creationId xmlns:a16="http://schemas.microsoft.com/office/drawing/2014/main" id="{E9C759B6-7487-E40B-C4A2-49FBE041A977}"/>
                    </a:ext>
                  </a:extLst>
                </p:cNvPr>
                <p:cNvSpPr/>
                <p:nvPr/>
              </p:nvSpPr>
              <p:spPr>
                <a:xfrm>
                  <a:off x="-702667" y="172810"/>
                  <a:ext cx="5136921" cy="653141"/>
                </a:xfrm>
                <a:custGeom>
                  <a:avLst/>
                  <a:gdLst/>
                  <a:ahLst/>
                  <a:cxnLst/>
                  <a:rect l="l" t="t" r="r" b="b"/>
                  <a:pathLst>
                    <a:path w="5136921" h="653141">
                      <a:moveTo>
                        <a:pt x="4933721" y="0"/>
                      </a:moveTo>
                      <a:lnTo>
                        <a:pt x="0" y="0"/>
                      </a:lnTo>
                      <a:lnTo>
                        <a:pt x="0" y="653141"/>
                      </a:lnTo>
                      <a:lnTo>
                        <a:pt x="4933721" y="653141"/>
                      </a:lnTo>
                      <a:lnTo>
                        <a:pt x="5136921" y="326570"/>
                      </a:lnTo>
                      <a:lnTo>
                        <a:pt x="4933721" y="0"/>
                      </a:lnTo>
                      <a:close/>
                    </a:path>
                  </a:pathLst>
                </a:custGeom>
                <a:solidFill>
                  <a:srgbClr val="2B485F"/>
                </a:solidFill>
              </p:spPr>
            </p:sp>
            <p:sp>
              <p:nvSpPr>
                <p:cNvPr id="19" name="TextBox 12">
                  <a:extLst>
                    <a:ext uri="{FF2B5EF4-FFF2-40B4-BE49-F238E27FC236}">
                      <a16:creationId xmlns:a16="http://schemas.microsoft.com/office/drawing/2014/main" id="{D4BCD70B-AB10-DE5C-1400-5AEBB98F3247}"/>
                    </a:ext>
                  </a:extLst>
                </p:cNvPr>
                <p:cNvSpPr txBox="1"/>
                <p:nvPr/>
              </p:nvSpPr>
              <p:spPr>
                <a:xfrm>
                  <a:off x="0" y="-38100"/>
                  <a:ext cx="5022621" cy="691241"/>
                </a:xfrm>
                <a:prstGeom prst="rect">
                  <a:avLst/>
                </a:prstGeom>
              </p:spPr>
              <p:txBody>
                <a:bodyPr lIns="50800" tIns="50800" rIns="50800" bIns="50800" rtlCol="0" anchor="ctr"/>
                <a:lstStyle/>
                <a:p>
                  <a:pPr algn="just"/>
                  <a:endParaRPr sz="1400"/>
                </a:p>
              </p:txBody>
            </p:sp>
          </p:grpSp>
          <p:sp>
            <p:nvSpPr>
              <p:cNvPr id="10" name="AutoShape 13">
                <a:extLst>
                  <a:ext uri="{FF2B5EF4-FFF2-40B4-BE49-F238E27FC236}">
                    <a16:creationId xmlns:a16="http://schemas.microsoft.com/office/drawing/2014/main" id="{1488D16F-029D-7968-DC3E-F0579E61F3C0}"/>
                  </a:ext>
                </a:extLst>
              </p:cNvPr>
              <p:cNvSpPr/>
              <p:nvPr/>
            </p:nvSpPr>
            <p:spPr>
              <a:xfrm>
                <a:off x="14345407" y="942190"/>
                <a:ext cx="3956612" cy="0"/>
              </a:xfrm>
              <a:prstGeom prst="line">
                <a:avLst/>
              </a:prstGeom>
              <a:ln w="38100" cap="flat">
                <a:solidFill>
                  <a:srgbClr val="2B485F"/>
                </a:solidFill>
                <a:prstDash val="solid"/>
                <a:headEnd type="none" w="sm" len="sm"/>
                <a:tailEnd type="none" w="sm" len="sm"/>
              </a:ln>
            </p:spPr>
            <p:txBody>
              <a:bodyPr/>
              <a:lstStyle/>
              <a:p>
                <a:pPr algn="just"/>
                <a:endParaRPr lang="en-US" sz="1400" dirty="0"/>
              </a:p>
            </p:txBody>
          </p:sp>
          <p:sp>
            <p:nvSpPr>
              <p:cNvPr id="11" name="TextBox 14">
                <a:extLst>
                  <a:ext uri="{FF2B5EF4-FFF2-40B4-BE49-F238E27FC236}">
                    <a16:creationId xmlns:a16="http://schemas.microsoft.com/office/drawing/2014/main" id="{D0D13010-C748-8D0D-5B45-EEFBBB2B405E}"/>
                  </a:ext>
                </a:extLst>
              </p:cNvPr>
              <p:cNvSpPr txBox="1"/>
              <p:nvPr/>
            </p:nvSpPr>
            <p:spPr>
              <a:xfrm>
                <a:off x="12457356" y="2397147"/>
                <a:ext cx="4589182" cy="418592"/>
              </a:xfrm>
              <a:prstGeom prst="rect">
                <a:avLst/>
              </a:prstGeom>
            </p:spPr>
            <p:txBody>
              <a:bodyPr lIns="0" tIns="0" rIns="0" bIns="0" rtlCol="0" anchor="t">
                <a:spAutoFit/>
              </a:bodyPr>
              <a:lstStyle/>
              <a:p>
                <a:pPr algn="just">
                  <a:spcBef>
                    <a:spcPct val="0"/>
                  </a:spcBef>
                </a:pPr>
                <a:r>
                  <a:rPr lang="en-US" b="1" dirty="0">
                    <a:solidFill>
                      <a:srgbClr val="000000"/>
                    </a:solidFill>
                    <a:ea typeface="Inter Bold"/>
                    <a:cs typeface="Inter Bold"/>
                    <a:sym typeface="Inter Bold"/>
                  </a:rPr>
                  <a:t>Functional Performance</a:t>
                </a:r>
              </a:p>
            </p:txBody>
          </p:sp>
          <p:sp>
            <p:nvSpPr>
              <p:cNvPr id="12" name="TextBox 15">
                <a:extLst>
                  <a:ext uri="{FF2B5EF4-FFF2-40B4-BE49-F238E27FC236}">
                    <a16:creationId xmlns:a16="http://schemas.microsoft.com/office/drawing/2014/main" id="{40FE3FB5-982C-CB6C-ABEB-EE3928196961}"/>
                  </a:ext>
                </a:extLst>
              </p:cNvPr>
              <p:cNvSpPr txBox="1"/>
              <p:nvPr/>
            </p:nvSpPr>
            <p:spPr>
              <a:xfrm>
                <a:off x="1785335" y="2444016"/>
                <a:ext cx="4347087" cy="418592"/>
              </a:xfrm>
              <a:prstGeom prst="rect">
                <a:avLst/>
              </a:prstGeom>
            </p:spPr>
            <p:txBody>
              <a:bodyPr lIns="0" tIns="0" rIns="0" bIns="0" rtlCol="0" anchor="t">
                <a:spAutoFit/>
              </a:bodyPr>
              <a:lstStyle/>
              <a:p>
                <a:pPr algn="just">
                  <a:spcBef>
                    <a:spcPct val="0"/>
                  </a:spcBef>
                </a:pPr>
                <a:r>
                  <a:rPr lang="en-US" b="1" dirty="0">
                    <a:solidFill>
                      <a:srgbClr val="000000"/>
                    </a:solidFill>
                    <a:ea typeface="Inter Bold"/>
                    <a:cs typeface="Inter Bold"/>
                    <a:sym typeface="Inter Bold"/>
                  </a:rPr>
                  <a:t>Avionics &amp; Sensors</a:t>
                </a:r>
              </a:p>
            </p:txBody>
          </p:sp>
          <p:sp>
            <p:nvSpPr>
              <p:cNvPr id="13" name="TextBox 16">
                <a:extLst>
                  <a:ext uri="{FF2B5EF4-FFF2-40B4-BE49-F238E27FC236}">
                    <a16:creationId xmlns:a16="http://schemas.microsoft.com/office/drawing/2014/main" id="{EE0BD2C9-6776-8C9E-18E8-513F5E6AEB95}"/>
                  </a:ext>
                </a:extLst>
              </p:cNvPr>
              <p:cNvSpPr txBox="1"/>
              <p:nvPr/>
            </p:nvSpPr>
            <p:spPr>
              <a:xfrm>
                <a:off x="12244090" y="3565776"/>
                <a:ext cx="5015711" cy="3720814"/>
              </a:xfrm>
              <a:prstGeom prst="rect">
                <a:avLst/>
              </a:prstGeom>
            </p:spPr>
            <p:txBody>
              <a:bodyPr lIns="0" tIns="0" rIns="0" bIns="0" rtlCol="0" anchor="t">
                <a:spAutoFit/>
              </a:bodyPr>
              <a:lstStyle/>
              <a:p>
                <a:pPr marL="489744" lvl="1" indent="-244872" algn="just">
                  <a:buFont typeface="Arial"/>
                  <a:buChar char="•"/>
                </a:pPr>
                <a:r>
                  <a:rPr lang="en-US" sz="1600" dirty="0">
                    <a:solidFill>
                      <a:srgbClr val="000000"/>
                    </a:solidFill>
                    <a:ea typeface="Inter"/>
                    <a:cs typeface="Inter"/>
                    <a:sym typeface="Inter"/>
                  </a:rPr>
                  <a:t>Navigation: GPS-based waypoint missions via Pixhawk</a:t>
                </a:r>
              </a:p>
              <a:p>
                <a:pPr marL="489744" lvl="1" indent="-244872" algn="just">
                  <a:buFont typeface="Arial"/>
                  <a:buChar char="•"/>
                </a:pPr>
                <a:r>
                  <a:rPr lang="en-US" sz="1600" dirty="0">
                    <a:solidFill>
                      <a:srgbClr val="000000"/>
                    </a:solidFill>
                    <a:ea typeface="Inter"/>
                    <a:cs typeface="Inter"/>
                    <a:sym typeface="Inter"/>
                  </a:rPr>
                  <a:t>Object Detection: AI-driven object recognition using camera + YOLO</a:t>
                </a:r>
              </a:p>
              <a:p>
                <a:pPr marL="489744" lvl="1" indent="-244872" algn="just">
                  <a:buFont typeface="Arial"/>
                  <a:buChar char="•"/>
                </a:pPr>
                <a:r>
                  <a:rPr lang="en-US" sz="1600" dirty="0">
                    <a:solidFill>
                      <a:srgbClr val="000000"/>
                    </a:solidFill>
                    <a:ea typeface="Inter"/>
                    <a:cs typeface="Inter"/>
                    <a:sym typeface="Inter"/>
                  </a:rPr>
                  <a:t>Object Interaction: Servo-triggered payload delivery system</a:t>
                </a:r>
              </a:p>
              <a:p>
                <a:pPr marL="489744" lvl="1" indent="-244872" algn="just">
                  <a:buFont typeface="Arial"/>
                  <a:buChar char="•"/>
                </a:pPr>
                <a:r>
                  <a:rPr lang="en-US" sz="1600" dirty="0">
                    <a:solidFill>
                      <a:srgbClr val="000000"/>
                    </a:solidFill>
                    <a:ea typeface="Inter"/>
                    <a:cs typeface="Inter"/>
                    <a:sym typeface="Inter"/>
                  </a:rPr>
                  <a:t>Environment Monitoring: Real-time humidity, temperature, gas, light sensing</a:t>
                </a:r>
              </a:p>
              <a:p>
                <a:pPr algn="just"/>
                <a:endParaRPr lang="en-US" sz="1600" dirty="0">
                  <a:solidFill>
                    <a:srgbClr val="000000"/>
                  </a:solidFill>
                  <a:ea typeface="Inter"/>
                  <a:cs typeface="Inter"/>
                  <a:sym typeface="Inter"/>
                </a:endParaRPr>
              </a:p>
            </p:txBody>
          </p:sp>
          <p:sp>
            <p:nvSpPr>
              <p:cNvPr id="14" name="TextBox 18">
                <a:extLst>
                  <a:ext uri="{FF2B5EF4-FFF2-40B4-BE49-F238E27FC236}">
                    <a16:creationId xmlns:a16="http://schemas.microsoft.com/office/drawing/2014/main" id="{A68B937F-F0AD-2E6A-CCA5-2A4B232B9822}"/>
                  </a:ext>
                </a:extLst>
              </p:cNvPr>
              <p:cNvSpPr txBox="1"/>
              <p:nvPr/>
            </p:nvSpPr>
            <p:spPr>
              <a:xfrm>
                <a:off x="1088281" y="934581"/>
                <a:ext cx="10926176" cy="744163"/>
              </a:xfrm>
              <a:prstGeom prst="rect">
                <a:avLst/>
              </a:prstGeom>
            </p:spPr>
            <p:txBody>
              <a:bodyPr lIns="0" tIns="0" rIns="0" bIns="0" rtlCol="0" anchor="t">
                <a:spAutoFit/>
              </a:bodyPr>
              <a:lstStyle/>
              <a:p>
                <a:pPr algn="just">
                  <a:spcBef>
                    <a:spcPct val="0"/>
                  </a:spcBef>
                </a:pPr>
                <a:r>
                  <a:rPr lang="en-US" sz="3200" b="1" dirty="0">
                    <a:solidFill>
                      <a:srgbClr val="FFFFFF"/>
                    </a:solidFill>
                    <a:latin typeface="+mj-lt"/>
                    <a:ea typeface="League Spartan"/>
                    <a:cs typeface="League Spartan"/>
                    <a:sym typeface="League Spartan"/>
                  </a:rPr>
                  <a:t>Avionics  and  Sensors </a:t>
                </a:r>
              </a:p>
            </p:txBody>
          </p:sp>
          <p:sp>
            <p:nvSpPr>
              <p:cNvPr id="15" name="TextBox 19">
                <a:extLst>
                  <a:ext uri="{FF2B5EF4-FFF2-40B4-BE49-F238E27FC236}">
                    <a16:creationId xmlns:a16="http://schemas.microsoft.com/office/drawing/2014/main" id="{9B56B62B-11D8-C3FF-0973-2ED097849F07}"/>
                  </a:ext>
                </a:extLst>
              </p:cNvPr>
              <p:cNvSpPr txBox="1"/>
              <p:nvPr/>
            </p:nvSpPr>
            <p:spPr>
              <a:xfrm>
                <a:off x="7193429" y="2407918"/>
                <a:ext cx="4347087" cy="418592"/>
              </a:xfrm>
              <a:prstGeom prst="rect">
                <a:avLst/>
              </a:prstGeom>
            </p:spPr>
            <p:txBody>
              <a:bodyPr lIns="0" tIns="0" rIns="0" bIns="0" rtlCol="0" anchor="t">
                <a:spAutoFit/>
              </a:bodyPr>
              <a:lstStyle/>
              <a:p>
                <a:pPr algn="just">
                  <a:spcBef>
                    <a:spcPct val="0"/>
                  </a:spcBef>
                </a:pPr>
                <a:r>
                  <a:rPr lang="en-US" b="1" dirty="0">
                    <a:solidFill>
                      <a:srgbClr val="000000"/>
                    </a:solidFill>
                    <a:ea typeface="Inter Bold"/>
                    <a:cs typeface="Inter Bold"/>
                    <a:sym typeface="Inter Bold"/>
                  </a:rPr>
                  <a:t>System Integration</a:t>
                </a:r>
              </a:p>
            </p:txBody>
          </p:sp>
          <p:sp>
            <p:nvSpPr>
              <p:cNvPr id="16" name="AutoShape 20">
                <a:extLst>
                  <a:ext uri="{FF2B5EF4-FFF2-40B4-BE49-F238E27FC236}">
                    <a16:creationId xmlns:a16="http://schemas.microsoft.com/office/drawing/2014/main" id="{B45A2A90-ADA4-307E-F9F7-9417CC71E414}"/>
                  </a:ext>
                </a:extLst>
              </p:cNvPr>
              <p:cNvSpPr/>
              <p:nvPr/>
            </p:nvSpPr>
            <p:spPr>
              <a:xfrm>
                <a:off x="7956077" y="3223426"/>
                <a:ext cx="1947107" cy="0"/>
              </a:xfrm>
              <a:prstGeom prst="line">
                <a:avLst/>
              </a:prstGeom>
              <a:ln w="142875" cap="flat">
                <a:solidFill>
                  <a:srgbClr val="2B485F"/>
                </a:solidFill>
                <a:prstDash val="solid"/>
                <a:headEnd type="none" w="sm" len="sm"/>
                <a:tailEnd type="none" w="sm" len="sm"/>
              </a:ln>
            </p:spPr>
          </p:sp>
          <p:sp>
            <p:nvSpPr>
              <p:cNvPr id="17" name="TextBox 21">
                <a:extLst>
                  <a:ext uri="{FF2B5EF4-FFF2-40B4-BE49-F238E27FC236}">
                    <a16:creationId xmlns:a16="http://schemas.microsoft.com/office/drawing/2014/main" id="{8458DCF5-98AB-3FE1-FD4F-715BEC2901A5}"/>
                  </a:ext>
                </a:extLst>
              </p:cNvPr>
              <p:cNvSpPr txBox="1"/>
              <p:nvPr/>
            </p:nvSpPr>
            <p:spPr>
              <a:xfrm>
                <a:off x="6489855" y="3702796"/>
                <a:ext cx="5478213" cy="4464976"/>
              </a:xfrm>
              <a:prstGeom prst="rect">
                <a:avLst/>
              </a:prstGeom>
            </p:spPr>
            <p:txBody>
              <a:bodyPr lIns="0" tIns="0" rIns="0" bIns="0" rtlCol="0" anchor="t">
                <a:spAutoFit/>
              </a:bodyPr>
              <a:lstStyle/>
              <a:p>
                <a:pPr marL="488759" lvl="1" indent="-244380" algn="just">
                  <a:buFont typeface="Arial"/>
                  <a:buChar char="•"/>
                </a:pPr>
                <a:r>
                  <a:rPr lang="en-US" sz="1600" dirty="0">
                    <a:solidFill>
                      <a:srgbClr val="000000"/>
                    </a:solidFill>
                    <a:ea typeface="Inter"/>
                    <a:cs typeface="Inter"/>
                    <a:sym typeface="Inter"/>
                  </a:rPr>
                  <a:t>All sensors feed data to the microcontroller for real-time processing.</a:t>
                </a:r>
              </a:p>
              <a:p>
                <a:pPr marL="488759" lvl="1" indent="-244380" algn="just">
                  <a:buFont typeface="Arial"/>
                  <a:buChar char="•"/>
                </a:pPr>
                <a:r>
                  <a:rPr lang="en-US" sz="1600" dirty="0">
                    <a:solidFill>
                      <a:srgbClr val="000000"/>
                    </a:solidFill>
                    <a:ea typeface="Inter"/>
                    <a:cs typeface="Inter"/>
                    <a:sym typeface="Inter"/>
                  </a:rPr>
                  <a:t>Microcontroller communicates with Pixhawk for autonomous flight decisions.</a:t>
                </a:r>
              </a:p>
              <a:p>
                <a:pPr marL="488759" lvl="1" indent="-244380" algn="just">
                  <a:buFont typeface="Arial"/>
                  <a:buChar char="•"/>
                </a:pPr>
                <a:r>
                  <a:rPr lang="en-US" sz="1600" dirty="0">
                    <a:solidFill>
                      <a:srgbClr val="000000"/>
                    </a:solidFill>
                    <a:ea typeface="Inter"/>
                    <a:cs typeface="Inter"/>
                    <a:sym typeface="Inter"/>
                  </a:rPr>
                  <a:t>YOLO processes video feed for AI-based object detection.</a:t>
                </a:r>
              </a:p>
              <a:p>
                <a:pPr marL="488759" lvl="1" indent="-244380" algn="just">
                  <a:buFont typeface="Arial"/>
                  <a:buChar char="•"/>
                </a:pPr>
                <a:r>
                  <a:rPr lang="en-US" sz="1600" dirty="0">
                    <a:solidFill>
                      <a:srgbClr val="000000"/>
                    </a:solidFill>
                    <a:ea typeface="Inter"/>
                    <a:cs typeface="Inter"/>
                    <a:sym typeface="Inter"/>
                  </a:rPr>
                  <a:t>Pixhawk handles waypoint navigation using GPS input.</a:t>
                </a:r>
              </a:p>
              <a:p>
                <a:pPr marL="488759" lvl="1" indent="-244380" algn="just">
                  <a:buFont typeface="Arial"/>
                  <a:buChar char="•"/>
                </a:pPr>
                <a:r>
                  <a:rPr lang="en-US" sz="1600" dirty="0">
                    <a:solidFill>
                      <a:srgbClr val="000000"/>
                    </a:solidFill>
                    <a:ea typeface="Inter"/>
                    <a:cs typeface="Inter"/>
                    <a:sym typeface="Inter"/>
                  </a:rPr>
                  <a:t>Environment data enhances decision-making and mission adaptability.</a:t>
                </a:r>
              </a:p>
            </p:txBody>
          </p:sp>
        </p:grpSp>
      </p:grpSp>
      <p:grpSp>
        <p:nvGrpSpPr>
          <p:cNvPr id="24" name="Group 14">
            <a:extLst>
              <a:ext uri="{FF2B5EF4-FFF2-40B4-BE49-F238E27FC236}">
                <a16:creationId xmlns:a16="http://schemas.microsoft.com/office/drawing/2014/main" id="{AAD9C55A-DAC1-673F-F311-27DB71AFC9B0}"/>
              </a:ext>
            </a:extLst>
          </p:cNvPr>
          <p:cNvGrpSpPr/>
          <p:nvPr/>
        </p:nvGrpSpPr>
        <p:grpSpPr>
          <a:xfrm>
            <a:off x="9658537" y="11884"/>
            <a:ext cx="2050862" cy="429876"/>
            <a:chOff x="0" y="0"/>
            <a:chExt cx="7838183" cy="1629051"/>
          </a:xfrm>
        </p:grpSpPr>
        <p:sp>
          <p:nvSpPr>
            <p:cNvPr id="25" name="Freeform 15">
              <a:extLst>
                <a:ext uri="{FF2B5EF4-FFF2-40B4-BE49-F238E27FC236}">
                  <a16:creationId xmlns:a16="http://schemas.microsoft.com/office/drawing/2014/main" id="{227CF6F2-EE2A-473D-F1D2-967B1A4E08AA}"/>
                </a:ext>
              </a:extLst>
            </p:cNvPr>
            <p:cNvSpPr/>
            <p:nvPr/>
          </p:nvSpPr>
          <p:spPr>
            <a:xfrm>
              <a:off x="2068432" y="472763"/>
              <a:ext cx="4016856" cy="1096665"/>
            </a:xfrm>
            <a:custGeom>
              <a:avLst/>
              <a:gdLst/>
              <a:ahLst/>
              <a:cxnLst/>
              <a:rect l="l" t="t" r="r" b="b"/>
              <a:pathLst>
                <a:path w="4016856" h="1096665">
                  <a:moveTo>
                    <a:pt x="0" y="0"/>
                  </a:moveTo>
                  <a:lnTo>
                    <a:pt x="4016856" y="0"/>
                  </a:lnTo>
                  <a:lnTo>
                    <a:pt x="4016856" y="1096666"/>
                  </a:lnTo>
                  <a:lnTo>
                    <a:pt x="0" y="1096666"/>
                  </a:lnTo>
                  <a:lnTo>
                    <a:pt x="0" y="0"/>
                  </a:lnTo>
                  <a:close/>
                </a:path>
              </a:pathLst>
            </a:custGeom>
            <a:blipFill>
              <a:blip r:embed="rId2"/>
              <a:stretch>
                <a:fillRect/>
              </a:stretch>
            </a:blipFill>
          </p:spPr>
        </p:sp>
        <p:sp>
          <p:nvSpPr>
            <p:cNvPr id="26" name="Freeform 16">
              <a:extLst>
                <a:ext uri="{FF2B5EF4-FFF2-40B4-BE49-F238E27FC236}">
                  <a16:creationId xmlns:a16="http://schemas.microsoft.com/office/drawing/2014/main" id="{51009F79-F898-13D5-495E-F0FAD0E5E05C}"/>
                </a:ext>
              </a:extLst>
            </p:cNvPr>
            <p:cNvSpPr/>
            <p:nvPr/>
          </p:nvSpPr>
          <p:spPr>
            <a:xfrm>
              <a:off x="0" y="0"/>
              <a:ext cx="1629051" cy="1629051"/>
            </a:xfrm>
            <a:custGeom>
              <a:avLst/>
              <a:gdLst/>
              <a:ahLst/>
              <a:cxnLst/>
              <a:rect l="l" t="t" r="r" b="b"/>
              <a:pathLst>
                <a:path w="1629051" h="1629051">
                  <a:moveTo>
                    <a:pt x="0" y="0"/>
                  </a:moveTo>
                  <a:lnTo>
                    <a:pt x="1629051" y="0"/>
                  </a:lnTo>
                  <a:lnTo>
                    <a:pt x="1629051" y="1629051"/>
                  </a:lnTo>
                  <a:lnTo>
                    <a:pt x="0" y="1629051"/>
                  </a:lnTo>
                  <a:lnTo>
                    <a:pt x="0" y="0"/>
                  </a:lnTo>
                  <a:close/>
                </a:path>
              </a:pathLst>
            </a:custGeom>
            <a:blipFill>
              <a:blip r:embed="rId3"/>
              <a:stretch>
                <a:fillRect/>
              </a:stretch>
            </a:blipFill>
          </p:spPr>
        </p:sp>
        <p:sp>
          <p:nvSpPr>
            <p:cNvPr id="27" name="Freeform 17">
              <a:extLst>
                <a:ext uri="{FF2B5EF4-FFF2-40B4-BE49-F238E27FC236}">
                  <a16:creationId xmlns:a16="http://schemas.microsoft.com/office/drawing/2014/main" id="{2703A9DB-F629-3B5B-A696-45AA82506CE3}"/>
                </a:ext>
              </a:extLst>
            </p:cNvPr>
            <p:cNvSpPr/>
            <p:nvPr/>
          </p:nvSpPr>
          <p:spPr>
            <a:xfrm>
              <a:off x="6399188" y="0"/>
              <a:ext cx="1438995" cy="1629051"/>
            </a:xfrm>
            <a:custGeom>
              <a:avLst/>
              <a:gdLst/>
              <a:ahLst/>
              <a:cxnLst/>
              <a:rect l="l" t="t" r="r" b="b"/>
              <a:pathLst>
                <a:path w="1438995" h="1629051">
                  <a:moveTo>
                    <a:pt x="0" y="0"/>
                  </a:moveTo>
                  <a:lnTo>
                    <a:pt x="1438995" y="0"/>
                  </a:lnTo>
                  <a:lnTo>
                    <a:pt x="1438995" y="1629051"/>
                  </a:lnTo>
                  <a:lnTo>
                    <a:pt x="0" y="1629051"/>
                  </a:lnTo>
                  <a:lnTo>
                    <a:pt x="0" y="0"/>
                  </a:lnTo>
                  <a:close/>
                </a:path>
              </a:pathLst>
            </a:custGeom>
            <a:blipFill>
              <a:blip r:embed="rId4"/>
              <a:stretch>
                <a:fillRect/>
              </a:stretch>
            </a:blipFill>
          </p:spPr>
        </p:sp>
      </p:grpSp>
    </p:spTree>
    <p:extLst>
      <p:ext uri="{BB962C8B-B14F-4D97-AF65-F5344CB8AC3E}">
        <p14:creationId xmlns:p14="http://schemas.microsoft.com/office/powerpoint/2010/main" val="42029835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D97E1DEA-8B77-F0EA-E9E7-62AA4398ECF5}"/>
              </a:ext>
            </a:extLst>
          </p:cNvPr>
          <p:cNvGrpSpPr/>
          <p:nvPr/>
        </p:nvGrpSpPr>
        <p:grpSpPr>
          <a:xfrm>
            <a:off x="-98780" y="735637"/>
            <a:ext cx="11902909" cy="5702172"/>
            <a:chOff x="-403031" y="1306116"/>
            <a:chExt cx="17732330" cy="7573335"/>
          </a:xfrm>
        </p:grpSpPr>
        <p:grpSp>
          <p:nvGrpSpPr>
            <p:cNvPr id="3" name="Group 2">
              <a:extLst>
                <a:ext uri="{FF2B5EF4-FFF2-40B4-BE49-F238E27FC236}">
                  <a16:creationId xmlns:a16="http://schemas.microsoft.com/office/drawing/2014/main" id="{04E8E1AF-FDD5-205C-9069-11BEA1D9BDE4}"/>
                </a:ext>
              </a:extLst>
            </p:cNvPr>
            <p:cNvGrpSpPr/>
            <p:nvPr/>
          </p:nvGrpSpPr>
          <p:grpSpPr>
            <a:xfrm>
              <a:off x="1671064" y="3180731"/>
              <a:ext cx="4740729" cy="5648829"/>
              <a:chOff x="0" y="0"/>
              <a:chExt cx="1248587" cy="1487757"/>
            </a:xfrm>
          </p:grpSpPr>
          <p:sp>
            <p:nvSpPr>
              <p:cNvPr id="29" name="Freeform 3">
                <a:extLst>
                  <a:ext uri="{FF2B5EF4-FFF2-40B4-BE49-F238E27FC236}">
                    <a16:creationId xmlns:a16="http://schemas.microsoft.com/office/drawing/2014/main" id="{7891BD80-5734-0D34-447B-59B3F1CA0079}"/>
                  </a:ext>
                </a:extLst>
              </p:cNvPr>
              <p:cNvSpPr/>
              <p:nvPr/>
            </p:nvSpPr>
            <p:spPr>
              <a:xfrm>
                <a:off x="0" y="0"/>
                <a:ext cx="1248587" cy="1487757"/>
              </a:xfrm>
              <a:custGeom>
                <a:avLst/>
                <a:gdLst/>
                <a:ahLst/>
                <a:cxnLst/>
                <a:rect l="l" t="t" r="r" b="b"/>
                <a:pathLst>
                  <a:path w="1248587" h="1487757">
                    <a:moveTo>
                      <a:pt x="0" y="0"/>
                    </a:moveTo>
                    <a:lnTo>
                      <a:pt x="1248587" y="0"/>
                    </a:lnTo>
                    <a:lnTo>
                      <a:pt x="1248587" y="1487757"/>
                    </a:lnTo>
                    <a:lnTo>
                      <a:pt x="0" y="1487757"/>
                    </a:lnTo>
                    <a:close/>
                  </a:path>
                </a:pathLst>
              </a:custGeom>
              <a:solidFill>
                <a:srgbClr val="598196"/>
              </a:solidFill>
              <a:ln w="66675" cap="sq">
                <a:solidFill>
                  <a:srgbClr val="2B485F"/>
                </a:solidFill>
                <a:prstDash val="solid"/>
                <a:miter/>
              </a:ln>
            </p:spPr>
          </p:sp>
          <p:sp>
            <p:nvSpPr>
              <p:cNvPr id="30" name="TextBox 4">
                <a:extLst>
                  <a:ext uri="{FF2B5EF4-FFF2-40B4-BE49-F238E27FC236}">
                    <a16:creationId xmlns:a16="http://schemas.microsoft.com/office/drawing/2014/main" id="{671DD764-FDA9-CD94-301D-22A370B0CA50}"/>
                  </a:ext>
                </a:extLst>
              </p:cNvPr>
              <p:cNvSpPr txBox="1"/>
              <p:nvPr/>
            </p:nvSpPr>
            <p:spPr>
              <a:xfrm>
                <a:off x="0" y="-38100"/>
                <a:ext cx="1248587" cy="1525857"/>
              </a:xfrm>
              <a:prstGeom prst="rect">
                <a:avLst/>
              </a:prstGeom>
            </p:spPr>
            <p:txBody>
              <a:bodyPr lIns="50800" tIns="50800" rIns="50800" bIns="50800" rtlCol="0" anchor="ctr"/>
              <a:lstStyle/>
              <a:p>
                <a:pPr algn="ctr"/>
                <a:endParaRPr sz="1600"/>
              </a:p>
            </p:txBody>
          </p:sp>
        </p:grpSp>
        <p:grpSp>
          <p:nvGrpSpPr>
            <p:cNvPr id="4" name="Group 5">
              <a:extLst>
                <a:ext uri="{FF2B5EF4-FFF2-40B4-BE49-F238E27FC236}">
                  <a16:creationId xmlns:a16="http://schemas.microsoft.com/office/drawing/2014/main" id="{C33485DC-583E-D287-403E-4777A11E2E95}"/>
                </a:ext>
              </a:extLst>
            </p:cNvPr>
            <p:cNvGrpSpPr/>
            <p:nvPr/>
          </p:nvGrpSpPr>
          <p:grpSpPr>
            <a:xfrm>
              <a:off x="7362219" y="3435640"/>
              <a:ext cx="4551565" cy="5443811"/>
              <a:chOff x="0" y="0"/>
              <a:chExt cx="1198766" cy="1433761"/>
            </a:xfrm>
          </p:grpSpPr>
          <p:sp>
            <p:nvSpPr>
              <p:cNvPr id="27" name="Freeform 6">
                <a:extLst>
                  <a:ext uri="{FF2B5EF4-FFF2-40B4-BE49-F238E27FC236}">
                    <a16:creationId xmlns:a16="http://schemas.microsoft.com/office/drawing/2014/main" id="{5D07BFBD-3DB8-8E38-CA7C-EA3A7D351B29}"/>
                  </a:ext>
                </a:extLst>
              </p:cNvPr>
              <p:cNvSpPr/>
              <p:nvPr/>
            </p:nvSpPr>
            <p:spPr>
              <a:xfrm>
                <a:off x="0" y="0"/>
                <a:ext cx="1198766" cy="1433761"/>
              </a:xfrm>
              <a:custGeom>
                <a:avLst/>
                <a:gdLst/>
                <a:ahLst/>
                <a:cxnLst/>
                <a:rect l="l" t="t" r="r" b="b"/>
                <a:pathLst>
                  <a:path w="1198766" h="1433761">
                    <a:moveTo>
                      <a:pt x="0" y="0"/>
                    </a:moveTo>
                    <a:lnTo>
                      <a:pt x="1198766" y="0"/>
                    </a:lnTo>
                    <a:lnTo>
                      <a:pt x="1198766" y="1433761"/>
                    </a:lnTo>
                    <a:lnTo>
                      <a:pt x="0" y="1433761"/>
                    </a:lnTo>
                    <a:close/>
                  </a:path>
                </a:pathLst>
              </a:custGeom>
              <a:solidFill>
                <a:srgbClr val="598196"/>
              </a:solidFill>
              <a:ln w="66675" cap="sq">
                <a:solidFill>
                  <a:srgbClr val="2B485F"/>
                </a:solidFill>
                <a:prstDash val="solid"/>
                <a:miter/>
              </a:ln>
            </p:spPr>
          </p:sp>
          <p:sp>
            <p:nvSpPr>
              <p:cNvPr id="28" name="TextBox 7">
                <a:extLst>
                  <a:ext uri="{FF2B5EF4-FFF2-40B4-BE49-F238E27FC236}">
                    <a16:creationId xmlns:a16="http://schemas.microsoft.com/office/drawing/2014/main" id="{FB4EF6B7-6C9F-B585-81B7-7CD6B91362CE}"/>
                  </a:ext>
                </a:extLst>
              </p:cNvPr>
              <p:cNvSpPr txBox="1"/>
              <p:nvPr/>
            </p:nvSpPr>
            <p:spPr>
              <a:xfrm>
                <a:off x="0" y="-38100"/>
                <a:ext cx="1198766" cy="1471861"/>
              </a:xfrm>
              <a:prstGeom prst="rect">
                <a:avLst/>
              </a:prstGeom>
            </p:spPr>
            <p:txBody>
              <a:bodyPr lIns="50800" tIns="50800" rIns="50800" bIns="50800" rtlCol="0" anchor="ctr"/>
              <a:lstStyle/>
              <a:p>
                <a:pPr algn="ctr"/>
                <a:endParaRPr sz="1600"/>
              </a:p>
            </p:txBody>
          </p:sp>
        </p:grpSp>
        <p:grpSp>
          <p:nvGrpSpPr>
            <p:cNvPr id="5" name="Group 8">
              <a:extLst>
                <a:ext uri="{FF2B5EF4-FFF2-40B4-BE49-F238E27FC236}">
                  <a16:creationId xmlns:a16="http://schemas.microsoft.com/office/drawing/2014/main" id="{18AF52B2-4300-D238-B006-9545EEDAD5B3}"/>
                </a:ext>
              </a:extLst>
            </p:cNvPr>
            <p:cNvGrpSpPr/>
            <p:nvPr/>
          </p:nvGrpSpPr>
          <p:grpSpPr>
            <a:xfrm>
              <a:off x="12777734" y="3435640"/>
              <a:ext cx="4551565" cy="5443811"/>
              <a:chOff x="0" y="0"/>
              <a:chExt cx="1198766" cy="1433761"/>
            </a:xfrm>
          </p:grpSpPr>
          <p:sp>
            <p:nvSpPr>
              <p:cNvPr id="25" name="Freeform 9">
                <a:extLst>
                  <a:ext uri="{FF2B5EF4-FFF2-40B4-BE49-F238E27FC236}">
                    <a16:creationId xmlns:a16="http://schemas.microsoft.com/office/drawing/2014/main" id="{4DBBC13A-4B67-A677-303E-375EC8949565}"/>
                  </a:ext>
                </a:extLst>
              </p:cNvPr>
              <p:cNvSpPr/>
              <p:nvPr/>
            </p:nvSpPr>
            <p:spPr>
              <a:xfrm>
                <a:off x="0" y="0"/>
                <a:ext cx="1198766" cy="1433761"/>
              </a:xfrm>
              <a:custGeom>
                <a:avLst/>
                <a:gdLst/>
                <a:ahLst/>
                <a:cxnLst/>
                <a:rect l="l" t="t" r="r" b="b"/>
                <a:pathLst>
                  <a:path w="1198766" h="1433761">
                    <a:moveTo>
                      <a:pt x="0" y="0"/>
                    </a:moveTo>
                    <a:lnTo>
                      <a:pt x="1198766" y="0"/>
                    </a:lnTo>
                    <a:lnTo>
                      <a:pt x="1198766" y="1433761"/>
                    </a:lnTo>
                    <a:lnTo>
                      <a:pt x="0" y="1433761"/>
                    </a:lnTo>
                    <a:close/>
                  </a:path>
                </a:pathLst>
              </a:custGeom>
              <a:solidFill>
                <a:srgbClr val="598196"/>
              </a:solidFill>
              <a:ln w="66675" cap="sq">
                <a:solidFill>
                  <a:srgbClr val="2B485F"/>
                </a:solidFill>
                <a:prstDash val="solid"/>
                <a:miter/>
              </a:ln>
            </p:spPr>
          </p:sp>
          <p:sp>
            <p:nvSpPr>
              <p:cNvPr id="26" name="TextBox 10">
                <a:extLst>
                  <a:ext uri="{FF2B5EF4-FFF2-40B4-BE49-F238E27FC236}">
                    <a16:creationId xmlns:a16="http://schemas.microsoft.com/office/drawing/2014/main" id="{A26A38F0-A30C-3C48-39DB-066957F55CDB}"/>
                  </a:ext>
                </a:extLst>
              </p:cNvPr>
              <p:cNvSpPr txBox="1"/>
              <p:nvPr/>
            </p:nvSpPr>
            <p:spPr>
              <a:xfrm>
                <a:off x="0" y="-38100"/>
                <a:ext cx="1198766" cy="1471861"/>
              </a:xfrm>
              <a:prstGeom prst="rect">
                <a:avLst/>
              </a:prstGeom>
            </p:spPr>
            <p:txBody>
              <a:bodyPr lIns="50800" tIns="50800" rIns="50800" bIns="50800" rtlCol="0" anchor="ctr"/>
              <a:lstStyle/>
              <a:p>
                <a:pPr algn="ctr"/>
                <a:endParaRPr sz="1600"/>
              </a:p>
            </p:txBody>
          </p:sp>
        </p:grpSp>
        <p:grpSp>
          <p:nvGrpSpPr>
            <p:cNvPr id="6" name="Group 11">
              <a:extLst>
                <a:ext uri="{FF2B5EF4-FFF2-40B4-BE49-F238E27FC236}">
                  <a16:creationId xmlns:a16="http://schemas.microsoft.com/office/drawing/2014/main" id="{F2D7F570-BBC6-2A55-9173-35238AF8C773}"/>
                </a:ext>
              </a:extLst>
            </p:cNvPr>
            <p:cNvGrpSpPr/>
            <p:nvPr/>
          </p:nvGrpSpPr>
          <p:grpSpPr>
            <a:xfrm>
              <a:off x="1181709" y="2790478"/>
              <a:ext cx="5055192" cy="5823568"/>
              <a:chOff x="0" y="-38100"/>
              <a:chExt cx="1331409" cy="1533779"/>
            </a:xfrm>
          </p:grpSpPr>
          <p:sp>
            <p:nvSpPr>
              <p:cNvPr id="23" name="Freeform 12">
                <a:extLst>
                  <a:ext uri="{FF2B5EF4-FFF2-40B4-BE49-F238E27FC236}">
                    <a16:creationId xmlns:a16="http://schemas.microsoft.com/office/drawing/2014/main" id="{12384236-5F3D-FF73-22BE-DAB36341A3D4}"/>
                  </a:ext>
                </a:extLst>
              </p:cNvPr>
              <p:cNvSpPr/>
              <p:nvPr/>
            </p:nvSpPr>
            <p:spPr>
              <a:xfrm>
                <a:off x="14956" y="-24641"/>
                <a:ext cx="1316453" cy="1495679"/>
              </a:xfrm>
              <a:custGeom>
                <a:avLst/>
                <a:gdLst/>
                <a:ahLst/>
                <a:cxnLst/>
                <a:rect l="l" t="t" r="r" b="b"/>
                <a:pathLst>
                  <a:path w="1316453" h="1495679">
                    <a:moveTo>
                      <a:pt x="0" y="0"/>
                    </a:moveTo>
                    <a:lnTo>
                      <a:pt x="1316453" y="0"/>
                    </a:lnTo>
                    <a:lnTo>
                      <a:pt x="1316453" y="1495679"/>
                    </a:lnTo>
                    <a:lnTo>
                      <a:pt x="0" y="1495679"/>
                    </a:lnTo>
                    <a:close/>
                  </a:path>
                </a:pathLst>
              </a:custGeom>
              <a:solidFill>
                <a:srgbClr val="FFFFFF"/>
              </a:solidFill>
              <a:ln w="66675" cap="sq">
                <a:solidFill>
                  <a:srgbClr val="2B485F"/>
                </a:solidFill>
                <a:prstDash val="solid"/>
                <a:miter/>
              </a:ln>
            </p:spPr>
          </p:sp>
          <p:sp>
            <p:nvSpPr>
              <p:cNvPr id="24" name="TextBox 13">
                <a:extLst>
                  <a:ext uri="{FF2B5EF4-FFF2-40B4-BE49-F238E27FC236}">
                    <a16:creationId xmlns:a16="http://schemas.microsoft.com/office/drawing/2014/main" id="{AC0A5810-D00A-C40B-BC4A-0CCDC2214BEA}"/>
                  </a:ext>
                </a:extLst>
              </p:cNvPr>
              <p:cNvSpPr txBox="1"/>
              <p:nvPr/>
            </p:nvSpPr>
            <p:spPr>
              <a:xfrm>
                <a:off x="0" y="-38100"/>
                <a:ext cx="1316453" cy="1533779"/>
              </a:xfrm>
              <a:prstGeom prst="rect">
                <a:avLst/>
              </a:prstGeom>
            </p:spPr>
            <p:txBody>
              <a:bodyPr lIns="50800" tIns="50800" rIns="50800" bIns="50800" rtlCol="0" anchor="ctr"/>
              <a:lstStyle/>
              <a:p>
                <a:pPr algn="ctr"/>
                <a:endParaRPr sz="1600"/>
              </a:p>
            </p:txBody>
          </p:sp>
        </p:grpSp>
        <p:grpSp>
          <p:nvGrpSpPr>
            <p:cNvPr id="7" name="Group 14">
              <a:extLst>
                <a:ext uri="{FF2B5EF4-FFF2-40B4-BE49-F238E27FC236}">
                  <a16:creationId xmlns:a16="http://schemas.microsoft.com/office/drawing/2014/main" id="{19A0B82E-77A2-7C08-80B6-145ACCF532A6}"/>
                </a:ext>
              </a:extLst>
            </p:cNvPr>
            <p:cNvGrpSpPr/>
            <p:nvPr/>
          </p:nvGrpSpPr>
          <p:grpSpPr>
            <a:xfrm>
              <a:off x="6933780" y="2841578"/>
              <a:ext cx="4827604" cy="5885473"/>
              <a:chOff x="0" y="0"/>
              <a:chExt cx="1271468" cy="1550083"/>
            </a:xfrm>
          </p:grpSpPr>
          <p:sp>
            <p:nvSpPr>
              <p:cNvPr id="21" name="Freeform 15">
                <a:extLst>
                  <a:ext uri="{FF2B5EF4-FFF2-40B4-BE49-F238E27FC236}">
                    <a16:creationId xmlns:a16="http://schemas.microsoft.com/office/drawing/2014/main" id="{9508A92A-ACA1-8F87-1BC2-097F42DA8AE1}"/>
                  </a:ext>
                </a:extLst>
              </p:cNvPr>
              <p:cNvSpPr/>
              <p:nvPr/>
            </p:nvSpPr>
            <p:spPr>
              <a:xfrm>
                <a:off x="0" y="0"/>
                <a:ext cx="1271468" cy="1550083"/>
              </a:xfrm>
              <a:custGeom>
                <a:avLst/>
                <a:gdLst/>
                <a:ahLst/>
                <a:cxnLst/>
                <a:rect l="l" t="t" r="r" b="b"/>
                <a:pathLst>
                  <a:path w="1271468" h="1550083">
                    <a:moveTo>
                      <a:pt x="0" y="0"/>
                    </a:moveTo>
                    <a:lnTo>
                      <a:pt x="1271468" y="0"/>
                    </a:lnTo>
                    <a:lnTo>
                      <a:pt x="1271468" y="1550083"/>
                    </a:lnTo>
                    <a:lnTo>
                      <a:pt x="0" y="1550083"/>
                    </a:lnTo>
                    <a:close/>
                  </a:path>
                </a:pathLst>
              </a:custGeom>
              <a:solidFill>
                <a:srgbClr val="FFFFFF"/>
              </a:solidFill>
              <a:ln w="66675" cap="sq">
                <a:solidFill>
                  <a:srgbClr val="2B485F"/>
                </a:solidFill>
                <a:prstDash val="solid"/>
                <a:miter/>
              </a:ln>
            </p:spPr>
          </p:sp>
          <p:sp>
            <p:nvSpPr>
              <p:cNvPr id="22" name="TextBox 16">
                <a:extLst>
                  <a:ext uri="{FF2B5EF4-FFF2-40B4-BE49-F238E27FC236}">
                    <a16:creationId xmlns:a16="http://schemas.microsoft.com/office/drawing/2014/main" id="{41DDD85A-264B-322B-3C02-AB574A3FFEE8}"/>
                  </a:ext>
                </a:extLst>
              </p:cNvPr>
              <p:cNvSpPr txBox="1"/>
              <p:nvPr/>
            </p:nvSpPr>
            <p:spPr>
              <a:xfrm>
                <a:off x="0" y="-38100"/>
                <a:ext cx="1271468" cy="1588183"/>
              </a:xfrm>
              <a:prstGeom prst="rect">
                <a:avLst/>
              </a:prstGeom>
            </p:spPr>
            <p:txBody>
              <a:bodyPr lIns="50800" tIns="50800" rIns="50800" bIns="50800" rtlCol="0" anchor="ctr"/>
              <a:lstStyle/>
              <a:p>
                <a:pPr algn="ctr"/>
                <a:endParaRPr sz="1600"/>
              </a:p>
            </p:txBody>
          </p:sp>
        </p:grpSp>
        <p:grpSp>
          <p:nvGrpSpPr>
            <p:cNvPr id="8" name="Group 17">
              <a:extLst>
                <a:ext uri="{FF2B5EF4-FFF2-40B4-BE49-F238E27FC236}">
                  <a16:creationId xmlns:a16="http://schemas.microsoft.com/office/drawing/2014/main" id="{0BDE833C-A8E0-C7B8-1190-AE72DDBB7777}"/>
                </a:ext>
              </a:extLst>
            </p:cNvPr>
            <p:cNvGrpSpPr/>
            <p:nvPr/>
          </p:nvGrpSpPr>
          <p:grpSpPr>
            <a:xfrm>
              <a:off x="12496516" y="2696918"/>
              <a:ext cx="4680383" cy="6030133"/>
              <a:chOff x="0" y="-96261"/>
              <a:chExt cx="1232693" cy="1588183"/>
            </a:xfrm>
          </p:grpSpPr>
          <p:sp>
            <p:nvSpPr>
              <p:cNvPr id="19" name="Freeform 18">
                <a:extLst>
                  <a:ext uri="{FF2B5EF4-FFF2-40B4-BE49-F238E27FC236}">
                    <a16:creationId xmlns:a16="http://schemas.microsoft.com/office/drawing/2014/main" id="{FA73BBD2-AEB7-9F90-BFC3-6A42F483E128}"/>
                  </a:ext>
                </a:extLst>
              </p:cNvPr>
              <p:cNvSpPr/>
              <p:nvPr/>
            </p:nvSpPr>
            <p:spPr>
              <a:xfrm>
                <a:off x="0" y="-58161"/>
                <a:ext cx="1232693" cy="1550083"/>
              </a:xfrm>
              <a:custGeom>
                <a:avLst/>
                <a:gdLst/>
                <a:ahLst/>
                <a:cxnLst/>
                <a:rect l="l" t="t" r="r" b="b"/>
                <a:pathLst>
                  <a:path w="1232693" h="1491922">
                    <a:moveTo>
                      <a:pt x="0" y="0"/>
                    </a:moveTo>
                    <a:lnTo>
                      <a:pt x="1232693" y="0"/>
                    </a:lnTo>
                    <a:lnTo>
                      <a:pt x="1232693" y="1491922"/>
                    </a:lnTo>
                    <a:lnTo>
                      <a:pt x="0" y="1491922"/>
                    </a:lnTo>
                    <a:close/>
                  </a:path>
                </a:pathLst>
              </a:custGeom>
              <a:solidFill>
                <a:srgbClr val="FFFFFF"/>
              </a:solidFill>
              <a:ln w="66675" cap="sq">
                <a:solidFill>
                  <a:srgbClr val="2B485F"/>
                </a:solidFill>
                <a:prstDash val="solid"/>
                <a:miter/>
              </a:ln>
            </p:spPr>
          </p:sp>
          <p:sp>
            <p:nvSpPr>
              <p:cNvPr id="20" name="TextBox 19">
                <a:extLst>
                  <a:ext uri="{FF2B5EF4-FFF2-40B4-BE49-F238E27FC236}">
                    <a16:creationId xmlns:a16="http://schemas.microsoft.com/office/drawing/2014/main" id="{7FEEE671-1DCF-DAB9-1CDB-515748210A63}"/>
                  </a:ext>
                </a:extLst>
              </p:cNvPr>
              <p:cNvSpPr txBox="1"/>
              <p:nvPr/>
            </p:nvSpPr>
            <p:spPr>
              <a:xfrm>
                <a:off x="0" y="-96261"/>
                <a:ext cx="1232693" cy="1588183"/>
              </a:xfrm>
              <a:prstGeom prst="rect">
                <a:avLst/>
              </a:prstGeom>
            </p:spPr>
            <p:txBody>
              <a:bodyPr lIns="50800" tIns="50800" rIns="50800" bIns="50800" rtlCol="0" anchor="ctr"/>
              <a:lstStyle/>
              <a:p>
                <a:pPr algn="ctr"/>
                <a:endParaRPr sz="1600"/>
              </a:p>
            </p:txBody>
          </p:sp>
        </p:grpSp>
        <p:sp>
          <p:nvSpPr>
            <p:cNvPr id="9" name="TextBox 20">
              <a:extLst>
                <a:ext uri="{FF2B5EF4-FFF2-40B4-BE49-F238E27FC236}">
                  <a16:creationId xmlns:a16="http://schemas.microsoft.com/office/drawing/2014/main" id="{192A6B49-E0FC-949A-E1AF-BAE8620DDE3D}"/>
                </a:ext>
              </a:extLst>
            </p:cNvPr>
            <p:cNvSpPr txBox="1"/>
            <p:nvPr/>
          </p:nvSpPr>
          <p:spPr>
            <a:xfrm>
              <a:off x="1361899" y="4060222"/>
              <a:ext cx="4265229" cy="3924223"/>
            </a:xfrm>
            <a:prstGeom prst="rect">
              <a:avLst/>
            </a:prstGeom>
          </p:spPr>
          <p:txBody>
            <a:bodyPr lIns="0" tIns="0" rIns="0" bIns="0" rtlCol="0" anchor="t">
              <a:spAutoFit/>
            </a:bodyPr>
            <a:lstStyle/>
            <a:p>
              <a:pPr algn="just">
                <a:spcBef>
                  <a:spcPct val="0"/>
                </a:spcBef>
              </a:pPr>
              <a:r>
                <a:rPr lang="en-US" sz="1600" dirty="0">
                  <a:solidFill>
                    <a:srgbClr val="000000"/>
                  </a:solidFill>
                  <a:ea typeface="Inter"/>
                  <a:cs typeface="Inter"/>
                  <a:sym typeface="Inter"/>
                </a:rPr>
                <a:t>Total Estimated Power: ~270 W</a:t>
              </a:r>
            </a:p>
            <a:p>
              <a:pPr marL="466938" lvl="1" indent="-233469" algn="just">
                <a:spcBef>
                  <a:spcPct val="0"/>
                </a:spcBef>
                <a:buFont typeface="Arial"/>
                <a:buChar char="•"/>
              </a:pPr>
              <a:r>
                <a:rPr lang="en-US" sz="1600" dirty="0">
                  <a:solidFill>
                    <a:srgbClr val="000000"/>
                  </a:solidFill>
                  <a:ea typeface="Inter"/>
                  <a:cs typeface="Inter"/>
                  <a:sym typeface="Inter"/>
                </a:rPr>
                <a:t>Motors (4x EMAX ECOII 2807): 235.2 W</a:t>
              </a:r>
            </a:p>
            <a:p>
              <a:pPr marL="466938" lvl="1" indent="-233469" algn="just">
                <a:spcBef>
                  <a:spcPct val="0"/>
                </a:spcBef>
                <a:buFont typeface="Arial"/>
                <a:buChar char="•"/>
              </a:pPr>
              <a:r>
                <a:rPr lang="en-US" sz="1600" dirty="0">
                  <a:solidFill>
                    <a:srgbClr val="000000"/>
                  </a:solidFill>
                  <a:ea typeface="Inter"/>
                  <a:cs typeface="Inter"/>
                  <a:sym typeface="Inter"/>
                </a:rPr>
                <a:t>Raspberry Pi 5: 10 W</a:t>
              </a:r>
            </a:p>
            <a:p>
              <a:pPr marL="466938" lvl="1" indent="-233469" algn="just">
                <a:spcBef>
                  <a:spcPct val="0"/>
                </a:spcBef>
                <a:buFont typeface="Arial"/>
                <a:buChar char="•"/>
              </a:pPr>
              <a:r>
                <a:rPr lang="en-US" sz="1600" dirty="0">
                  <a:solidFill>
                    <a:srgbClr val="000000"/>
                  </a:solidFill>
                  <a:ea typeface="Inter"/>
                  <a:cs typeface="Inter"/>
                  <a:sym typeface="Inter"/>
                </a:rPr>
                <a:t>Pixhawk 4 Flight Controller: 1.5 W</a:t>
              </a:r>
            </a:p>
            <a:p>
              <a:pPr marL="466938" lvl="1" indent="-233469" algn="just">
                <a:spcBef>
                  <a:spcPct val="0"/>
                </a:spcBef>
                <a:buFont typeface="Arial"/>
                <a:buChar char="•"/>
              </a:pPr>
              <a:r>
                <a:rPr lang="en-US" sz="1600" dirty="0">
                  <a:solidFill>
                    <a:srgbClr val="000000"/>
                  </a:solidFill>
                  <a:ea typeface="Inter"/>
                  <a:cs typeface="Inter"/>
                  <a:sym typeface="Inter"/>
                </a:rPr>
                <a:t>BEC Module(5V@3A): 15 W</a:t>
              </a:r>
            </a:p>
            <a:p>
              <a:pPr marL="466938" lvl="1" indent="-233469" algn="just">
                <a:spcBef>
                  <a:spcPct val="0"/>
                </a:spcBef>
                <a:buFont typeface="Arial"/>
                <a:buChar char="•"/>
              </a:pPr>
              <a:r>
                <a:rPr lang="en-US" sz="1600" dirty="0">
                  <a:solidFill>
                    <a:srgbClr val="000000"/>
                  </a:solidFill>
                  <a:ea typeface="Inter"/>
                  <a:cs typeface="Inter"/>
                  <a:sym typeface="Inter"/>
                </a:rPr>
                <a:t>Sensors &amp; Peripherals (SHT31, MQ2, LDR, ADS1115, GPS, servos, etc.): &lt; 5 W</a:t>
              </a:r>
            </a:p>
            <a:p>
              <a:pPr algn="just">
                <a:spcBef>
                  <a:spcPct val="0"/>
                </a:spcBef>
              </a:pPr>
              <a:endParaRPr lang="en-US" sz="1600" dirty="0">
                <a:solidFill>
                  <a:srgbClr val="000000"/>
                </a:solidFill>
                <a:ea typeface="Inter"/>
                <a:cs typeface="Inter"/>
                <a:sym typeface="Inter"/>
              </a:endParaRPr>
            </a:p>
          </p:txBody>
        </p:sp>
        <p:sp>
          <p:nvSpPr>
            <p:cNvPr id="10" name="TextBox 21">
              <a:extLst>
                <a:ext uri="{FF2B5EF4-FFF2-40B4-BE49-F238E27FC236}">
                  <a16:creationId xmlns:a16="http://schemas.microsoft.com/office/drawing/2014/main" id="{211743BA-E240-6E63-C240-A30FBDA9C226}"/>
                </a:ext>
              </a:extLst>
            </p:cNvPr>
            <p:cNvSpPr txBox="1"/>
            <p:nvPr/>
          </p:nvSpPr>
          <p:spPr>
            <a:xfrm>
              <a:off x="1320334" y="3339742"/>
              <a:ext cx="4721155" cy="367896"/>
            </a:xfrm>
            <a:prstGeom prst="rect">
              <a:avLst/>
            </a:prstGeom>
          </p:spPr>
          <p:txBody>
            <a:bodyPr lIns="0" tIns="0" rIns="0" bIns="0" rtlCol="0" anchor="t">
              <a:spAutoFit/>
            </a:bodyPr>
            <a:lstStyle/>
            <a:p>
              <a:pPr algn="ctr">
                <a:spcBef>
                  <a:spcPct val="0"/>
                </a:spcBef>
              </a:pPr>
              <a:r>
                <a:rPr lang="en-US" b="1" dirty="0">
                  <a:solidFill>
                    <a:srgbClr val="000000"/>
                  </a:solidFill>
                  <a:ea typeface="Inter Bold"/>
                  <a:cs typeface="Inter Bold"/>
                  <a:sym typeface="Inter Bold"/>
                </a:rPr>
                <a:t>Power Requirements</a:t>
              </a:r>
            </a:p>
          </p:txBody>
        </p:sp>
        <p:sp>
          <p:nvSpPr>
            <p:cNvPr id="11" name="TextBox 22">
              <a:extLst>
                <a:ext uri="{FF2B5EF4-FFF2-40B4-BE49-F238E27FC236}">
                  <a16:creationId xmlns:a16="http://schemas.microsoft.com/office/drawing/2014/main" id="{4B830DE3-A670-9022-846A-61C59CA1F897}"/>
                </a:ext>
              </a:extLst>
            </p:cNvPr>
            <p:cNvSpPr txBox="1"/>
            <p:nvPr/>
          </p:nvSpPr>
          <p:spPr>
            <a:xfrm>
              <a:off x="7366050" y="3338247"/>
              <a:ext cx="3963065" cy="367896"/>
            </a:xfrm>
            <a:prstGeom prst="rect">
              <a:avLst/>
            </a:prstGeom>
          </p:spPr>
          <p:txBody>
            <a:bodyPr lIns="0" tIns="0" rIns="0" bIns="0" rtlCol="0" anchor="t">
              <a:spAutoFit/>
            </a:bodyPr>
            <a:lstStyle/>
            <a:p>
              <a:pPr algn="ctr">
                <a:spcBef>
                  <a:spcPct val="0"/>
                </a:spcBef>
              </a:pPr>
              <a:r>
                <a:rPr lang="en-US" b="1" dirty="0">
                  <a:solidFill>
                    <a:srgbClr val="000000"/>
                  </a:solidFill>
                  <a:ea typeface="Inter Bold"/>
                  <a:cs typeface="Inter Bold"/>
                  <a:sym typeface="Inter Bold"/>
                </a:rPr>
                <a:t>Battery Selection</a:t>
              </a:r>
            </a:p>
          </p:txBody>
        </p:sp>
        <p:sp>
          <p:nvSpPr>
            <p:cNvPr id="12" name="TextBox 23">
              <a:extLst>
                <a:ext uri="{FF2B5EF4-FFF2-40B4-BE49-F238E27FC236}">
                  <a16:creationId xmlns:a16="http://schemas.microsoft.com/office/drawing/2014/main" id="{23ED38E6-4790-9C09-53E1-AECE249C40FF}"/>
                </a:ext>
              </a:extLst>
            </p:cNvPr>
            <p:cNvSpPr txBox="1"/>
            <p:nvPr/>
          </p:nvSpPr>
          <p:spPr>
            <a:xfrm>
              <a:off x="6933779" y="4283944"/>
              <a:ext cx="4672316" cy="2943167"/>
            </a:xfrm>
            <a:prstGeom prst="rect">
              <a:avLst/>
            </a:prstGeom>
          </p:spPr>
          <p:txBody>
            <a:bodyPr lIns="0" tIns="0" rIns="0" bIns="0" rtlCol="0" anchor="t">
              <a:spAutoFit/>
            </a:bodyPr>
            <a:lstStyle/>
            <a:p>
              <a:pPr marL="467364" lvl="1" indent="-233682" algn="just">
                <a:spcBef>
                  <a:spcPct val="0"/>
                </a:spcBef>
                <a:buFont typeface="Arial"/>
                <a:buChar char="•"/>
              </a:pPr>
              <a:r>
                <a:rPr lang="en-US" sz="1600">
                  <a:solidFill>
                    <a:srgbClr val="000000"/>
                  </a:solidFill>
                  <a:ea typeface="Inter"/>
                  <a:cs typeface="Inter"/>
                  <a:sym typeface="Inter"/>
                </a:rPr>
                <a:t>Battery: 14.8V, 6000mAh (88.8 Wh), 50C LiPo</a:t>
              </a:r>
            </a:p>
            <a:p>
              <a:pPr marL="467364" lvl="1" indent="-233682" algn="just">
                <a:spcBef>
                  <a:spcPct val="0"/>
                </a:spcBef>
                <a:buFont typeface="Arial"/>
                <a:buChar char="•"/>
              </a:pPr>
              <a:r>
                <a:rPr lang="en-US" sz="1600">
                  <a:solidFill>
                    <a:srgbClr val="000000"/>
                  </a:solidFill>
                  <a:ea typeface="Inter"/>
                  <a:cs typeface="Inter"/>
                  <a:sym typeface="Inter"/>
                </a:rPr>
                <a:t>Key Characteristics:</a:t>
              </a:r>
            </a:p>
            <a:p>
              <a:pPr marL="467364" lvl="1" indent="-233682" algn="just">
                <a:spcBef>
                  <a:spcPct val="0"/>
                </a:spcBef>
                <a:buFont typeface="Arial"/>
                <a:buChar char="•"/>
              </a:pPr>
              <a:r>
                <a:rPr lang="en-US" sz="1600">
                  <a:solidFill>
                    <a:srgbClr val="000000"/>
                  </a:solidFill>
                  <a:ea typeface="Inter"/>
                  <a:cs typeface="Inter"/>
                  <a:sym typeface="Inter"/>
                </a:rPr>
                <a:t>High energy density, low weight</a:t>
              </a:r>
            </a:p>
            <a:p>
              <a:pPr marL="467364" lvl="1" indent="-233682" algn="just">
                <a:spcBef>
                  <a:spcPct val="0"/>
                </a:spcBef>
                <a:buFont typeface="Arial"/>
                <a:buChar char="•"/>
              </a:pPr>
              <a:r>
                <a:rPr lang="en-US" sz="1600">
                  <a:solidFill>
                    <a:srgbClr val="000000"/>
                  </a:solidFill>
                  <a:ea typeface="Inter"/>
                  <a:cs typeface="Inter"/>
                  <a:sym typeface="Inter"/>
                </a:rPr>
                <a:t>300 A peak discharge capability</a:t>
              </a:r>
            </a:p>
            <a:p>
              <a:pPr marL="467364" lvl="1" indent="-233682" algn="just">
                <a:spcBef>
                  <a:spcPct val="0"/>
                </a:spcBef>
                <a:buFont typeface="Arial"/>
                <a:buChar char="•"/>
              </a:pPr>
              <a:r>
                <a:rPr lang="en-US" sz="1600">
                  <a:solidFill>
                    <a:srgbClr val="000000"/>
                  </a:solidFill>
                  <a:ea typeface="Inter"/>
                  <a:cs typeface="Inter"/>
                  <a:sym typeface="Inter"/>
                </a:rPr>
                <a:t>Stable voltage under high load</a:t>
              </a:r>
            </a:p>
            <a:p>
              <a:pPr marL="467364" lvl="1" indent="-233682" algn="just">
                <a:spcBef>
                  <a:spcPct val="0"/>
                </a:spcBef>
                <a:buFont typeface="Arial"/>
                <a:buChar char="•"/>
              </a:pPr>
              <a:r>
                <a:rPr lang="en-US" sz="1600">
                  <a:solidFill>
                    <a:srgbClr val="000000"/>
                  </a:solidFill>
                  <a:ea typeface="Inter"/>
                  <a:cs typeface="Inter"/>
                  <a:sym typeface="Inter"/>
                </a:rPr>
                <a:t>Suitable for aggressive flight maneuvers and critical missions</a:t>
              </a:r>
            </a:p>
            <a:p>
              <a:pPr algn="just">
                <a:spcBef>
                  <a:spcPct val="0"/>
                </a:spcBef>
              </a:pPr>
              <a:endParaRPr lang="en-US" sz="1600">
                <a:solidFill>
                  <a:srgbClr val="000000"/>
                </a:solidFill>
                <a:ea typeface="Inter"/>
                <a:cs typeface="Inter"/>
                <a:sym typeface="Inter"/>
              </a:endParaRPr>
            </a:p>
          </p:txBody>
        </p:sp>
        <p:sp>
          <p:nvSpPr>
            <p:cNvPr id="13" name="TextBox 24">
              <a:extLst>
                <a:ext uri="{FF2B5EF4-FFF2-40B4-BE49-F238E27FC236}">
                  <a16:creationId xmlns:a16="http://schemas.microsoft.com/office/drawing/2014/main" id="{B64411A6-34AC-8311-9167-4E4E86DA7706}"/>
                </a:ext>
              </a:extLst>
            </p:cNvPr>
            <p:cNvSpPr txBox="1"/>
            <p:nvPr/>
          </p:nvSpPr>
          <p:spPr>
            <a:xfrm>
              <a:off x="12864210" y="3319302"/>
              <a:ext cx="4067945" cy="367896"/>
            </a:xfrm>
            <a:prstGeom prst="rect">
              <a:avLst/>
            </a:prstGeom>
          </p:spPr>
          <p:txBody>
            <a:bodyPr wrap="square" lIns="0" tIns="0" rIns="0" bIns="0" rtlCol="0" anchor="t">
              <a:spAutoFit/>
            </a:bodyPr>
            <a:lstStyle/>
            <a:p>
              <a:pPr algn="ctr">
                <a:spcBef>
                  <a:spcPct val="0"/>
                </a:spcBef>
              </a:pPr>
              <a:r>
                <a:rPr lang="en-US" b="1" dirty="0">
                  <a:solidFill>
                    <a:srgbClr val="000000"/>
                  </a:solidFill>
                  <a:ea typeface="Inter Bold"/>
                  <a:cs typeface="Inter Bold"/>
                  <a:sym typeface="Inter Bold"/>
                </a:rPr>
                <a:t>Endurance Estimation</a:t>
              </a:r>
            </a:p>
          </p:txBody>
        </p:sp>
        <p:sp>
          <p:nvSpPr>
            <p:cNvPr id="14" name="TextBox 25">
              <a:extLst>
                <a:ext uri="{FF2B5EF4-FFF2-40B4-BE49-F238E27FC236}">
                  <a16:creationId xmlns:a16="http://schemas.microsoft.com/office/drawing/2014/main" id="{B60B4A68-B61E-9EEA-62C2-07B526F65288}"/>
                </a:ext>
              </a:extLst>
            </p:cNvPr>
            <p:cNvSpPr txBox="1"/>
            <p:nvPr/>
          </p:nvSpPr>
          <p:spPr>
            <a:xfrm>
              <a:off x="12498947" y="4240400"/>
              <a:ext cx="4551565" cy="2943167"/>
            </a:xfrm>
            <a:prstGeom prst="rect">
              <a:avLst/>
            </a:prstGeom>
          </p:spPr>
          <p:txBody>
            <a:bodyPr wrap="square" lIns="0" tIns="0" rIns="0" bIns="0" rtlCol="0" anchor="t">
              <a:spAutoFit/>
            </a:bodyPr>
            <a:lstStyle/>
            <a:p>
              <a:pPr marL="473893" lvl="1" indent="-236947" algn="just">
                <a:spcBef>
                  <a:spcPct val="0"/>
                </a:spcBef>
                <a:buFont typeface="Arial"/>
                <a:buChar char="•"/>
              </a:pPr>
              <a:r>
                <a:rPr lang="en-US" sz="1600" dirty="0">
                  <a:solidFill>
                    <a:srgbClr val="000000"/>
                  </a:solidFill>
                  <a:ea typeface="Inter"/>
                  <a:cs typeface="Inter"/>
                  <a:sym typeface="Inter"/>
                </a:rPr>
                <a:t>Theoretical Maximum Flight Time: ~20 minutes (88.8 </a:t>
              </a:r>
              <a:r>
                <a:rPr lang="en-US" sz="1600" dirty="0" err="1">
                  <a:solidFill>
                    <a:srgbClr val="000000"/>
                  </a:solidFill>
                  <a:ea typeface="Inter"/>
                  <a:cs typeface="Inter"/>
                  <a:sym typeface="Inter"/>
                </a:rPr>
                <a:t>Wh</a:t>
              </a:r>
              <a:r>
                <a:rPr lang="en-US" sz="1600" dirty="0">
                  <a:solidFill>
                    <a:srgbClr val="000000"/>
                  </a:solidFill>
                  <a:ea typeface="Inter"/>
                  <a:cs typeface="Inter"/>
                  <a:sym typeface="Inter"/>
                </a:rPr>
                <a:t> / 270 W)</a:t>
              </a:r>
            </a:p>
            <a:p>
              <a:pPr marL="473893" lvl="1" indent="-236947" algn="just">
                <a:spcBef>
                  <a:spcPct val="0"/>
                </a:spcBef>
                <a:buFont typeface="Arial"/>
                <a:buChar char="•"/>
              </a:pPr>
              <a:r>
                <a:rPr lang="en-US" sz="1600" dirty="0">
                  <a:solidFill>
                    <a:srgbClr val="000000"/>
                  </a:solidFill>
                  <a:ea typeface="Inter"/>
                  <a:cs typeface="Inter"/>
                  <a:sym typeface="Inter"/>
                </a:rPr>
                <a:t>Practical Flight Time (with reserve): 12–15 minutes</a:t>
              </a:r>
            </a:p>
            <a:p>
              <a:pPr marL="473893" lvl="1" indent="-236947" algn="just">
                <a:spcBef>
                  <a:spcPct val="0"/>
                </a:spcBef>
                <a:buFont typeface="Arial"/>
                <a:buChar char="•"/>
              </a:pPr>
              <a:r>
                <a:rPr lang="en-US" sz="1600" dirty="0">
                  <a:solidFill>
                    <a:srgbClr val="000000"/>
                  </a:solidFill>
                  <a:ea typeface="Inter"/>
                  <a:cs typeface="Inter"/>
                  <a:sym typeface="Inter"/>
                </a:rPr>
                <a:t>Designed for short-duration autonomous missions such as survey and payload delivery</a:t>
              </a:r>
            </a:p>
            <a:p>
              <a:pPr algn="just">
                <a:spcBef>
                  <a:spcPct val="0"/>
                </a:spcBef>
              </a:pPr>
              <a:endParaRPr lang="en-US" sz="1600" dirty="0">
                <a:solidFill>
                  <a:srgbClr val="000000"/>
                </a:solidFill>
                <a:ea typeface="Inter"/>
                <a:cs typeface="Inter"/>
                <a:sym typeface="Inter"/>
              </a:endParaRPr>
            </a:p>
          </p:txBody>
        </p:sp>
        <p:grpSp>
          <p:nvGrpSpPr>
            <p:cNvPr id="15" name="Group 26">
              <a:extLst>
                <a:ext uri="{FF2B5EF4-FFF2-40B4-BE49-F238E27FC236}">
                  <a16:creationId xmlns:a16="http://schemas.microsoft.com/office/drawing/2014/main" id="{FB162C78-A759-3131-8B22-2EA5BE13B215}"/>
                </a:ext>
              </a:extLst>
            </p:cNvPr>
            <p:cNvGrpSpPr/>
            <p:nvPr/>
          </p:nvGrpSpPr>
          <p:grpSpPr>
            <a:xfrm>
              <a:off x="392013" y="1306116"/>
              <a:ext cx="9575628" cy="1048038"/>
              <a:chOff x="-1178751" y="-38100"/>
              <a:chExt cx="6315672" cy="691241"/>
            </a:xfrm>
          </p:grpSpPr>
          <p:sp>
            <p:nvSpPr>
              <p:cNvPr id="17" name="Freeform 27">
                <a:extLst>
                  <a:ext uri="{FF2B5EF4-FFF2-40B4-BE49-F238E27FC236}">
                    <a16:creationId xmlns:a16="http://schemas.microsoft.com/office/drawing/2014/main" id="{2BDCB715-10CA-02F7-2996-A02D02A66DF6}"/>
                  </a:ext>
                </a:extLst>
              </p:cNvPr>
              <p:cNvSpPr/>
              <p:nvPr/>
            </p:nvSpPr>
            <p:spPr>
              <a:xfrm>
                <a:off x="-1178751" y="0"/>
                <a:ext cx="6315672" cy="653141"/>
              </a:xfrm>
              <a:custGeom>
                <a:avLst/>
                <a:gdLst/>
                <a:ahLst/>
                <a:cxnLst/>
                <a:rect l="l" t="t" r="r" b="b"/>
                <a:pathLst>
                  <a:path w="5136921" h="653141">
                    <a:moveTo>
                      <a:pt x="4933721" y="0"/>
                    </a:moveTo>
                    <a:lnTo>
                      <a:pt x="0" y="0"/>
                    </a:lnTo>
                    <a:lnTo>
                      <a:pt x="0" y="653141"/>
                    </a:lnTo>
                    <a:lnTo>
                      <a:pt x="4933721" y="653141"/>
                    </a:lnTo>
                    <a:lnTo>
                      <a:pt x="5136921" y="326570"/>
                    </a:lnTo>
                    <a:lnTo>
                      <a:pt x="4933721" y="0"/>
                    </a:lnTo>
                    <a:close/>
                  </a:path>
                </a:pathLst>
              </a:custGeom>
              <a:solidFill>
                <a:srgbClr val="2B485F"/>
              </a:solidFill>
            </p:spPr>
          </p:sp>
          <p:sp>
            <p:nvSpPr>
              <p:cNvPr id="18" name="TextBox 28">
                <a:extLst>
                  <a:ext uri="{FF2B5EF4-FFF2-40B4-BE49-F238E27FC236}">
                    <a16:creationId xmlns:a16="http://schemas.microsoft.com/office/drawing/2014/main" id="{3F2DBBB5-F6D5-9297-33C5-D88A197C30D3}"/>
                  </a:ext>
                </a:extLst>
              </p:cNvPr>
              <p:cNvSpPr txBox="1"/>
              <p:nvPr/>
            </p:nvSpPr>
            <p:spPr>
              <a:xfrm>
                <a:off x="0" y="-38100"/>
                <a:ext cx="5022621" cy="691241"/>
              </a:xfrm>
              <a:prstGeom prst="rect">
                <a:avLst/>
              </a:prstGeom>
            </p:spPr>
            <p:txBody>
              <a:bodyPr lIns="50800" tIns="50800" rIns="50800" bIns="50800" rtlCol="0" anchor="ctr"/>
              <a:lstStyle/>
              <a:p>
                <a:pPr algn="ctr"/>
                <a:endParaRPr sz="1600"/>
              </a:p>
            </p:txBody>
          </p:sp>
        </p:grpSp>
        <p:sp>
          <p:nvSpPr>
            <p:cNvPr id="16" name="TextBox 29">
              <a:extLst>
                <a:ext uri="{FF2B5EF4-FFF2-40B4-BE49-F238E27FC236}">
                  <a16:creationId xmlns:a16="http://schemas.microsoft.com/office/drawing/2014/main" id="{F3ACF718-7E38-0744-D99A-1685A9E2FCE5}"/>
                </a:ext>
              </a:extLst>
            </p:cNvPr>
            <p:cNvSpPr txBox="1"/>
            <p:nvPr/>
          </p:nvSpPr>
          <p:spPr>
            <a:xfrm>
              <a:off x="-403031" y="1536130"/>
              <a:ext cx="10926175" cy="654038"/>
            </a:xfrm>
            <a:prstGeom prst="rect">
              <a:avLst/>
            </a:prstGeom>
          </p:spPr>
          <p:txBody>
            <a:bodyPr lIns="0" tIns="0" rIns="0" bIns="0" rtlCol="0" anchor="t">
              <a:spAutoFit/>
            </a:bodyPr>
            <a:lstStyle/>
            <a:p>
              <a:pPr algn="ctr">
                <a:spcBef>
                  <a:spcPct val="0"/>
                </a:spcBef>
              </a:pPr>
              <a:r>
                <a:rPr lang="en-US" sz="3200" b="1" dirty="0">
                  <a:solidFill>
                    <a:srgbClr val="FFFFFF"/>
                  </a:solidFill>
                  <a:latin typeface="+mj-lt"/>
                  <a:ea typeface="League Spartan"/>
                  <a:cs typeface="League Spartan"/>
                  <a:sym typeface="League Spartan"/>
                </a:rPr>
                <a:t>UAS Performance Estimation</a:t>
              </a:r>
            </a:p>
          </p:txBody>
        </p:sp>
      </p:grpSp>
      <p:grpSp>
        <p:nvGrpSpPr>
          <p:cNvPr id="31" name="Group 14">
            <a:extLst>
              <a:ext uri="{FF2B5EF4-FFF2-40B4-BE49-F238E27FC236}">
                <a16:creationId xmlns:a16="http://schemas.microsoft.com/office/drawing/2014/main" id="{4E6E0299-DB30-81A8-296A-B3B2698F34F4}"/>
              </a:ext>
            </a:extLst>
          </p:cNvPr>
          <p:cNvGrpSpPr/>
          <p:nvPr/>
        </p:nvGrpSpPr>
        <p:grpSpPr>
          <a:xfrm>
            <a:off x="9658537" y="11884"/>
            <a:ext cx="2050862" cy="429876"/>
            <a:chOff x="0" y="0"/>
            <a:chExt cx="7838183" cy="1629051"/>
          </a:xfrm>
        </p:grpSpPr>
        <p:sp>
          <p:nvSpPr>
            <p:cNvPr id="32" name="Freeform 15">
              <a:extLst>
                <a:ext uri="{FF2B5EF4-FFF2-40B4-BE49-F238E27FC236}">
                  <a16:creationId xmlns:a16="http://schemas.microsoft.com/office/drawing/2014/main" id="{1E6CF25A-894B-EA8D-C3E4-A018F7CC80DC}"/>
                </a:ext>
              </a:extLst>
            </p:cNvPr>
            <p:cNvSpPr/>
            <p:nvPr/>
          </p:nvSpPr>
          <p:spPr>
            <a:xfrm>
              <a:off x="2068432" y="472763"/>
              <a:ext cx="4016856" cy="1096665"/>
            </a:xfrm>
            <a:custGeom>
              <a:avLst/>
              <a:gdLst/>
              <a:ahLst/>
              <a:cxnLst/>
              <a:rect l="l" t="t" r="r" b="b"/>
              <a:pathLst>
                <a:path w="4016856" h="1096665">
                  <a:moveTo>
                    <a:pt x="0" y="0"/>
                  </a:moveTo>
                  <a:lnTo>
                    <a:pt x="4016856" y="0"/>
                  </a:lnTo>
                  <a:lnTo>
                    <a:pt x="4016856" y="1096666"/>
                  </a:lnTo>
                  <a:lnTo>
                    <a:pt x="0" y="1096666"/>
                  </a:lnTo>
                  <a:lnTo>
                    <a:pt x="0" y="0"/>
                  </a:lnTo>
                  <a:close/>
                </a:path>
              </a:pathLst>
            </a:custGeom>
            <a:blipFill>
              <a:blip r:embed="rId2"/>
              <a:stretch>
                <a:fillRect/>
              </a:stretch>
            </a:blipFill>
          </p:spPr>
        </p:sp>
        <p:sp>
          <p:nvSpPr>
            <p:cNvPr id="33" name="Freeform 16">
              <a:extLst>
                <a:ext uri="{FF2B5EF4-FFF2-40B4-BE49-F238E27FC236}">
                  <a16:creationId xmlns:a16="http://schemas.microsoft.com/office/drawing/2014/main" id="{08BC4165-9019-747F-5419-8ABF635EE230}"/>
                </a:ext>
              </a:extLst>
            </p:cNvPr>
            <p:cNvSpPr/>
            <p:nvPr/>
          </p:nvSpPr>
          <p:spPr>
            <a:xfrm>
              <a:off x="0" y="0"/>
              <a:ext cx="1629051" cy="1629051"/>
            </a:xfrm>
            <a:custGeom>
              <a:avLst/>
              <a:gdLst/>
              <a:ahLst/>
              <a:cxnLst/>
              <a:rect l="l" t="t" r="r" b="b"/>
              <a:pathLst>
                <a:path w="1629051" h="1629051">
                  <a:moveTo>
                    <a:pt x="0" y="0"/>
                  </a:moveTo>
                  <a:lnTo>
                    <a:pt x="1629051" y="0"/>
                  </a:lnTo>
                  <a:lnTo>
                    <a:pt x="1629051" y="1629051"/>
                  </a:lnTo>
                  <a:lnTo>
                    <a:pt x="0" y="1629051"/>
                  </a:lnTo>
                  <a:lnTo>
                    <a:pt x="0" y="0"/>
                  </a:lnTo>
                  <a:close/>
                </a:path>
              </a:pathLst>
            </a:custGeom>
            <a:blipFill>
              <a:blip r:embed="rId3"/>
              <a:stretch>
                <a:fillRect/>
              </a:stretch>
            </a:blipFill>
          </p:spPr>
        </p:sp>
        <p:sp>
          <p:nvSpPr>
            <p:cNvPr id="34" name="Freeform 17">
              <a:extLst>
                <a:ext uri="{FF2B5EF4-FFF2-40B4-BE49-F238E27FC236}">
                  <a16:creationId xmlns:a16="http://schemas.microsoft.com/office/drawing/2014/main" id="{5422084E-3DEB-D90D-3CFE-F8E9AF0D8AF8}"/>
                </a:ext>
              </a:extLst>
            </p:cNvPr>
            <p:cNvSpPr/>
            <p:nvPr/>
          </p:nvSpPr>
          <p:spPr>
            <a:xfrm>
              <a:off x="6399188" y="0"/>
              <a:ext cx="1438995" cy="1629051"/>
            </a:xfrm>
            <a:custGeom>
              <a:avLst/>
              <a:gdLst/>
              <a:ahLst/>
              <a:cxnLst/>
              <a:rect l="l" t="t" r="r" b="b"/>
              <a:pathLst>
                <a:path w="1438995" h="1629051">
                  <a:moveTo>
                    <a:pt x="0" y="0"/>
                  </a:moveTo>
                  <a:lnTo>
                    <a:pt x="1438995" y="0"/>
                  </a:lnTo>
                  <a:lnTo>
                    <a:pt x="1438995" y="1629051"/>
                  </a:lnTo>
                  <a:lnTo>
                    <a:pt x="0" y="1629051"/>
                  </a:lnTo>
                  <a:lnTo>
                    <a:pt x="0" y="0"/>
                  </a:lnTo>
                  <a:close/>
                </a:path>
              </a:pathLst>
            </a:custGeom>
            <a:blipFill>
              <a:blip r:embed="rId4"/>
              <a:stretch>
                <a:fillRect/>
              </a:stretch>
            </a:blipFill>
          </p:spPr>
        </p:sp>
      </p:grpSp>
    </p:spTree>
    <p:extLst>
      <p:ext uri="{BB962C8B-B14F-4D97-AF65-F5344CB8AC3E}">
        <p14:creationId xmlns:p14="http://schemas.microsoft.com/office/powerpoint/2010/main" val="16774559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99FCC-C6E3-ECD1-172D-34E51070846B}"/>
              </a:ext>
            </a:extLst>
          </p:cNvPr>
          <p:cNvSpPr>
            <a:spLocks noGrp="1"/>
          </p:cNvSpPr>
          <p:nvPr>
            <p:ph type="title"/>
          </p:nvPr>
        </p:nvSpPr>
        <p:spPr>
          <a:xfrm>
            <a:off x="581190" y="563797"/>
            <a:ext cx="11029615" cy="622560"/>
          </a:xfrm>
        </p:spPr>
        <p:txBody>
          <a:bodyPr>
            <a:normAutofit fontScale="90000"/>
          </a:bodyPr>
          <a:lstStyle/>
          <a:p>
            <a:r>
              <a:rPr lang="en-US" b="1" dirty="0"/>
              <a:t>Autonomous Systems</a:t>
            </a:r>
          </a:p>
        </p:txBody>
      </p:sp>
      <p:sp>
        <p:nvSpPr>
          <p:cNvPr id="3" name="Text Placeholder 2">
            <a:extLst>
              <a:ext uri="{FF2B5EF4-FFF2-40B4-BE49-F238E27FC236}">
                <a16:creationId xmlns:a16="http://schemas.microsoft.com/office/drawing/2014/main" id="{760B3AFD-A2AA-D240-4A09-5A810A20D754}"/>
              </a:ext>
            </a:extLst>
          </p:cNvPr>
          <p:cNvSpPr>
            <a:spLocks noGrp="1"/>
          </p:cNvSpPr>
          <p:nvPr>
            <p:ph type="body" idx="1"/>
          </p:nvPr>
        </p:nvSpPr>
        <p:spPr>
          <a:xfrm>
            <a:off x="581190" y="1186357"/>
            <a:ext cx="11029615" cy="926322"/>
          </a:xfrm>
        </p:spPr>
        <p:txBody>
          <a:bodyPr>
            <a:noAutofit/>
          </a:bodyPr>
          <a:lstStyle/>
          <a:p>
            <a:pPr algn="just"/>
            <a:r>
              <a:rPr lang="en-US" dirty="0"/>
              <a:t>The autonomous system uses Mission Planner with Python scripts to generate optimized waypoints, employs onboard YOLO processing for object detection, integrates multi-sensor fusion, and supports fail-safes via real-time telemetry.</a:t>
            </a:r>
          </a:p>
        </p:txBody>
      </p:sp>
      <p:sp>
        <p:nvSpPr>
          <p:cNvPr id="4" name="Rectangle 1">
            <a:extLst>
              <a:ext uri="{FF2B5EF4-FFF2-40B4-BE49-F238E27FC236}">
                <a16:creationId xmlns:a16="http://schemas.microsoft.com/office/drawing/2014/main" id="{C21F5F49-F2A9-B23C-FCC6-A8C4209187AC}"/>
              </a:ext>
            </a:extLst>
          </p:cNvPr>
          <p:cNvSpPr>
            <a:spLocks noChangeArrowheads="1"/>
          </p:cNvSpPr>
          <p:nvPr/>
        </p:nvSpPr>
        <p:spPr bwMode="auto">
          <a:xfrm>
            <a:off x="581190" y="2274838"/>
            <a:ext cx="570764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rPr>
              <a:t>Objectives: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rPr>
              <a:t>Optimized Waypoint Navigation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rPr>
              <a:t>Real-Time Hazard &amp; Survivor Detection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rPr>
              <a:t>Multi-Sensor Fusion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rPr>
              <a:t>Autonomous Payload Deployment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rPr>
              <a:t>Robust Fail-Safes</a:t>
            </a:r>
          </a:p>
        </p:txBody>
      </p:sp>
      <p:grpSp>
        <p:nvGrpSpPr>
          <p:cNvPr id="6" name="Group 5">
            <a:extLst>
              <a:ext uri="{FF2B5EF4-FFF2-40B4-BE49-F238E27FC236}">
                <a16:creationId xmlns:a16="http://schemas.microsoft.com/office/drawing/2014/main" id="{F0CBE5FF-3D39-6F2F-1F16-BCD760F2BD02}"/>
              </a:ext>
            </a:extLst>
          </p:cNvPr>
          <p:cNvGrpSpPr/>
          <p:nvPr/>
        </p:nvGrpSpPr>
        <p:grpSpPr>
          <a:xfrm>
            <a:off x="6969965" y="1941176"/>
            <a:ext cx="4068147" cy="2975648"/>
            <a:chOff x="6905819" y="1933590"/>
            <a:chExt cx="4514850" cy="3316896"/>
          </a:xfrm>
        </p:grpSpPr>
        <p:pic>
          <p:nvPicPr>
            <p:cNvPr id="2051" name="Picture 3" descr="Mission Plannerの使い方・インストール・設定方法 【APM:ArduPilot Mega】">
              <a:extLst>
                <a:ext uri="{FF2B5EF4-FFF2-40B4-BE49-F238E27FC236}">
                  <a16:creationId xmlns:a16="http://schemas.microsoft.com/office/drawing/2014/main" id="{1A56A705-C4E7-D690-D961-359E5AAB6C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5819" y="2373936"/>
              <a:ext cx="4514850" cy="2876550"/>
            </a:xfrm>
            <a:prstGeom prst="rect">
              <a:avLst/>
            </a:prstGeom>
            <a:noFill/>
            <a:extLst>
              <a:ext uri="{909E8E84-426E-40DD-AFC4-6F175D3DCCD1}">
                <a14:hiddenFill xmlns:a14="http://schemas.microsoft.com/office/drawing/2010/main">
                  <a:solidFill>
                    <a:srgbClr val="FFFFFF"/>
                  </a:solidFill>
                </a14:hiddenFill>
              </a:ext>
            </a:extLst>
          </p:spPr>
        </p:pic>
        <p:pic>
          <p:nvPicPr>
            <p:cNvPr id="2055" name="Picture 7" descr="ArduPilot firmware : /Tools/Logos">
              <a:extLst>
                <a:ext uri="{FF2B5EF4-FFF2-40B4-BE49-F238E27FC236}">
                  <a16:creationId xmlns:a16="http://schemas.microsoft.com/office/drawing/2014/main" id="{2097C589-6E67-75A1-72AA-274B0A01E8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87697" y="1933590"/>
              <a:ext cx="3332972" cy="52033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7330406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C4D9F-98DC-7BD6-DC45-048B36CB50BA}"/>
              </a:ext>
            </a:extLst>
          </p:cNvPr>
          <p:cNvSpPr>
            <a:spLocks noGrp="1"/>
          </p:cNvSpPr>
          <p:nvPr>
            <p:ph type="title"/>
          </p:nvPr>
        </p:nvSpPr>
        <p:spPr>
          <a:xfrm>
            <a:off x="581192" y="702156"/>
            <a:ext cx="11029616" cy="613460"/>
          </a:xfrm>
        </p:spPr>
        <p:txBody>
          <a:bodyPr/>
          <a:lstStyle/>
          <a:p>
            <a:r>
              <a:rPr lang="en-US" b="1" dirty="0"/>
              <a:t>Autonomous mission methodology</a:t>
            </a:r>
          </a:p>
        </p:txBody>
      </p:sp>
      <p:sp>
        <p:nvSpPr>
          <p:cNvPr id="3" name="Content Placeholder 2">
            <a:extLst>
              <a:ext uri="{FF2B5EF4-FFF2-40B4-BE49-F238E27FC236}">
                <a16:creationId xmlns:a16="http://schemas.microsoft.com/office/drawing/2014/main" id="{290A4C4A-267D-752B-0035-8723DC70EB45}"/>
              </a:ext>
            </a:extLst>
          </p:cNvPr>
          <p:cNvSpPr>
            <a:spLocks noGrp="1"/>
          </p:cNvSpPr>
          <p:nvPr>
            <p:ph idx="1"/>
          </p:nvPr>
        </p:nvSpPr>
        <p:spPr>
          <a:xfrm>
            <a:off x="441234" y="1951759"/>
            <a:ext cx="6780660" cy="3259251"/>
          </a:xfrm>
        </p:spPr>
        <p:txBody>
          <a:bodyPr>
            <a:noAutofit/>
          </a:bodyPr>
          <a:lstStyle/>
          <a:p>
            <a:pPr marL="0" indent="0" algn="just">
              <a:buNone/>
            </a:pPr>
            <a:r>
              <a:rPr lang="en-US" sz="1600" b="1" dirty="0"/>
              <a:t>Operational Workflow</a:t>
            </a:r>
          </a:p>
          <a:p>
            <a:pPr marL="0" indent="0" algn="just">
              <a:buNone/>
            </a:pPr>
            <a:r>
              <a:rPr lang="en-US" sz="1600" b="1" dirty="0"/>
              <a:t>1. Mission Initialization:</a:t>
            </a:r>
            <a:endParaRPr lang="en-US" sz="1600" dirty="0"/>
          </a:p>
          <a:p>
            <a:pPr algn="just"/>
            <a:r>
              <a:rPr lang="en-US" sz="1600" dirty="0"/>
              <a:t>Pre-planned waypoint generation using </a:t>
            </a:r>
            <a:r>
              <a:rPr lang="en-US" sz="1600" b="1" dirty="0"/>
              <a:t>Mission Planner</a:t>
            </a:r>
            <a:r>
              <a:rPr lang="en-US" sz="1600" dirty="0"/>
              <a:t> or Python scripts.</a:t>
            </a:r>
          </a:p>
          <a:p>
            <a:pPr algn="just"/>
            <a:r>
              <a:rPr lang="en-US" sz="1600" dirty="0"/>
              <a:t>Trajectories are optimized for minimal energy consumption and maximum coverage.</a:t>
            </a:r>
          </a:p>
          <a:p>
            <a:pPr marL="0" indent="0" algn="just">
              <a:buNone/>
            </a:pPr>
            <a:r>
              <a:rPr lang="en-US" sz="1600" b="1" dirty="0"/>
              <a:t>2. Real-Time Environment Mapping:</a:t>
            </a:r>
            <a:endParaRPr lang="en-US" sz="1600" dirty="0"/>
          </a:p>
          <a:p>
            <a:pPr algn="just"/>
            <a:r>
              <a:rPr lang="en-US" sz="1600" b="1" dirty="0"/>
              <a:t>YOLO v8</a:t>
            </a:r>
            <a:r>
              <a:rPr lang="en-US" sz="1600" dirty="0"/>
              <a:t> model used for fast object detection.</a:t>
            </a:r>
          </a:p>
          <a:p>
            <a:pPr algn="just"/>
            <a:r>
              <a:rPr lang="en-US" sz="1600" b="1" dirty="0"/>
              <a:t>U-Net segmentation</a:t>
            </a:r>
            <a:r>
              <a:rPr lang="en-US" sz="1600" dirty="0"/>
              <a:t> ensures precise boundary detection of features like debris, flood zones, and collapsed structures.</a:t>
            </a:r>
          </a:p>
          <a:p>
            <a:pPr algn="just"/>
            <a:r>
              <a:rPr lang="en-US" sz="1600" dirty="0"/>
              <a:t>Fused with multi-sensor data (temperature, gas, humidity) to validate detections.</a:t>
            </a:r>
          </a:p>
        </p:txBody>
      </p:sp>
      <p:sp>
        <p:nvSpPr>
          <p:cNvPr id="5" name="TextBox 4">
            <a:extLst>
              <a:ext uri="{FF2B5EF4-FFF2-40B4-BE49-F238E27FC236}">
                <a16:creationId xmlns:a16="http://schemas.microsoft.com/office/drawing/2014/main" id="{FE2CA8F5-9809-CC71-9B57-070CD29696E4}"/>
              </a:ext>
            </a:extLst>
          </p:cNvPr>
          <p:cNvSpPr txBox="1"/>
          <p:nvPr/>
        </p:nvSpPr>
        <p:spPr>
          <a:xfrm>
            <a:off x="7406174" y="1867783"/>
            <a:ext cx="4344592" cy="1077218"/>
          </a:xfrm>
          <a:prstGeom prst="rect">
            <a:avLst/>
          </a:prstGeom>
          <a:noFill/>
        </p:spPr>
        <p:txBody>
          <a:bodyPr wrap="square">
            <a:spAutoFit/>
          </a:bodyPr>
          <a:lstStyle/>
          <a:p>
            <a:pPr algn="just"/>
            <a:r>
              <a:rPr lang="en-US" sz="1600" dirty="0"/>
              <a:t>Mission Planner: Ground control software that plans autonomous drone flights by generating waypoints, managing geo-fenced boundaries, and monitoring telemetry data in real-time.</a:t>
            </a:r>
          </a:p>
        </p:txBody>
      </p:sp>
      <p:sp>
        <p:nvSpPr>
          <p:cNvPr id="7" name="TextBox 6">
            <a:extLst>
              <a:ext uri="{FF2B5EF4-FFF2-40B4-BE49-F238E27FC236}">
                <a16:creationId xmlns:a16="http://schemas.microsoft.com/office/drawing/2014/main" id="{E2379CA9-7A3D-401D-3D29-B708BDAD16A8}"/>
              </a:ext>
            </a:extLst>
          </p:cNvPr>
          <p:cNvSpPr txBox="1"/>
          <p:nvPr/>
        </p:nvSpPr>
        <p:spPr>
          <a:xfrm>
            <a:off x="441234" y="5487833"/>
            <a:ext cx="11576595" cy="1077218"/>
          </a:xfrm>
          <a:prstGeom prst="rect">
            <a:avLst/>
          </a:prstGeom>
          <a:noFill/>
        </p:spPr>
        <p:txBody>
          <a:bodyPr wrap="square">
            <a:spAutoFit/>
          </a:bodyPr>
          <a:lstStyle/>
          <a:p>
            <a:pPr algn="just"/>
            <a:r>
              <a:rPr lang="en-US" sz="1600" dirty="0"/>
              <a:t>YOLO (You Only Look Once): A real-time object detection model that identifies objects like floods, debris, or humans in drone imagery using bounding boxes and confidence scores. A recent version of the You Only Look Once real-time object detection system is Yolov8, offering improved speed and accuracy for identifying objects (like floods, humans, or debris) in drone imagery through bounding boxes and class predictions.</a:t>
            </a:r>
          </a:p>
        </p:txBody>
      </p:sp>
      <p:graphicFrame>
        <p:nvGraphicFramePr>
          <p:cNvPr id="8" name="Diagram 7">
            <a:extLst>
              <a:ext uri="{FF2B5EF4-FFF2-40B4-BE49-F238E27FC236}">
                <a16:creationId xmlns:a16="http://schemas.microsoft.com/office/drawing/2014/main" id="{BF55EA85-FD77-8CA0-4C7A-238FDE8CB550}"/>
              </a:ext>
            </a:extLst>
          </p:cNvPr>
          <p:cNvGraphicFramePr/>
          <p:nvPr>
            <p:extLst>
              <p:ext uri="{D42A27DB-BD31-4B8C-83A1-F6EECF244321}">
                <p14:modId xmlns:p14="http://schemas.microsoft.com/office/powerpoint/2010/main" val="133463235"/>
              </p:ext>
            </p:extLst>
          </p:nvPr>
        </p:nvGraphicFramePr>
        <p:xfrm>
          <a:off x="7406174" y="2945001"/>
          <a:ext cx="4344592" cy="25342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9" name="Group 14">
            <a:extLst>
              <a:ext uri="{FF2B5EF4-FFF2-40B4-BE49-F238E27FC236}">
                <a16:creationId xmlns:a16="http://schemas.microsoft.com/office/drawing/2014/main" id="{62C362B2-F16B-033C-62DE-60DC66A74464}"/>
              </a:ext>
            </a:extLst>
          </p:cNvPr>
          <p:cNvGrpSpPr/>
          <p:nvPr/>
        </p:nvGrpSpPr>
        <p:grpSpPr>
          <a:xfrm>
            <a:off x="9658537" y="11884"/>
            <a:ext cx="2050862" cy="429876"/>
            <a:chOff x="0" y="0"/>
            <a:chExt cx="7838183" cy="1629051"/>
          </a:xfrm>
        </p:grpSpPr>
        <p:sp>
          <p:nvSpPr>
            <p:cNvPr id="10" name="Freeform 15">
              <a:extLst>
                <a:ext uri="{FF2B5EF4-FFF2-40B4-BE49-F238E27FC236}">
                  <a16:creationId xmlns:a16="http://schemas.microsoft.com/office/drawing/2014/main" id="{16582DA2-856D-9EE7-6ED7-899557AEEE6F}"/>
                </a:ext>
              </a:extLst>
            </p:cNvPr>
            <p:cNvSpPr/>
            <p:nvPr/>
          </p:nvSpPr>
          <p:spPr>
            <a:xfrm>
              <a:off x="2068432" y="472763"/>
              <a:ext cx="4016856" cy="1096665"/>
            </a:xfrm>
            <a:custGeom>
              <a:avLst/>
              <a:gdLst/>
              <a:ahLst/>
              <a:cxnLst/>
              <a:rect l="l" t="t" r="r" b="b"/>
              <a:pathLst>
                <a:path w="4016856" h="1096665">
                  <a:moveTo>
                    <a:pt x="0" y="0"/>
                  </a:moveTo>
                  <a:lnTo>
                    <a:pt x="4016856" y="0"/>
                  </a:lnTo>
                  <a:lnTo>
                    <a:pt x="4016856" y="1096666"/>
                  </a:lnTo>
                  <a:lnTo>
                    <a:pt x="0" y="1096666"/>
                  </a:lnTo>
                  <a:lnTo>
                    <a:pt x="0" y="0"/>
                  </a:lnTo>
                  <a:close/>
                </a:path>
              </a:pathLst>
            </a:custGeom>
            <a:blipFill>
              <a:blip r:embed="rId7"/>
              <a:stretch>
                <a:fillRect/>
              </a:stretch>
            </a:blipFill>
          </p:spPr>
        </p:sp>
        <p:sp>
          <p:nvSpPr>
            <p:cNvPr id="11" name="Freeform 16">
              <a:extLst>
                <a:ext uri="{FF2B5EF4-FFF2-40B4-BE49-F238E27FC236}">
                  <a16:creationId xmlns:a16="http://schemas.microsoft.com/office/drawing/2014/main" id="{7F136AB7-53E5-F4C7-7F9E-4662195C9809}"/>
                </a:ext>
              </a:extLst>
            </p:cNvPr>
            <p:cNvSpPr/>
            <p:nvPr/>
          </p:nvSpPr>
          <p:spPr>
            <a:xfrm>
              <a:off x="0" y="0"/>
              <a:ext cx="1629051" cy="1629051"/>
            </a:xfrm>
            <a:custGeom>
              <a:avLst/>
              <a:gdLst/>
              <a:ahLst/>
              <a:cxnLst/>
              <a:rect l="l" t="t" r="r" b="b"/>
              <a:pathLst>
                <a:path w="1629051" h="1629051">
                  <a:moveTo>
                    <a:pt x="0" y="0"/>
                  </a:moveTo>
                  <a:lnTo>
                    <a:pt x="1629051" y="0"/>
                  </a:lnTo>
                  <a:lnTo>
                    <a:pt x="1629051" y="1629051"/>
                  </a:lnTo>
                  <a:lnTo>
                    <a:pt x="0" y="1629051"/>
                  </a:lnTo>
                  <a:lnTo>
                    <a:pt x="0" y="0"/>
                  </a:lnTo>
                  <a:close/>
                </a:path>
              </a:pathLst>
            </a:custGeom>
            <a:blipFill>
              <a:blip r:embed="rId8"/>
              <a:stretch>
                <a:fillRect/>
              </a:stretch>
            </a:blipFill>
          </p:spPr>
        </p:sp>
        <p:sp>
          <p:nvSpPr>
            <p:cNvPr id="12" name="Freeform 17">
              <a:extLst>
                <a:ext uri="{FF2B5EF4-FFF2-40B4-BE49-F238E27FC236}">
                  <a16:creationId xmlns:a16="http://schemas.microsoft.com/office/drawing/2014/main" id="{21E00457-85AC-0110-296A-9A73DB0F25BB}"/>
                </a:ext>
              </a:extLst>
            </p:cNvPr>
            <p:cNvSpPr/>
            <p:nvPr/>
          </p:nvSpPr>
          <p:spPr>
            <a:xfrm>
              <a:off x="6399188" y="0"/>
              <a:ext cx="1438995" cy="1629051"/>
            </a:xfrm>
            <a:custGeom>
              <a:avLst/>
              <a:gdLst/>
              <a:ahLst/>
              <a:cxnLst/>
              <a:rect l="l" t="t" r="r" b="b"/>
              <a:pathLst>
                <a:path w="1438995" h="1629051">
                  <a:moveTo>
                    <a:pt x="0" y="0"/>
                  </a:moveTo>
                  <a:lnTo>
                    <a:pt x="1438995" y="0"/>
                  </a:lnTo>
                  <a:lnTo>
                    <a:pt x="1438995" y="1629051"/>
                  </a:lnTo>
                  <a:lnTo>
                    <a:pt x="0" y="1629051"/>
                  </a:lnTo>
                  <a:lnTo>
                    <a:pt x="0" y="0"/>
                  </a:lnTo>
                  <a:close/>
                </a:path>
              </a:pathLst>
            </a:custGeom>
            <a:blipFill>
              <a:blip r:embed="rId9"/>
              <a:stretch>
                <a:fillRect/>
              </a:stretch>
            </a:blipFill>
          </p:spPr>
        </p:sp>
      </p:grpSp>
    </p:spTree>
    <p:extLst>
      <p:ext uri="{BB962C8B-B14F-4D97-AF65-F5344CB8AC3E}">
        <p14:creationId xmlns:p14="http://schemas.microsoft.com/office/powerpoint/2010/main" val="22262539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9EF9E-1748-966E-5D51-A15322C06C97}"/>
              </a:ext>
            </a:extLst>
          </p:cNvPr>
          <p:cNvSpPr>
            <a:spLocks noGrp="1"/>
          </p:cNvSpPr>
          <p:nvPr>
            <p:ph type="title"/>
          </p:nvPr>
        </p:nvSpPr>
        <p:spPr/>
        <p:txBody>
          <a:bodyPr/>
          <a:lstStyle/>
          <a:p>
            <a:r>
              <a:rPr lang="en-US" b="1" dirty="0"/>
              <a:t>Bill of materials</a:t>
            </a:r>
          </a:p>
        </p:txBody>
      </p:sp>
      <p:sp>
        <p:nvSpPr>
          <p:cNvPr id="6" name="Freeform 11">
            <a:extLst>
              <a:ext uri="{FF2B5EF4-FFF2-40B4-BE49-F238E27FC236}">
                <a16:creationId xmlns:a16="http://schemas.microsoft.com/office/drawing/2014/main" id="{C9DF2F60-A01F-CA20-F80D-1F8EE5E76BE5}"/>
              </a:ext>
            </a:extLst>
          </p:cNvPr>
          <p:cNvSpPr/>
          <p:nvPr/>
        </p:nvSpPr>
        <p:spPr>
          <a:xfrm>
            <a:off x="167951" y="1902363"/>
            <a:ext cx="11635273" cy="4750364"/>
          </a:xfrm>
          <a:custGeom>
            <a:avLst/>
            <a:gdLst/>
            <a:ahLst/>
            <a:cxnLst/>
            <a:rect l="l" t="t" r="r" b="b"/>
            <a:pathLst>
              <a:path w="11535454" h="8352831">
                <a:moveTo>
                  <a:pt x="0" y="0"/>
                </a:moveTo>
                <a:lnTo>
                  <a:pt x="11535454" y="0"/>
                </a:lnTo>
                <a:lnTo>
                  <a:pt x="11535454" y="8352831"/>
                </a:lnTo>
                <a:lnTo>
                  <a:pt x="0" y="8352831"/>
                </a:lnTo>
                <a:lnTo>
                  <a:pt x="0" y="0"/>
                </a:lnTo>
                <a:close/>
              </a:path>
            </a:pathLst>
          </a:custGeom>
          <a:blipFill>
            <a:blip r:embed="rId2"/>
            <a:stretch>
              <a:fillRect l="-9756" t="-15876" r="-9952" b="-21959"/>
            </a:stretch>
          </a:blipFill>
        </p:spPr>
        <p:txBody>
          <a:bodyPr/>
          <a:lstStyle/>
          <a:p>
            <a:endParaRPr lang="en-US"/>
          </a:p>
        </p:txBody>
      </p:sp>
      <p:grpSp>
        <p:nvGrpSpPr>
          <p:cNvPr id="3" name="Group 14">
            <a:extLst>
              <a:ext uri="{FF2B5EF4-FFF2-40B4-BE49-F238E27FC236}">
                <a16:creationId xmlns:a16="http://schemas.microsoft.com/office/drawing/2014/main" id="{EEC90FCE-E11E-4AC5-1D46-76D3A539A7E8}"/>
              </a:ext>
            </a:extLst>
          </p:cNvPr>
          <p:cNvGrpSpPr/>
          <p:nvPr/>
        </p:nvGrpSpPr>
        <p:grpSpPr>
          <a:xfrm>
            <a:off x="9658537" y="11884"/>
            <a:ext cx="2050862" cy="429876"/>
            <a:chOff x="0" y="0"/>
            <a:chExt cx="7838183" cy="1629051"/>
          </a:xfrm>
        </p:grpSpPr>
        <p:sp>
          <p:nvSpPr>
            <p:cNvPr id="4" name="Freeform 15">
              <a:extLst>
                <a:ext uri="{FF2B5EF4-FFF2-40B4-BE49-F238E27FC236}">
                  <a16:creationId xmlns:a16="http://schemas.microsoft.com/office/drawing/2014/main" id="{E5D10435-A0AA-C1DD-D0B8-806A544988CF}"/>
                </a:ext>
              </a:extLst>
            </p:cNvPr>
            <p:cNvSpPr/>
            <p:nvPr/>
          </p:nvSpPr>
          <p:spPr>
            <a:xfrm>
              <a:off x="2068432" y="472763"/>
              <a:ext cx="4016856" cy="1096665"/>
            </a:xfrm>
            <a:custGeom>
              <a:avLst/>
              <a:gdLst/>
              <a:ahLst/>
              <a:cxnLst/>
              <a:rect l="l" t="t" r="r" b="b"/>
              <a:pathLst>
                <a:path w="4016856" h="1096665">
                  <a:moveTo>
                    <a:pt x="0" y="0"/>
                  </a:moveTo>
                  <a:lnTo>
                    <a:pt x="4016856" y="0"/>
                  </a:lnTo>
                  <a:lnTo>
                    <a:pt x="4016856" y="1096666"/>
                  </a:lnTo>
                  <a:lnTo>
                    <a:pt x="0" y="1096666"/>
                  </a:lnTo>
                  <a:lnTo>
                    <a:pt x="0" y="0"/>
                  </a:lnTo>
                  <a:close/>
                </a:path>
              </a:pathLst>
            </a:custGeom>
            <a:blipFill>
              <a:blip r:embed="rId3"/>
              <a:stretch>
                <a:fillRect/>
              </a:stretch>
            </a:blipFill>
          </p:spPr>
        </p:sp>
        <p:sp>
          <p:nvSpPr>
            <p:cNvPr id="5" name="Freeform 16">
              <a:extLst>
                <a:ext uri="{FF2B5EF4-FFF2-40B4-BE49-F238E27FC236}">
                  <a16:creationId xmlns:a16="http://schemas.microsoft.com/office/drawing/2014/main" id="{29A9437F-FED8-0C2D-23A1-B5B31C6C3D70}"/>
                </a:ext>
              </a:extLst>
            </p:cNvPr>
            <p:cNvSpPr/>
            <p:nvPr/>
          </p:nvSpPr>
          <p:spPr>
            <a:xfrm>
              <a:off x="0" y="0"/>
              <a:ext cx="1629051" cy="1629051"/>
            </a:xfrm>
            <a:custGeom>
              <a:avLst/>
              <a:gdLst/>
              <a:ahLst/>
              <a:cxnLst/>
              <a:rect l="l" t="t" r="r" b="b"/>
              <a:pathLst>
                <a:path w="1629051" h="1629051">
                  <a:moveTo>
                    <a:pt x="0" y="0"/>
                  </a:moveTo>
                  <a:lnTo>
                    <a:pt x="1629051" y="0"/>
                  </a:lnTo>
                  <a:lnTo>
                    <a:pt x="1629051" y="1629051"/>
                  </a:lnTo>
                  <a:lnTo>
                    <a:pt x="0" y="1629051"/>
                  </a:lnTo>
                  <a:lnTo>
                    <a:pt x="0" y="0"/>
                  </a:lnTo>
                  <a:close/>
                </a:path>
              </a:pathLst>
            </a:custGeom>
            <a:blipFill>
              <a:blip r:embed="rId4"/>
              <a:stretch>
                <a:fillRect/>
              </a:stretch>
            </a:blipFill>
          </p:spPr>
        </p:sp>
        <p:sp>
          <p:nvSpPr>
            <p:cNvPr id="7" name="Freeform 17">
              <a:extLst>
                <a:ext uri="{FF2B5EF4-FFF2-40B4-BE49-F238E27FC236}">
                  <a16:creationId xmlns:a16="http://schemas.microsoft.com/office/drawing/2014/main" id="{93E47390-6134-A880-4D2A-21A39D0C35A4}"/>
                </a:ext>
              </a:extLst>
            </p:cNvPr>
            <p:cNvSpPr/>
            <p:nvPr/>
          </p:nvSpPr>
          <p:spPr>
            <a:xfrm>
              <a:off x="6399188" y="0"/>
              <a:ext cx="1438995" cy="1629051"/>
            </a:xfrm>
            <a:custGeom>
              <a:avLst/>
              <a:gdLst/>
              <a:ahLst/>
              <a:cxnLst/>
              <a:rect l="l" t="t" r="r" b="b"/>
              <a:pathLst>
                <a:path w="1438995" h="1629051">
                  <a:moveTo>
                    <a:pt x="0" y="0"/>
                  </a:moveTo>
                  <a:lnTo>
                    <a:pt x="1438995" y="0"/>
                  </a:lnTo>
                  <a:lnTo>
                    <a:pt x="1438995" y="1629051"/>
                  </a:lnTo>
                  <a:lnTo>
                    <a:pt x="0" y="1629051"/>
                  </a:lnTo>
                  <a:lnTo>
                    <a:pt x="0" y="0"/>
                  </a:lnTo>
                  <a:close/>
                </a:path>
              </a:pathLst>
            </a:custGeom>
            <a:blipFill>
              <a:blip r:embed="rId5"/>
              <a:stretch>
                <a:fillRect/>
              </a:stretch>
            </a:blipFill>
          </p:spPr>
        </p:sp>
      </p:grpSp>
    </p:spTree>
    <p:extLst>
      <p:ext uri="{BB962C8B-B14F-4D97-AF65-F5344CB8AC3E}">
        <p14:creationId xmlns:p14="http://schemas.microsoft.com/office/powerpoint/2010/main" val="18025364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B9622-6D20-8C6B-BE43-4E9CE5020926}"/>
              </a:ext>
            </a:extLst>
          </p:cNvPr>
          <p:cNvSpPr>
            <a:spLocks noGrp="1"/>
          </p:cNvSpPr>
          <p:nvPr>
            <p:ph type="title"/>
          </p:nvPr>
        </p:nvSpPr>
        <p:spPr>
          <a:xfrm>
            <a:off x="581192" y="702156"/>
            <a:ext cx="11029616" cy="706766"/>
          </a:xfrm>
        </p:spPr>
        <p:txBody>
          <a:bodyPr/>
          <a:lstStyle/>
          <a:p>
            <a:r>
              <a:rPr lang="en-US" b="1" dirty="0"/>
              <a:t>Final uas specifications</a:t>
            </a:r>
          </a:p>
        </p:txBody>
      </p:sp>
      <p:graphicFrame>
        <p:nvGraphicFramePr>
          <p:cNvPr id="4" name="Table 3">
            <a:extLst>
              <a:ext uri="{FF2B5EF4-FFF2-40B4-BE49-F238E27FC236}">
                <a16:creationId xmlns:a16="http://schemas.microsoft.com/office/drawing/2014/main" id="{676005DF-46AC-2AEC-3CF8-7DE962B32308}"/>
              </a:ext>
            </a:extLst>
          </p:cNvPr>
          <p:cNvGraphicFramePr>
            <a:graphicFrameLocks noGrp="1"/>
          </p:cNvGraphicFramePr>
          <p:nvPr>
            <p:extLst>
              <p:ext uri="{D42A27DB-BD31-4B8C-83A1-F6EECF244321}">
                <p14:modId xmlns:p14="http://schemas.microsoft.com/office/powerpoint/2010/main" val="4047686170"/>
              </p:ext>
            </p:extLst>
          </p:nvPr>
        </p:nvGraphicFramePr>
        <p:xfrm>
          <a:off x="447869" y="1893022"/>
          <a:ext cx="7298060" cy="2678976"/>
        </p:xfrm>
        <a:graphic>
          <a:graphicData uri="http://schemas.openxmlformats.org/drawingml/2006/table">
            <a:tbl>
              <a:tblPr firstRow="1" firstCol="1" bandRow="1">
                <a:tableStyleId>{5C22544A-7EE6-4342-B048-85BDC9FD1C3A}</a:tableStyleId>
              </a:tblPr>
              <a:tblGrid>
                <a:gridCol w="778701">
                  <a:extLst>
                    <a:ext uri="{9D8B030D-6E8A-4147-A177-3AD203B41FA5}">
                      <a16:colId xmlns:a16="http://schemas.microsoft.com/office/drawing/2014/main" val="2314182340"/>
                    </a:ext>
                  </a:extLst>
                </a:gridCol>
                <a:gridCol w="2868518">
                  <a:extLst>
                    <a:ext uri="{9D8B030D-6E8A-4147-A177-3AD203B41FA5}">
                      <a16:colId xmlns:a16="http://schemas.microsoft.com/office/drawing/2014/main" val="2217353788"/>
                    </a:ext>
                  </a:extLst>
                </a:gridCol>
                <a:gridCol w="3650841">
                  <a:extLst>
                    <a:ext uri="{9D8B030D-6E8A-4147-A177-3AD203B41FA5}">
                      <a16:colId xmlns:a16="http://schemas.microsoft.com/office/drawing/2014/main" val="2568167483"/>
                    </a:ext>
                  </a:extLst>
                </a:gridCol>
              </a:tblGrid>
              <a:tr h="334872">
                <a:tc>
                  <a:txBody>
                    <a:bodyPr/>
                    <a:lstStyle/>
                    <a:p>
                      <a:pPr marL="0" marR="0" algn="l">
                        <a:lnSpc>
                          <a:spcPct val="115000"/>
                        </a:lnSpc>
                        <a:spcAft>
                          <a:spcPts val="800"/>
                        </a:spcAft>
                        <a:buNone/>
                      </a:pPr>
                      <a:r>
                        <a:rPr lang="en-US" sz="1600" kern="100">
                          <a:effectLst/>
                        </a:rPr>
                        <a:t>S No.</a:t>
                      </a:r>
                      <a:endParaRPr lang="en-US" sz="1600" kern="100">
                        <a:effectLst/>
                        <a:latin typeface="Arial" panose="020B0604020202020204" pitchFamily="34" charset="0"/>
                        <a:ea typeface="Calibri" panose="020F0502020204030204" pitchFamily="34" charset="0"/>
                        <a:cs typeface="Cordia New" panose="020B0304020202020204" pitchFamily="34" charset="-34"/>
                      </a:endParaRPr>
                    </a:p>
                  </a:txBody>
                  <a:tcPr marL="68580" marR="68580" marT="0" marB="0"/>
                </a:tc>
                <a:tc>
                  <a:txBody>
                    <a:bodyPr/>
                    <a:lstStyle/>
                    <a:p>
                      <a:pPr marL="0" marR="0" algn="l">
                        <a:lnSpc>
                          <a:spcPct val="115000"/>
                        </a:lnSpc>
                        <a:spcAft>
                          <a:spcPts val="800"/>
                        </a:spcAft>
                        <a:buNone/>
                      </a:pPr>
                      <a:r>
                        <a:rPr lang="en-US" sz="1600" kern="100">
                          <a:effectLst/>
                        </a:rPr>
                        <a:t>Parameter</a:t>
                      </a:r>
                      <a:endParaRPr lang="en-US" sz="1600" kern="100">
                        <a:effectLst/>
                        <a:latin typeface="Arial" panose="020B0604020202020204" pitchFamily="34" charset="0"/>
                        <a:ea typeface="Calibri" panose="020F0502020204030204" pitchFamily="34" charset="0"/>
                        <a:cs typeface="Cordia New" panose="020B0304020202020204" pitchFamily="34" charset="-34"/>
                      </a:endParaRPr>
                    </a:p>
                  </a:txBody>
                  <a:tcPr marL="68580" marR="68580" marT="0" marB="0"/>
                </a:tc>
                <a:tc>
                  <a:txBody>
                    <a:bodyPr/>
                    <a:lstStyle/>
                    <a:p>
                      <a:pPr marL="0" marR="0" algn="l">
                        <a:lnSpc>
                          <a:spcPct val="115000"/>
                        </a:lnSpc>
                        <a:spcAft>
                          <a:spcPts val="800"/>
                        </a:spcAft>
                        <a:buNone/>
                      </a:pPr>
                      <a:r>
                        <a:rPr lang="en-US" sz="1600" kern="100" dirty="0">
                          <a:effectLst/>
                        </a:rPr>
                        <a:t>Specification</a:t>
                      </a:r>
                      <a:endParaRPr lang="en-US" sz="1600" kern="100" dirty="0">
                        <a:effectLst/>
                        <a:latin typeface="Arial" panose="020B0604020202020204" pitchFamily="34" charset="0"/>
                        <a:ea typeface="Calibri" panose="020F0502020204030204" pitchFamily="34" charset="0"/>
                        <a:cs typeface="Cordia New" panose="020B0304020202020204" pitchFamily="34" charset="-34"/>
                      </a:endParaRPr>
                    </a:p>
                  </a:txBody>
                  <a:tcPr marL="68580" marR="68580" marT="0" marB="0"/>
                </a:tc>
                <a:extLst>
                  <a:ext uri="{0D108BD9-81ED-4DB2-BD59-A6C34878D82A}">
                    <a16:rowId xmlns:a16="http://schemas.microsoft.com/office/drawing/2014/main" val="2913078106"/>
                  </a:ext>
                </a:extLst>
              </a:tr>
              <a:tr h="334872">
                <a:tc>
                  <a:txBody>
                    <a:bodyPr/>
                    <a:lstStyle/>
                    <a:p>
                      <a:pPr marL="0" marR="0" algn="l">
                        <a:lnSpc>
                          <a:spcPct val="115000"/>
                        </a:lnSpc>
                        <a:spcAft>
                          <a:spcPts val="800"/>
                        </a:spcAft>
                        <a:buNone/>
                      </a:pPr>
                      <a:r>
                        <a:rPr lang="en-US" sz="1600" kern="100">
                          <a:effectLst/>
                        </a:rPr>
                        <a:t>1</a:t>
                      </a:r>
                      <a:endParaRPr lang="en-US" sz="1600" kern="100">
                        <a:effectLst/>
                        <a:latin typeface="Arial" panose="020B0604020202020204" pitchFamily="34" charset="0"/>
                        <a:ea typeface="Calibri" panose="020F0502020204030204" pitchFamily="34" charset="0"/>
                        <a:cs typeface="Cordia New" panose="020B0304020202020204" pitchFamily="34" charset="-34"/>
                      </a:endParaRPr>
                    </a:p>
                  </a:txBody>
                  <a:tcPr marL="68580" marR="68580" marT="0" marB="0"/>
                </a:tc>
                <a:tc>
                  <a:txBody>
                    <a:bodyPr/>
                    <a:lstStyle/>
                    <a:p>
                      <a:pPr marL="0" marR="0" algn="l">
                        <a:lnSpc>
                          <a:spcPct val="115000"/>
                        </a:lnSpc>
                        <a:spcAft>
                          <a:spcPts val="800"/>
                        </a:spcAft>
                        <a:buNone/>
                      </a:pPr>
                      <a:r>
                        <a:rPr lang="en-US" sz="1600" kern="100" dirty="0">
                          <a:effectLst/>
                        </a:rPr>
                        <a:t>UAS Type</a:t>
                      </a:r>
                      <a:endParaRPr lang="en-US" sz="1600" kern="100" dirty="0">
                        <a:effectLst/>
                        <a:latin typeface="Arial" panose="020B0604020202020204" pitchFamily="34" charset="0"/>
                        <a:ea typeface="Calibri" panose="020F0502020204030204" pitchFamily="34" charset="0"/>
                        <a:cs typeface="Cordia New" panose="020B0304020202020204" pitchFamily="34" charset="-34"/>
                      </a:endParaRPr>
                    </a:p>
                  </a:txBody>
                  <a:tcPr marL="68580" marR="68580" marT="0" marB="0"/>
                </a:tc>
                <a:tc>
                  <a:txBody>
                    <a:bodyPr/>
                    <a:lstStyle/>
                    <a:p>
                      <a:pPr marL="0" marR="0" algn="l">
                        <a:lnSpc>
                          <a:spcPct val="115000"/>
                        </a:lnSpc>
                        <a:spcAft>
                          <a:spcPts val="800"/>
                        </a:spcAft>
                        <a:buNone/>
                      </a:pPr>
                      <a:r>
                        <a:rPr lang="en-US" sz="1600" kern="100">
                          <a:effectLst/>
                        </a:rPr>
                        <a:t>Quadcopter</a:t>
                      </a:r>
                      <a:endParaRPr lang="en-US" sz="1600" kern="100">
                        <a:effectLst/>
                        <a:latin typeface="Arial" panose="020B0604020202020204" pitchFamily="34" charset="0"/>
                        <a:ea typeface="Calibri" panose="020F0502020204030204" pitchFamily="34" charset="0"/>
                        <a:cs typeface="Cordia New" panose="020B0304020202020204" pitchFamily="34" charset="-34"/>
                      </a:endParaRPr>
                    </a:p>
                  </a:txBody>
                  <a:tcPr marL="68580" marR="68580" marT="0" marB="0"/>
                </a:tc>
                <a:extLst>
                  <a:ext uri="{0D108BD9-81ED-4DB2-BD59-A6C34878D82A}">
                    <a16:rowId xmlns:a16="http://schemas.microsoft.com/office/drawing/2014/main" val="1022269363"/>
                  </a:ext>
                </a:extLst>
              </a:tr>
              <a:tr h="334872">
                <a:tc>
                  <a:txBody>
                    <a:bodyPr/>
                    <a:lstStyle/>
                    <a:p>
                      <a:pPr marL="0" marR="0" algn="l">
                        <a:lnSpc>
                          <a:spcPct val="115000"/>
                        </a:lnSpc>
                        <a:spcAft>
                          <a:spcPts val="800"/>
                        </a:spcAft>
                        <a:buNone/>
                      </a:pPr>
                      <a:r>
                        <a:rPr lang="en-US" sz="1600" kern="100">
                          <a:effectLst/>
                        </a:rPr>
                        <a:t>2</a:t>
                      </a:r>
                      <a:endParaRPr lang="en-US" sz="1600" kern="100">
                        <a:effectLst/>
                        <a:latin typeface="Arial" panose="020B0604020202020204" pitchFamily="34" charset="0"/>
                        <a:ea typeface="Calibri" panose="020F0502020204030204" pitchFamily="34" charset="0"/>
                        <a:cs typeface="Cordia New" panose="020B0304020202020204" pitchFamily="34" charset="-34"/>
                      </a:endParaRPr>
                    </a:p>
                  </a:txBody>
                  <a:tcPr marL="68580" marR="68580" marT="0" marB="0"/>
                </a:tc>
                <a:tc>
                  <a:txBody>
                    <a:bodyPr/>
                    <a:lstStyle/>
                    <a:p>
                      <a:pPr marL="0" marR="0" algn="l">
                        <a:lnSpc>
                          <a:spcPct val="115000"/>
                        </a:lnSpc>
                        <a:spcAft>
                          <a:spcPts val="800"/>
                        </a:spcAft>
                        <a:buNone/>
                      </a:pPr>
                      <a:r>
                        <a:rPr lang="en-US" sz="1600" kern="100">
                          <a:effectLst/>
                        </a:rPr>
                        <a:t>Propulsion System</a:t>
                      </a:r>
                      <a:endParaRPr lang="en-US" sz="1600" kern="100">
                        <a:effectLst/>
                        <a:latin typeface="Arial" panose="020B0604020202020204" pitchFamily="34" charset="0"/>
                        <a:ea typeface="Calibri" panose="020F0502020204030204" pitchFamily="34" charset="0"/>
                        <a:cs typeface="Cordia New" panose="020B0304020202020204" pitchFamily="34" charset="-34"/>
                      </a:endParaRPr>
                    </a:p>
                  </a:txBody>
                  <a:tcPr marL="68580" marR="68580" marT="0" marB="0"/>
                </a:tc>
                <a:tc>
                  <a:txBody>
                    <a:bodyPr/>
                    <a:lstStyle/>
                    <a:p>
                      <a:pPr marL="0" marR="0" algn="l">
                        <a:lnSpc>
                          <a:spcPct val="115000"/>
                        </a:lnSpc>
                        <a:spcAft>
                          <a:spcPts val="800"/>
                        </a:spcAft>
                        <a:buNone/>
                      </a:pPr>
                      <a:r>
                        <a:rPr lang="en-US" sz="1600" kern="100">
                          <a:effectLst/>
                        </a:rPr>
                        <a:t>Electric</a:t>
                      </a:r>
                      <a:endParaRPr lang="en-US" sz="1600" kern="100">
                        <a:effectLst/>
                        <a:latin typeface="Arial" panose="020B0604020202020204" pitchFamily="34" charset="0"/>
                        <a:ea typeface="Calibri" panose="020F0502020204030204" pitchFamily="34" charset="0"/>
                        <a:cs typeface="Cordia New" panose="020B0304020202020204" pitchFamily="34" charset="-34"/>
                      </a:endParaRPr>
                    </a:p>
                  </a:txBody>
                  <a:tcPr marL="68580" marR="68580" marT="0" marB="0"/>
                </a:tc>
                <a:extLst>
                  <a:ext uri="{0D108BD9-81ED-4DB2-BD59-A6C34878D82A}">
                    <a16:rowId xmlns:a16="http://schemas.microsoft.com/office/drawing/2014/main" val="995476483"/>
                  </a:ext>
                </a:extLst>
              </a:tr>
              <a:tr h="334872">
                <a:tc>
                  <a:txBody>
                    <a:bodyPr/>
                    <a:lstStyle/>
                    <a:p>
                      <a:pPr marL="0" marR="0" algn="l">
                        <a:lnSpc>
                          <a:spcPct val="115000"/>
                        </a:lnSpc>
                        <a:spcAft>
                          <a:spcPts val="800"/>
                        </a:spcAft>
                        <a:buNone/>
                      </a:pPr>
                      <a:r>
                        <a:rPr lang="en-US" sz="1600" kern="100">
                          <a:effectLst/>
                        </a:rPr>
                        <a:t>3</a:t>
                      </a:r>
                      <a:endParaRPr lang="en-US" sz="1600" kern="100">
                        <a:effectLst/>
                        <a:latin typeface="Arial" panose="020B0604020202020204" pitchFamily="34" charset="0"/>
                        <a:ea typeface="Calibri" panose="020F0502020204030204" pitchFamily="34" charset="0"/>
                        <a:cs typeface="Cordia New" panose="020B0304020202020204" pitchFamily="34" charset="-34"/>
                      </a:endParaRPr>
                    </a:p>
                  </a:txBody>
                  <a:tcPr marL="68580" marR="68580" marT="0" marB="0"/>
                </a:tc>
                <a:tc>
                  <a:txBody>
                    <a:bodyPr/>
                    <a:lstStyle/>
                    <a:p>
                      <a:pPr marL="0" marR="0" algn="l">
                        <a:lnSpc>
                          <a:spcPct val="115000"/>
                        </a:lnSpc>
                        <a:spcAft>
                          <a:spcPts val="800"/>
                        </a:spcAft>
                        <a:buNone/>
                      </a:pPr>
                      <a:r>
                        <a:rPr lang="en-US" sz="1600" kern="100">
                          <a:effectLst/>
                        </a:rPr>
                        <a:t>Weight</a:t>
                      </a:r>
                      <a:endParaRPr lang="en-US" sz="1600" kern="100">
                        <a:effectLst/>
                        <a:latin typeface="Arial" panose="020B0604020202020204" pitchFamily="34" charset="0"/>
                        <a:ea typeface="Calibri" panose="020F0502020204030204" pitchFamily="34" charset="0"/>
                        <a:cs typeface="Cordia New" panose="020B0304020202020204" pitchFamily="34" charset="-34"/>
                      </a:endParaRPr>
                    </a:p>
                  </a:txBody>
                  <a:tcPr marL="68580" marR="68580" marT="0" marB="0"/>
                </a:tc>
                <a:tc>
                  <a:txBody>
                    <a:bodyPr/>
                    <a:lstStyle/>
                    <a:p>
                      <a:pPr marL="0" marR="0" algn="l">
                        <a:lnSpc>
                          <a:spcPct val="115000"/>
                        </a:lnSpc>
                        <a:spcAft>
                          <a:spcPts val="800"/>
                        </a:spcAft>
                        <a:buNone/>
                      </a:pPr>
                      <a:r>
                        <a:rPr lang="en-US" sz="1600" kern="100">
                          <a:effectLst/>
                        </a:rPr>
                        <a:t>1570.54 g</a:t>
                      </a:r>
                      <a:endParaRPr lang="en-US" sz="1600" kern="100">
                        <a:effectLst/>
                        <a:latin typeface="Arial" panose="020B0604020202020204" pitchFamily="34" charset="0"/>
                        <a:ea typeface="Calibri" panose="020F0502020204030204" pitchFamily="34" charset="0"/>
                        <a:cs typeface="Cordia New" panose="020B0304020202020204" pitchFamily="34" charset="-34"/>
                      </a:endParaRPr>
                    </a:p>
                  </a:txBody>
                  <a:tcPr marL="68580" marR="68580" marT="0" marB="0"/>
                </a:tc>
                <a:extLst>
                  <a:ext uri="{0D108BD9-81ED-4DB2-BD59-A6C34878D82A}">
                    <a16:rowId xmlns:a16="http://schemas.microsoft.com/office/drawing/2014/main" val="1100926594"/>
                  </a:ext>
                </a:extLst>
              </a:tr>
              <a:tr h="334872">
                <a:tc>
                  <a:txBody>
                    <a:bodyPr/>
                    <a:lstStyle/>
                    <a:p>
                      <a:pPr marL="0" marR="0" algn="l">
                        <a:lnSpc>
                          <a:spcPct val="115000"/>
                        </a:lnSpc>
                        <a:spcAft>
                          <a:spcPts val="800"/>
                        </a:spcAft>
                        <a:buNone/>
                      </a:pPr>
                      <a:r>
                        <a:rPr lang="en-US" sz="1600" kern="100">
                          <a:effectLst/>
                        </a:rPr>
                        <a:t>4</a:t>
                      </a:r>
                      <a:endParaRPr lang="en-US" sz="1600" kern="100">
                        <a:effectLst/>
                        <a:latin typeface="Arial" panose="020B0604020202020204" pitchFamily="34" charset="0"/>
                        <a:ea typeface="Calibri" panose="020F0502020204030204" pitchFamily="34" charset="0"/>
                        <a:cs typeface="Cordia New" panose="020B0304020202020204" pitchFamily="34" charset="-34"/>
                      </a:endParaRPr>
                    </a:p>
                  </a:txBody>
                  <a:tcPr marL="68580" marR="68580" marT="0" marB="0"/>
                </a:tc>
                <a:tc>
                  <a:txBody>
                    <a:bodyPr/>
                    <a:lstStyle/>
                    <a:p>
                      <a:pPr marL="0" marR="0" algn="l">
                        <a:lnSpc>
                          <a:spcPct val="115000"/>
                        </a:lnSpc>
                        <a:spcAft>
                          <a:spcPts val="800"/>
                        </a:spcAft>
                        <a:buNone/>
                      </a:pPr>
                      <a:r>
                        <a:rPr lang="en-US" sz="1600" kern="100">
                          <a:effectLst/>
                        </a:rPr>
                        <a:t>Payload</a:t>
                      </a:r>
                      <a:endParaRPr lang="en-US" sz="1600" kern="100">
                        <a:effectLst/>
                        <a:latin typeface="Arial" panose="020B0604020202020204" pitchFamily="34" charset="0"/>
                        <a:ea typeface="Calibri" panose="020F0502020204030204" pitchFamily="34" charset="0"/>
                        <a:cs typeface="Cordia New" panose="020B0304020202020204" pitchFamily="34" charset="-34"/>
                      </a:endParaRPr>
                    </a:p>
                  </a:txBody>
                  <a:tcPr marL="68580" marR="68580" marT="0" marB="0"/>
                </a:tc>
                <a:tc>
                  <a:txBody>
                    <a:bodyPr/>
                    <a:lstStyle/>
                    <a:p>
                      <a:pPr marL="0" marR="0" algn="l">
                        <a:lnSpc>
                          <a:spcPct val="115000"/>
                        </a:lnSpc>
                        <a:spcAft>
                          <a:spcPts val="800"/>
                        </a:spcAft>
                        <a:buNone/>
                      </a:pPr>
                      <a:r>
                        <a:rPr lang="en-US" sz="1600" kern="100">
                          <a:effectLst/>
                        </a:rPr>
                        <a:t>200 g</a:t>
                      </a:r>
                      <a:endParaRPr lang="en-US" sz="1600" kern="100">
                        <a:effectLst/>
                        <a:latin typeface="Arial" panose="020B0604020202020204" pitchFamily="34" charset="0"/>
                        <a:ea typeface="Calibri" panose="020F0502020204030204" pitchFamily="34" charset="0"/>
                        <a:cs typeface="Cordia New" panose="020B0304020202020204" pitchFamily="34" charset="-34"/>
                      </a:endParaRPr>
                    </a:p>
                  </a:txBody>
                  <a:tcPr marL="68580" marR="68580" marT="0" marB="0"/>
                </a:tc>
                <a:extLst>
                  <a:ext uri="{0D108BD9-81ED-4DB2-BD59-A6C34878D82A}">
                    <a16:rowId xmlns:a16="http://schemas.microsoft.com/office/drawing/2014/main" val="3568969013"/>
                  </a:ext>
                </a:extLst>
              </a:tr>
              <a:tr h="334872">
                <a:tc>
                  <a:txBody>
                    <a:bodyPr/>
                    <a:lstStyle/>
                    <a:p>
                      <a:pPr marL="0" marR="0" algn="l">
                        <a:lnSpc>
                          <a:spcPct val="115000"/>
                        </a:lnSpc>
                        <a:spcAft>
                          <a:spcPts val="800"/>
                        </a:spcAft>
                        <a:buNone/>
                      </a:pPr>
                      <a:r>
                        <a:rPr lang="en-US" sz="1600" kern="100">
                          <a:effectLst/>
                        </a:rPr>
                        <a:t>5</a:t>
                      </a:r>
                      <a:endParaRPr lang="en-US" sz="1600" kern="100">
                        <a:effectLst/>
                        <a:latin typeface="Arial" panose="020B0604020202020204" pitchFamily="34" charset="0"/>
                        <a:ea typeface="Calibri" panose="020F0502020204030204" pitchFamily="34" charset="0"/>
                        <a:cs typeface="Cordia New" panose="020B0304020202020204" pitchFamily="34" charset="-34"/>
                      </a:endParaRPr>
                    </a:p>
                  </a:txBody>
                  <a:tcPr marL="68580" marR="68580" marT="0" marB="0"/>
                </a:tc>
                <a:tc>
                  <a:txBody>
                    <a:bodyPr/>
                    <a:lstStyle/>
                    <a:p>
                      <a:pPr marL="0" marR="0" algn="l">
                        <a:lnSpc>
                          <a:spcPct val="115000"/>
                        </a:lnSpc>
                        <a:spcAft>
                          <a:spcPts val="800"/>
                        </a:spcAft>
                        <a:buNone/>
                      </a:pPr>
                      <a:r>
                        <a:rPr lang="en-US" sz="1600" kern="100">
                          <a:effectLst/>
                        </a:rPr>
                        <a:t>Thrust-to-Weight</a:t>
                      </a:r>
                      <a:endParaRPr lang="en-US" sz="1600" kern="100">
                        <a:effectLst/>
                        <a:latin typeface="Arial" panose="020B0604020202020204" pitchFamily="34" charset="0"/>
                        <a:ea typeface="Calibri" panose="020F0502020204030204" pitchFamily="34" charset="0"/>
                        <a:cs typeface="Cordia New" panose="020B0304020202020204" pitchFamily="34" charset="-34"/>
                      </a:endParaRPr>
                    </a:p>
                  </a:txBody>
                  <a:tcPr marL="68580" marR="68580" marT="0" marB="0"/>
                </a:tc>
                <a:tc>
                  <a:txBody>
                    <a:bodyPr/>
                    <a:lstStyle/>
                    <a:p>
                      <a:pPr marL="0" marR="0" algn="l">
                        <a:lnSpc>
                          <a:spcPct val="115000"/>
                        </a:lnSpc>
                        <a:spcAft>
                          <a:spcPts val="800"/>
                        </a:spcAft>
                        <a:buNone/>
                      </a:pPr>
                      <a:r>
                        <a:rPr lang="en-US" sz="1600" kern="100">
                          <a:effectLst/>
                        </a:rPr>
                        <a:t>3.4:1</a:t>
                      </a:r>
                      <a:endParaRPr lang="en-US" sz="1600" kern="100">
                        <a:effectLst/>
                        <a:latin typeface="Arial" panose="020B0604020202020204" pitchFamily="34" charset="0"/>
                        <a:ea typeface="Calibri" panose="020F0502020204030204" pitchFamily="34" charset="0"/>
                        <a:cs typeface="Cordia New" panose="020B0304020202020204" pitchFamily="34" charset="-34"/>
                      </a:endParaRPr>
                    </a:p>
                  </a:txBody>
                  <a:tcPr marL="68580" marR="68580" marT="0" marB="0"/>
                </a:tc>
                <a:extLst>
                  <a:ext uri="{0D108BD9-81ED-4DB2-BD59-A6C34878D82A}">
                    <a16:rowId xmlns:a16="http://schemas.microsoft.com/office/drawing/2014/main" val="3297556712"/>
                  </a:ext>
                </a:extLst>
              </a:tr>
              <a:tr h="334872">
                <a:tc>
                  <a:txBody>
                    <a:bodyPr/>
                    <a:lstStyle/>
                    <a:p>
                      <a:pPr marL="0" marR="0" algn="l">
                        <a:lnSpc>
                          <a:spcPct val="115000"/>
                        </a:lnSpc>
                        <a:spcAft>
                          <a:spcPts val="800"/>
                        </a:spcAft>
                        <a:buNone/>
                      </a:pPr>
                      <a:r>
                        <a:rPr lang="en-US" sz="1600" kern="100">
                          <a:effectLst/>
                        </a:rPr>
                        <a:t>6</a:t>
                      </a:r>
                      <a:endParaRPr lang="en-US" sz="1600" kern="100">
                        <a:effectLst/>
                        <a:latin typeface="Arial" panose="020B0604020202020204" pitchFamily="34" charset="0"/>
                        <a:ea typeface="Calibri" panose="020F0502020204030204" pitchFamily="34" charset="0"/>
                        <a:cs typeface="Cordia New" panose="020B0304020202020204" pitchFamily="34" charset="-34"/>
                      </a:endParaRPr>
                    </a:p>
                  </a:txBody>
                  <a:tcPr marL="68580" marR="68580" marT="0" marB="0"/>
                </a:tc>
                <a:tc>
                  <a:txBody>
                    <a:bodyPr/>
                    <a:lstStyle/>
                    <a:p>
                      <a:pPr marL="0" marR="0" algn="l">
                        <a:lnSpc>
                          <a:spcPct val="115000"/>
                        </a:lnSpc>
                        <a:spcAft>
                          <a:spcPts val="800"/>
                        </a:spcAft>
                        <a:buNone/>
                      </a:pPr>
                      <a:r>
                        <a:rPr lang="en-US" sz="1600" kern="100">
                          <a:effectLst/>
                        </a:rPr>
                        <a:t>Flight Time</a:t>
                      </a:r>
                      <a:endParaRPr lang="en-US" sz="1600" kern="100">
                        <a:effectLst/>
                        <a:latin typeface="Arial" panose="020B0604020202020204" pitchFamily="34" charset="0"/>
                        <a:ea typeface="Calibri" panose="020F0502020204030204" pitchFamily="34" charset="0"/>
                        <a:cs typeface="Cordia New" panose="020B0304020202020204" pitchFamily="34" charset="-34"/>
                      </a:endParaRPr>
                    </a:p>
                  </a:txBody>
                  <a:tcPr marL="68580" marR="68580" marT="0" marB="0"/>
                </a:tc>
                <a:tc>
                  <a:txBody>
                    <a:bodyPr/>
                    <a:lstStyle/>
                    <a:p>
                      <a:pPr marL="0" marR="0" algn="l">
                        <a:lnSpc>
                          <a:spcPct val="115000"/>
                        </a:lnSpc>
                        <a:spcAft>
                          <a:spcPts val="800"/>
                        </a:spcAft>
                        <a:buNone/>
                      </a:pPr>
                      <a:r>
                        <a:rPr lang="en-US" sz="1600" kern="100">
                          <a:effectLst/>
                        </a:rPr>
                        <a:t>15-20 min</a:t>
                      </a:r>
                      <a:endParaRPr lang="en-US" sz="1600" kern="100">
                        <a:effectLst/>
                        <a:latin typeface="Arial" panose="020B0604020202020204" pitchFamily="34" charset="0"/>
                        <a:ea typeface="Calibri" panose="020F0502020204030204" pitchFamily="34" charset="0"/>
                        <a:cs typeface="Cordia New" panose="020B0304020202020204" pitchFamily="34" charset="-34"/>
                      </a:endParaRPr>
                    </a:p>
                  </a:txBody>
                  <a:tcPr marL="68580" marR="68580" marT="0" marB="0"/>
                </a:tc>
                <a:extLst>
                  <a:ext uri="{0D108BD9-81ED-4DB2-BD59-A6C34878D82A}">
                    <a16:rowId xmlns:a16="http://schemas.microsoft.com/office/drawing/2014/main" val="2580446075"/>
                  </a:ext>
                </a:extLst>
              </a:tr>
              <a:tr h="334872">
                <a:tc>
                  <a:txBody>
                    <a:bodyPr/>
                    <a:lstStyle/>
                    <a:p>
                      <a:pPr marL="0" marR="0" algn="l">
                        <a:lnSpc>
                          <a:spcPct val="115000"/>
                        </a:lnSpc>
                        <a:spcAft>
                          <a:spcPts val="800"/>
                        </a:spcAft>
                        <a:buNone/>
                      </a:pPr>
                      <a:r>
                        <a:rPr lang="en-US" sz="1600" kern="100">
                          <a:effectLst/>
                        </a:rPr>
                        <a:t>7</a:t>
                      </a:r>
                      <a:endParaRPr lang="en-US" sz="1600" kern="100">
                        <a:effectLst/>
                        <a:latin typeface="Arial" panose="020B0604020202020204" pitchFamily="34" charset="0"/>
                        <a:ea typeface="Calibri" panose="020F0502020204030204" pitchFamily="34" charset="0"/>
                        <a:cs typeface="Cordia New" panose="020B0304020202020204" pitchFamily="34" charset="-34"/>
                      </a:endParaRPr>
                    </a:p>
                  </a:txBody>
                  <a:tcPr marL="68580" marR="68580" marT="0" marB="0"/>
                </a:tc>
                <a:tc>
                  <a:txBody>
                    <a:bodyPr/>
                    <a:lstStyle/>
                    <a:p>
                      <a:pPr marL="0" marR="0" algn="l">
                        <a:lnSpc>
                          <a:spcPct val="115000"/>
                        </a:lnSpc>
                        <a:spcAft>
                          <a:spcPts val="800"/>
                        </a:spcAft>
                        <a:buNone/>
                      </a:pPr>
                      <a:r>
                        <a:rPr lang="en-US" sz="1600" kern="100">
                          <a:effectLst/>
                        </a:rPr>
                        <a:t>Cost</a:t>
                      </a:r>
                      <a:endParaRPr lang="en-US" sz="1600" kern="100">
                        <a:effectLst/>
                        <a:latin typeface="Arial" panose="020B0604020202020204" pitchFamily="34" charset="0"/>
                        <a:ea typeface="Calibri" panose="020F0502020204030204" pitchFamily="34" charset="0"/>
                        <a:cs typeface="Cordia New" panose="020B0304020202020204" pitchFamily="34" charset="-34"/>
                      </a:endParaRPr>
                    </a:p>
                  </a:txBody>
                  <a:tcPr marL="68580" marR="68580" marT="0" marB="0"/>
                </a:tc>
                <a:tc>
                  <a:txBody>
                    <a:bodyPr/>
                    <a:lstStyle/>
                    <a:p>
                      <a:pPr marL="0" marR="0" algn="l">
                        <a:lnSpc>
                          <a:spcPct val="115000"/>
                        </a:lnSpc>
                        <a:spcAft>
                          <a:spcPts val="800"/>
                        </a:spcAft>
                        <a:buNone/>
                      </a:pPr>
                      <a:r>
                        <a:rPr lang="en-US" sz="1600" kern="100" dirty="0">
                          <a:effectLst/>
                        </a:rPr>
                        <a:t>85000 (Approximate)</a:t>
                      </a:r>
                      <a:endParaRPr lang="en-US" sz="1600" kern="100" dirty="0">
                        <a:effectLst/>
                        <a:latin typeface="Arial" panose="020B0604020202020204" pitchFamily="34" charset="0"/>
                        <a:ea typeface="Calibri" panose="020F0502020204030204" pitchFamily="34" charset="0"/>
                        <a:cs typeface="Cordia New" panose="020B0304020202020204" pitchFamily="34" charset="-34"/>
                      </a:endParaRPr>
                    </a:p>
                  </a:txBody>
                  <a:tcPr marL="68580" marR="68580" marT="0" marB="0"/>
                </a:tc>
                <a:extLst>
                  <a:ext uri="{0D108BD9-81ED-4DB2-BD59-A6C34878D82A}">
                    <a16:rowId xmlns:a16="http://schemas.microsoft.com/office/drawing/2014/main" val="2914491978"/>
                  </a:ext>
                </a:extLst>
              </a:tr>
            </a:tbl>
          </a:graphicData>
        </a:graphic>
      </p:graphicFrame>
      <p:grpSp>
        <p:nvGrpSpPr>
          <p:cNvPr id="5" name="Group 4">
            <a:extLst>
              <a:ext uri="{FF2B5EF4-FFF2-40B4-BE49-F238E27FC236}">
                <a16:creationId xmlns:a16="http://schemas.microsoft.com/office/drawing/2014/main" id="{681333DF-03BE-FAE5-D318-A964A228D4BB}"/>
              </a:ext>
            </a:extLst>
          </p:cNvPr>
          <p:cNvGrpSpPr/>
          <p:nvPr/>
        </p:nvGrpSpPr>
        <p:grpSpPr>
          <a:xfrm>
            <a:off x="7912360" y="1918542"/>
            <a:ext cx="3831772" cy="2653458"/>
            <a:chOff x="0" y="0"/>
            <a:chExt cx="3515360" cy="2334260"/>
          </a:xfrm>
        </p:grpSpPr>
        <p:pic>
          <p:nvPicPr>
            <p:cNvPr id="6" name="Picture 5">
              <a:extLst>
                <a:ext uri="{FF2B5EF4-FFF2-40B4-BE49-F238E27FC236}">
                  <a16:creationId xmlns:a16="http://schemas.microsoft.com/office/drawing/2014/main" id="{F0344586-8342-78D6-E136-0C8B149BAC6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3515360" cy="2334260"/>
            </a:xfrm>
            <a:prstGeom prst="rect">
              <a:avLst/>
            </a:prstGeom>
            <a:noFill/>
            <a:ln>
              <a:solidFill>
                <a:schemeClr val="tx1"/>
              </a:solidFill>
            </a:ln>
          </p:spPr>
        </p:pic>
        <p:sp>
          <p:nvSpPr>
            <p:cNvPr id="7" name="Text Box 1">
              <a:extLst>
                <a:ext uri="{FF2B5EF4-FFF2-40B4-BE49-F238E27FC236}">
                  <a16:creationId xmlns:a16="http://schemas.microsoft.com/office/drawing/2014/main" id="{25CCC383-5021-6324-4CDD-0F3524A7DFE5}"/>
                </a:ext>
              </a:extLst>
            </p:cNvPr>
            <p:cNvSpPr txBox="1"/>
            <p:nvPr/>
          </p:nvSpPr>
          <p:spPr>
            <a:xfrm>
              <a:off x="2579771" y="2010276"/>
              <a:ext cx="922020" cy="271780"/>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noAutofit/>
            </a:bodyPr>
            <a:lstStyle/>
            <a:p>
              <a:pPr marL="0" marR="0">
                <a:lnSpc>
                  <a:spcPct val="115000"/>
                </a:lnSpc>
                <a:spcAft>
                  <a:spcPts val="1000"/>
                </a:spcAft>
              </a:pPr>
              <a:r>
                <a:rPr lang="en-US" sz="900" i="1" kern="100">
                  <a:solidFill>
                    <a:srgbClr val="44546A"/>
                  </a:solidFill>
                  <a:effectLst/>
                  <a:latin typeface="Arial" panose="020B0604020202020204" pitchFamily="34" charset="0"/>
                  <a:ea typeface="Calibri" panose="020F0502020204030204" pitchFamily="34" charset="0"/>
                  <a:cs typeface="Cordia New" panose="020B0304020202020204" pitchFamily="34" charset="-34"/>
                </a:rPr>
                <a:t>Figure 25 - Circuit Diagram</a:t>
              </a:r>
            </a:p>
          </p:txBody>
        </p:sp>
      </p:grpSp>
      <p:sp>
        <p:nvSpPr>
          <p:cNvPr id="10" name="TextBox 9">
            <a:extLst>
              <a:ext uri="{FF2B5EF4-FFF2-40B4-BE49-F238E27FC236}">
                <a16:creationId xmlns:a16="http://schemas.microsoft.com/office/drawing/2014/main" id="{B4677EFC-0757-324A-59F3-C1C5ADB030D4}"/>
              </a:ext>
            </a:extLst>
          </p:cNvPr>
          <p:cNvSpPr txBox="1"/>
          <p:nvPr/>
        </p:nvSpPr>
        <p:spPr>
          <a:xfrm>
            <a:off x="447868" y="4571998"/>
            <a:ext cx="3442997" cy="2585323"/>
          </a:xfrm>
          <a:prstGeom prst="rect">
            <a:avLst/>
          </a:prstGeom>
          <a:noFill/>
        </p:spPr>
        <p:txBody>
          <a:bodyPr wrap="square" rtlCol="0">
            <a:spAutoFit/>
          </a:bodyPr>
          <a:lstStyle/>
          <a:p>
            <a:r>
              <a:rPr lang="en-US" b="1" dirty="0"/>
              <a:t>Key innovations:</a:t>
            </a:r>
          </a:p>
          <a:p>
            <a:pPr marL="285750" indent="-285750">
              <a:buFont typeface="Arial" panose="020B0604020202020204" pitchFamily="34" charset="0"/>
              <a:buChar char="•"/>
            </a:pPr>
            <a:r>
              <a:rPr lang="en-US" dirty="0"/>
              <a:t>Rotor Arm Design</a:t>
            </a:r>
          </a:p>
          <a:p>
            <a:pPr marL="285750" indent="-285750">
              <a:buFont typeface="Arial" panose="020B0604020202020204" pitchFamily="34" charset="0"/>
              <a:buChar char="•"/>
            </a:pPr>
            <a:r>
              <a:rPr lang="en-US" dirty="0"/>
              <a:t>Material Integration</a:t>
            </a:r>
          </a:p>
          <a:p>
            <a:pPr marL="285750" indent="-285750">
              <a:buFont typeface="Arial" panose="020B0604020202020204" pitchFamily="34" charset="0"/>
              <a:buChar char="•"/>
            </a:pPr>
            <a:r>
              <a:rPr lang="en-US" dirty="0"/>
              <a:t>Fastener Usage</a:t>
            </a:r>
          </a:p>
          <a:p>
            <a:pPr marL="285750" indent="-285750">
              <a:buFont typeface="Arial" panose="020B0604020202020204" pitchFamily="34" charset="0"/>
              <a:buChar char="•"/>
            </a:pPr>
            <a:r>
              <a:rPr lang="en-US" dirty="0"/>
              <a:t>Integrated Sensor Suite</a:t>
            </a:r>
          </a:p>
          <a:p>
            <a:pPr marL="285750" indent="-285750">
              <a:buFont typeface="Arial" panose="020B0604020202020204" pitchFamily="34" charset="0"/>
              <a:buChar char="•"/>
            </a:pPr>
            <a:r>
              <a:rPr lang="en-US" dirty="0"/>
              <a:t>Geo-Tagging of Humans</a:t>
            </a:r>
          </a:p>
          <a:p>
            <a:pPr marL="285750" indent="-285750">
              <a:buFont typeface="Arial" panose="020B0604020202020204" pitchFamily="34" charset="0"/>
              <a:buChar char="•"/>
            </a:pPr>
            <a:r>
              <a:rPr lang="en-US" dirty="0"/>
              <a:t>Target Detection Methodology</a:t>
            </a:r>
          </a:p>
          <a:p>
            <a:pPr marL="285750" indent="-285750">
              <a:buFont typeface="Arial" panose="020B0604020202020204" pitchFamily="34" charset="0"/>
              <a:buChar char="•"/>
            </a:pPr>
            <a:r>
              <a:rPr lang="en-US" dirty="0"/>
              <a:t>Off-Loading</a:t>
            </a:r>
          </a:p>
          <a:p>
            <a:endParaRPr lang="en-US" dirty="0"/>
          </a:p>
        </p:txBody>
      </p:sp>
      <p:sp>
        <p:nvSpPr>
          <p:cNvPr id="12" name="TextBox 11">
            <a:extLst>
              <a:ext uri="{FF2B5EF4-FFF2-40B4-BE49-F238E27FC236}">
                <a16:creationId xmlns:a16="http://schemas.microsoft.com/office/drawing/2014/main" id="{0207D3B1-6513-7D4F-92C9-3FD8ACDEDE6D}"/>
              </a:ext>
            </a:extLst>
          </p:cNvPr>
          <p:cNvSpPr txBox="1"/>
          <p:nvPr/>
        </p:nvSpPr>
        <p:spPr>
          <a:xfrm>
            <a:off x="4042507" y="4646643"/>
            <a:ext cx="7686835" cy="2031325"/>
          </a:xfrm>
          <a:prstGeom prst="rect">
            <a:avLst/>
          </a:prstGeom>
          <a:noFill/>
        </p:spPr>
        <p:txBody>
          <a:bodyPr wrap="square">
            <a:spAutoFit/>
          </a:bodyPr>
          <a:lstStyle/>
          <a:p>
            <a:pPr algn="just"/>
            <a:r>
              <a:rPr lang="en-US" dirty="0"/>
              <a:t>Key innovations include upward-extending rotor arms for enhanced propeller sweep and aerodynamic efficiency, and carbon fiber–ABS integration ensuring structural strength with lightweight, modular design. A robust multi-sensor suite (RGB, gas, temperature, humidity, ultrasonic) enables accurate environmental detection. YOLOv8 allows real-time survivor geo-tagging, while time-synchronized logs support edge off-loading, reducing thermal stress and enabling future drone swarming applications.</a:t>
            </a:r>
          </a:p>
        </p:txBody>
      </p:sp>
      <p:grpSp>
        <p:nvGrpSpPr>
          <p:cNvPr id="13" name="Group 14">
            <a:extLst>
              <a:ext uri="{FF2B5EF4-FFF2-40B4-BE49-F238E27FC236}">
                <a16:creationId xmlns:a16="http://schemas.microsoft.com/office/drawing/2014/main" id="{C071123D-E3C5-DD1C-B1DC-D7DC7EF669F2}"/>
              </a:ext>
            </a:extLst>
          </p:cNvPr>
          <p:cNvGrpSpPr/>
          <p:nvPr/>
        </p:nvGrpSpPr>
        <p:grpSpPr>
          <a:xfrm>
            <a:off x="9658537" y="11884"/>
            <a:ext cx="2050862" cy="429876"/>
            <a:chOff x="0" y="0"/>
            <a:chExt cx="7838183" cy="1629051"/>
          </a:xfrm>
        </p:grpSpPr>
        <p:sp>
          <p:nvSpPr>
            <p:cNvPr id="14" name="Freeform 15">
              <a:extLst>
                <a:ext uri="{FF2B5EF4-FFF2-40B4-BE49-F238E27FC236}">
                  <a16:creationId xmlns:a16="http://schemas.microsoft.com/office/drawing/2014/main" id="{68C71F30-582C-60C0-29AB-739167588E7A}"/>
                </a:ext>
              </a:extLst>
            </p:cNvPr>
            <p:cNvSpPr/>
            <p:nvPr/>
          </p:nvSpPr>
          <p:spPr>
            <a:xfrm>
              <a:off x="2068432" y="472763"/>
              <a:ext cx="4016856" cy="1096665"/>
            </a:xfrm>
            <a:custGeom>
              <a:avLst/>
              <a:gdLst/>
              <a:ahLst/>
              <a:cxnLst/>
              <a:rect l="l" t="t" r="r" b="b"/>
              <a:pathLst>
                <a:path w="4016856" h="1096665">
                  <a:moveTo>
                    <a:pt x="0" y="0"/>
                  </a:moveTo>
                  <a:lnTo>
                    <a:pt x="4016856" y="0"/>
                  </a:lnTo>
                  <a:lnTo>
                    <a:pt x="4016856" y="1096666"/>
                  </a:lnTo>
                  <a:lnTo>
                    <a:pt x="0" y="1096666"/>
                  </a:lnTo>
                  <a:lnTo>
                    <a:pt x="0" y="0"/>
                  </a:lnTo>
                  <a:close/>
                </a:path>
              </a:pathLst>
            </a:custGeom>
            <a:blipFill>
              <a:blip r:embed="rId3"/>
              <a:stretch>
                <a:fillRect/>
              </a:stretch>
            </a:blipFill>
          </p:spPr>
        </p:sp>
        <p:sp>
          <p:nvSpPr>
            <p:cNvPr id="15" name="Freeform 16">
              <a:extLst>
                <a:ext uri="{FF2B5EF4-FFF2-40B4-BE49-F238E27FC236}">
                  <a16:creationId xmlns:a16="http://schemas.microsoft.com/office/drawing/2014/main" id="{F8397875-32D7-A385-D274-7BBC5542C868}"/>
                </a:ext>
              </a:extLst>
            </p:cNvPr>
            <p:cNvSpPr/>
            <p:nvPr/>
          </p:nvSpPr>
          <p:spPr>
            <a:xfrm>
              <a:off x="0" y="0"/>
              <a:ext cx="1629051" cy="1629051"/>
            </a:xfrm>
            <a:custGeom>
              <a:avLst/>
              <a:gdLst/>
              <a:ahLst/>
              <a:cxnLst/>
              <a:rect l="l" t="t" r="r" b="b"/>
              <a:pathLst>
                <a:path w="1629051" h="1629051">
                  <a:moveTo>
                    <a:pt x="0" y="0"/>
                  </a:moveTo>
                  <a:lnTo>
                    <a:pt x="1629051" y="0"/>
                  </a:lnTo>
                  <a:lnTo>
                    <a:pt x="1629051" y="1629051"/>
                  </a:lnTo>
                  <a:lnTo>
                    <a:pt x="0" y="1629051"/>
                  </a:lnTo>
                  <a:lnTo>
                    <a:pt x="0" y="0"/>
                  </a:lnTo>
                  <a:close/>
                </a:path>
              </a:pathLst>
            </a:custGeom>
            <a:blipFill>
              <a:blip r:embed="rId4"/>
              <a:stretch>
                <a:fillRect/>
              </a:stretch>
            </a:blipFill>
          </p:spPr>
        </p:sp>
        <p:sp>
          <p:nvSpPr>
            <p:cNvPr id="16" name="Freeform 17">
              <a:extLst>
                <a:ext uri="{FF2B5EF4-FFF2-40B4-BE49-F238E27FC236}">
                  <a16:creationId xmlns:a16="http://schemas.microsoft.com/office/drawing/2014/main" id="{9EF87822-4191-C04B-0AC9-BCABE6536578}"/>
                </a:ext>
              </a:extLst>
            </p:cNvPr>
            <p:cNvSpPr/>
            <p:nvPr/>
          </p:nvSpPr>
          <p:spPr>
            <a:xfrm>
              <a:off x="6399188" y="0"/>
              <a:ext cx="1438995" cy="1629051"/>
            </a:xfrm>
            <a:custGeom>
              <a:avLst/>
              <a:gdLst/>
              <a:ahLst/>
              <a:cxnLst/>
              <a:rect l="l" t="t" r="r" b="b"/>
              <a:pathLst>
                <a:path w="1438995" h="1629051">
                  <a:moveTo>
                    <a:pt x="0" y="0"/>
                  </a:moveTo>
                  <a:lnTo>
                    <a:pt x="1438995" y="0"/>
                  </a:lnTo>
                  <a:lnTo>
                    <a:pt x="1438995" y="1629051"/>
                  </a:lnTo>
                  <a:lnTo>
                    <a:pt x="0" y="1629051"/>
                  </a:lnTo>
                  <a:lnTo>
                    <a:pt x="0" y="0"/>
                  </a:lnTo>
                  <a:close/>
                </a:path>
              </a:pathLst>
            </a:custGeom>
            <a:blipFill>
              <a:blip r:embed="rId5"/>
              <a:stretch>
                <a:fillRect/>
              </a:stretch>
            </a:blipFill>
          </p:spPr>
        </p:sp>
      </p:grpSp>
    </p:spTree>
    <p:extLst>
      <p:ext uri="{BB962C8B-B14F-4D97-AF65-F5344CB8AC3E}">
        <p14:creationId xmlns:p14="http://schemas.microsoft.com/office/powerpoint/2010/main" val="2845862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58D24EC3-F469-BF44-B4F6-33246EB3FBFE}"/>
              </a:ext>
            </a:extLst>
          </p:cNvPr>
          <p:cNvGrpSpPr/>
          <p:nvPr/>
        </p:nvGrpSpPr>
        <p:grpSpPr>
          <a:xfrm>
            <a:off x="0" y="2731364"/>
            <a:ext cx="12192000" cy="3255227"/>
            <a:chOff x="-425645" y="3600450"/>
            <a:chExt cx="19427436" cy="4733926"/>
          </a:xfrm>
        </p:grpSpPr>
        <p:grpSp>
          <p:nvGrpSpPr>
            <p:cNvPr id="13" name="Group 4">
              <a:extLst>
                <a:ext uri="{FF2B5EF4-FFF2-40B4-BE49-F238E27FC236}">
                  <a16:creationId xmlns:a16="http://schemas.microsoft.com/office/drawing/2014/main" id="{EE0D3543-D502-B600-08EF-A04B02D5A2B9}"/>
                </a:ext>
              </a:extLst>
            </p:cNvPr>
            <p:cNvGrpSpPr/>
            <p:nvPr/>
          </p:nvGrpSpPr>
          <p:grpSpPr>
            <a:xfrm>
              <a:off x="7985938" y="3600450"/>
              <a:ext cx="11015853" cy="3086100"/>
              <a:chOff x="0" y="0"/>
              <a:chExt cx="2901295" cy="812800"/>
            </a:xfrm>
          </p:grpSpPr>
          <p:sp>
            <p:nvSpPr>
              <p:cNvPr id="14" name="Freeform 5">
                <a:extLst>
                  <a:ext uri="{FF2B5EF4-FFF2-40B4-BE49-F238E27FC236}">
                    <a16:creationId xmlns:a16="http://schemas.microsoft.com/office/drawing/2014/main" id="{A4E51417-8101-4A47-F034-B83E7F8BCF91}"/>
                  </a:ext>
                </a:extLst>
              </p:cNvPr>
              <p:cNvSpPr/>
              <p:nvPr/>
            </p:nvSpPr>
            <p:spPr>
              <a:xfrm>
                <a:off x="0" y="0"/>
                <a:ext cx="2901295" cy="812800"/>
              </a:xfrm>
              <a:custGeom>
                <a:avLst/>
                <a:gdLst/>
                <a:ahLst/>
                <a:cxnLst/>
                <a:rect l="l" t="t" r="r" b="b"/>
                <a:pathLst>
                  <a:path w="2901295" h="812800">
                    <a:moveTo>
                      <a:pt x="0" y="0"/>
                    </a:moveTo>
                    <a:lnTo>
                      <a:pt x="2901295" y="0"/>
                    </a:lnTo>
                    <a:lnTo>
                      <a:pt x="2901295" y="812800"/>
                    </a:lnTo>
                    <a:lnTo>
                      <a:pt x="0" y="812800"/>
                    </a:lnTo>
                    <a:close/>
                  </a:path>
                </a:pathLst>
              </a:custGeom>
              <a:solidFill>
                <a:srgbClr val="2B485F"/>
              </a:solidFill>
            </p:spPr>
          </p:sp>
          <p:sp>
            <p:nvSpPr>
              <p:cNvPr id="15" name="TextBox 6">
                <a:extLst>
                  <a:ext uri="{FF2B5EF4-FFF2-40B4-BE49-F238E27FC236}">
                    <a16:creationId xmlns:a16="http://schemas.microsoft.com/office/drawing/2014/main" id="{517EAB4B-97C7-ED0B-44B7-63595998E09A}"/>
                  </a:ext>
                </a:extLst>
              </p:cNvPr>
              <p:cNvSpPr txBox="1"/>
              <p:nvPr/>
            </p:nvSpPr>
            <p:spPr>
              <a:xfrm>
                <a:off x="0" y="-38100"/>
                <a:ext cx="2901295"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7">
              <a:extLst>
                <a:ext uri="{FF2B5EF4-FFF2-40B4-BE49-F238E27FC236}">
                  <a16:creationId xmlns:a16="http://schemas.microsoft.com/office/drawing/2014/main" id="{51578F55-7273-B9A1-0F23-FC0EACF7FD73}"/>
                </a:ext>
              </a:extLst>
            </p:cNvPr>
            <p:cNvGrpSpPr/>
            <p:nvPr/>
          </p:nvGrpSpPr>
          <p:grpSpPr>
            <a:xfrm>
              <a:off x="-425645" y="3600450"/>
              <a:ext cx="3257995" cy="3045824"/>
              <a:chOff x="0" y="0"/>
              <a:chExt cx="812800" cy="759868"/>
            </a:xfrm>
          </p:grpSpPr>
          <p:sp>
            <p:nvSpPr>
              <p:cNvPr id="17" name="Freeform 8">
                <a:extLst>
                  <a:ext uri="{FF2B5EF4-FFF2-40B4-BE49-F238E27FC236}">
                    <a16:creationId xmlns:a16="http://schemas.microsoft.com/office/drawing/2014/main" id="{B53DCF48-0269-10ED-9970-3C92BB7710F7}"/>
                  </a:ext>
                </a:extLst>
              </p:cNvPr>
              <p:cNvSpPr/>
              <p:nvPr/>
            </p:nvSpPr>
            <p:spPr>
              <a:xfrm>
                <a:off x="0" y="0"/>
                <a:ext cx="812800" cy="759868"/>
              </a:xfrm>
              <a:custGeom>
                <a:avLst/>
                <a:gdLst/>
                <a:ahLst/>
                <a:cxnLst/>
                <a:rect l="l" t="t" r="r" b="b"/>
                <a:pathLst>
                  <a:path w="812800" h="759868">
                    <a:moveTo>
                      <a:pt x="609600" y="0"/>
                    </a:moveTo>
                    <a:lnTo>
                      <a:pt x="0" y="0"/>
                    </a:lnTo>
                    <a:lnTo>
                      <a:pt x="0" y="759868"/>
                    </a:lnTo>
                    <a:lnTo>
                      <a:pt x="609600" y="759868"/>
                    </a:lnTo>
                    <a:lnTo>
                      <a:pt x="812800" y="379934"/>
                    </a:lnTo>
                    <a:lnTo>
                      <a:pt x="609600" y="0"/>
                    </a:lnTo>
                    <a:close/>
                  </a:path>
                </a:pathLst>
              </a:custGeom>
              <a:solidFill>
                <a:srgbClr val="2B485F"/>
              </a:solidFill>
            </p:spPr>
          </p:sp>
          <p:sp>
            <p:nvSpPr>
              <p:cNvPr id="18" name="TextBox 9">
                <a:extLst>
                  <a:ext uri="{FF2B5EF4-FFF2-40B4-BE49-F238E27FC236}">
                    <a16:creationId xmlns:a16="http://schemas.microsoft.com/office/drawing/2014/main" id="{E0C3106E-46A5-B0A4-E696-9EE192717C01}"/>
                  </a:ext>
                </a:extLst>
              </p:cNvPr>
              <p:cNvSpPr txBox="1"/>
              <p:nvPr/>
            </p:nvSpPr>
            <p:spPr>
              <a:xfrm>
                <a:off x="0" y="-38100"/>
                <a:ext cx="698500" cy="797968"/>
              </a:xfrm>
              <a:prstGeom prst="rect">
                <a:avLst/>
              </a:prstGeom>
            </p:spPr>
            <p:txBody>
              <a:bodyPr lIns="50800" tIns="50800" rIns="50800" bIns="50800" rtlCol="0" anchor="ctr"/>
              <a:lstStyle/>
              <a:p>
                <a:pPr algn="ctr">
                  <a:lnSpc>
                    <a:spcPts val="2659"/>
                  </a:lnSpc>
                </a:pPr>
                <a:endParaRPr/>
              </a:p>
            </p:txBody>
          </p:sp>
        </p:grpSp>
        <p:grpSp>
          <p:nvGrpSpPr>
            <p:cNvPr id="19" name="Group 10">
              <a:extLst>
                <a:ext uri="{FF2B5EF4-FFF2-40B4-BE49-F238E27FC236}">
                  <a16:creationId xmlns:a16="http://schemas.microsoft.com/office/drawing/2014/main" id="{9471BD2B-70F7-00F2-8504-83FE168559F1}"/>
                </a:ext>
              </a:extLst>
            </p:cNvPr>
            <p:cNvGrpSpPr/>
            <p:nvPr/>
          </p:nvGrpSpPr>
          <p:grpSpPr>
            <a:xfrm rot="-10800000">
              <a:off x="7089597" y="3600450"/>
              <a:ext cx="1183468" cy="3086100"/>
              <a:chOff x="0" y="0"/>
              <a:chExt cx="291397" cy="759868"/>
            </a:xfrm>
          </p:grpSpPr>
          <p:sp>
            <p:nvSpPr>
              <p:cNvPr id="20" name="Freeform 11">
                <a:extLst>
                  <a:ext uri="{FF2B5EF4-FFF2-40B4-BE49-F238E27FC236}">
                    <a16:creationId xmlns:a16="http://schemas.microsoft.com/office/drawing/2014/main" id="{7CD5B1DF-AF6E-8D9C-0085-A1D605B36D8F}"/>
                  </a:ext>
                </a:extLst>
              </p:cNvPr>
              <p:cNvSpPr/>
              <p:nvPr/>
            </p:nvSpPr>
            <p:spPr>
              <a:xfrm>
                <a:off x="0" y="0"/>
                <a:ext cx="291397" cy="759868"/>
              </a:xfrm>
              <a:custGeom>
                <a:avLst/>
                <a:gdLst/>
                <a:ahLst/>
                <a:cxnLst/>
                <a:rect l="l" t="t" r="r" b="b"/>
                <a:pathLst>
                  <a:path w="291397" h="759868">
                    <a:moveTo>
                      <a:pt x="88197" y="0"/>
                    </a:moveTo>
                    <a:lnTo>
                      <a:pt x="0" y="0"/>
                    </a:lnTo>
                    <a:lnTo>
                      <a:pt x="0" y="759868"/>
                    </a:lnTo>
                    <a:lnTo>
                      <a:pt x="88197" y="759868"/>
                    </a:lnTo>
                    <a:lnTo>
                      <a:pt x="291397" y="379934"/>
                    </a:lnTo>
                    <a:lnTo>
                      <a:pt x="88197" y="0"/>
                    </a:lnTo>
                    <a:close/>
                  </a:path>
                </a:pathLst>
              </a:custGeom>
              <a:solidFill>
                <a:srgbClr val="2B485F"/>
              </a:solidFill>
            </p:spPr>
          </p:sp>
          <p:sp>
            <p:nvSpPr>
              <p:cNvPr id="21" name="TextBox 12">
                <a:extLst>
                  <a:ext uri="{FF2B5EF4-FFF2-40B4-BE49-F238E27FC236}">
                    <a16:creationId xmlns:a16="http://schemas.microsoft.com/office/drawing/2014/main" id="{DF3A37E8-7A88-9861-7233-62DF2BD10707}"/>
                  </a:ext>
                </a:extLst>
              </p:cNvPr>
              <p:cNvSpPr txBox="1"/>
              <p:nvPr/>
            </p:nvSpPr>
            <p:spPr>
              <a:xfrm>
                <a:off x="0" y="-38100"/>
                <a:ext cx="177097" cy="797968"/>
              </a:xfrm>
              <a:prstGeom prst="rect">
                <a:avLst/>
              </a:prstGeom>
            </p:spPr>
            <p:txBody>
              <a:bodyPr lIns="50800" tIns="50800" rIns="50800" bIns="50800" rtlCol="0" anchor="ctr"/>
              <a:lstStyle/>
              <a:p>
                <a:pPr algn="ctr">
                  <a:lnSpc>
                    <a:spcPts val="2659"/>
                  </a:lnSpc>
                </a:pPr>
                <a:endParaRPr/>
              </a:p>
            </p:txBody>
          </p:sp>
        </p:grpSp>
        <p:sp>
          <p:nvSpPr>
            <p:cNvPr id="23" name="TextBox 14">
              <a:extLst>
                <a:ext uri="{FF2B5EF4-FFF2-40B4-BE49-F238E27FC236}">
                  <a16:creationId xmlns:a16="http://schemas.microsoft.com/office/drawing/2014/main" id="{5EF81559-823F-00CA-383F-D486300594A5}"/>
                </a:ext>
              </a:extLst>
            </p:cNvPr>
            <p:cNvSpPr txBox="1"/>
            <p:nvPr/>
          </p:nvSpPr>
          <p:spPr>
            <a:xfrm>
              <a:off x="7681331" y="4080188"/>
              <a:ext cx="8454806" cy="1450983"/>
            </a:xfrm>
            <a:prstGeom prst="rect">
              <a:avLst/>
            </a:prstGeom>
          </p:spPr>
          <p:txBody>
            <a:bodyPr lIns="0" tIns="0" rIns="0" bIns="0" rtlCol="0" anchor="t">
              <a:spAutoFit/>
            </a:bodyPr>
            <a:lstStyle/>
            <a:p>
              <a:pPr algn="r">
                <a:lnSpc>
                  <a:spcPts val="11899"/>
                </a:lnSpc>
                <a:spcBef>
                  <a:spcPct val="0"/>
                </a:spcBef>
              </a:pPr>
              <a:r>
                <a:rPr lang="en-US" sz="8499">
                  <a:solidFill>
                    <a:srgbClr val="FFFFFF"/>
                  </a:solidFill>
                  <a:latin typeface="League Spartan"/>
                  <a:ea typeface="League Spartan"/>
                  <a:cs typeface="League Spartan"/>
                  <a:sym typeface="League Spartan"/>
                </a:rPr>
                <a:t>Thank You</a:t>
              </a:r>
            </a:p>
          </p:txBody>
        </p:sp>
        <p:sp>
          <p:nvSpPr>
            <p:cNvPr id="26" name="Freeform 17">
              <a:extLst>
                <a:ext uri="{FF2B5EF4-FFF2-40B4-BE49-F238E27FC236}">
                  <a16:creationId xmlns:a16="http://schemas.microsoft.com/office/drawing/2014/main" id="{0C8EF1D4-6296-032B-A6AC-4890337BE072}"/>
                </a:ext>
              </a:extLst>
            </p:cNvPr>
            <p:cNvSpPr/>
            <p:nvPr/>
          </p:nvSpPr>
          <p:spPr>
            <a:xfrm rot="5400000">
              <a:off x="198762" y="7504437"/>
              <a:ext cx="455966" cy="1203911"/>
            </a:xfrm>
            <a:custGeom>
              <a:avLst/>
              <a:gdLst/>
              <a:ahLst/>
              <a:cxnLst/>
              <a:rect l="l" t="t" r="r" b="b"/>
              <a:pathLst>
                <a:path w="455966" h="1203911">
                  <a:moveTo>
                    <a:pt x="0" y="0"/>
                  </a:moveTo>
                  <a:lnTo>
                    <a:pt x="455966" y="0"/>
                  </a:lnTo>
                  <a:lnTo>
                    <a:pt x="455966" y="1203910"/>
                  </a:lnTo>
                  <a:lnTo>
                    <a:pt x="0" y="12039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sp>
        <p:nvSpPr>
          <p:cNvPr id="28" name="Freeform 17">
            <a:extLst>
              <a:ext uri="{FF2B5EF4-FFF2-40B4-BE49-F238E27FC236}">
                <a16:creationId xmlns:a16="http://schemas.microsoft.com/office/drawing/2014/main" id="{22E896DF-E0E5-602B-2013-616FC400AA49}"/>
              </a:ext>
            </a:extLst>
          </p:cNvPr>
          <p:cNvSpPr/>
          <p:nvPr/>
        </p:nvSpPr>
        <p:spPr>
          <a:xfrm>
            <a:off x="1455173" y="1925401"/>
            <a:ext cx="3778151" cy="4267200"/>
          </a:xfrm>
          <a:custGeom>
            <a:avLst/>
            <a:gdLst/>
            <a:ahLst/>
            <a:cxnLst/>
            <a:rect l="l" t="t" r="r" b="b"/>
            <a:pathLst>
              <a:path w="1438995" h="1629051">
                <a:moveTo>
                  <a:pt x="0" y="0"/>
                </a:moveTo>
                <a:lnTo>
                  <a:pt x="1438995" y="0"/>
                </a:lnTo>
                <a:lnTo>
                  <a:pt x="1438995" y="1629051"/>
                </a:lnTo>
                <a:lnTo>
                  <a:pt x="0" y="1629051"/>
                </a:lnTo>
                <a:lnTo>
                  <a:pt x="0" y="0"/>
                </a:lnTo>
                <a:close/>
              </a:path>
            </a:pathLst>
          </a:custGeom>
          <a:blipFill>
            <a:blip r:embed="rId4"/>
            <a:stretch>
              <a:fillRect/>
            </a:stretch>
          </a:blipFill>
        </p:spPr>
      </p:sp>
      <p:grpSp>
        <p:nvGrpSpPr>
          <p:cNvPr id="29" name="Group 14">
            <a:extLst>
              <a:ext uri="{FF2B5EF4-FFF2-40B4-BE49-F238E27FC236}">
                <a16:creationId xmlns:a16="http://schemas.microsoft.com/office/drawing/2014/main" id="{7AC59009-D90C-25AB-76EC-B1D0C5646B4F}"/>
              </a:ext>
            </a:extLst>
          </p:cNvPr>
          <p:cNvGrpSpPr/>
          <p:nvPr/>
        </p:nvGrpSpPr>
        <p:grpSpPr>
          <a:xfrm>
            <a:off x="9658537" y="11884"/>
            <a:ext cx="2050862" cy="429876"/>
            <a:chOff x="0" y="0"/>
            <a:chExt cx="7838183" cy="1629051"/>
          </a:xfrm>
        </p:grpSpPr>
        <p:sp>
          <p:nvSpPr>
            <p:cNvPr id="30" name="Freeform 15">
              <a:extLst>
                <a:ext uri="{FF2B5EF4-FFF2-40B4-BE49-F238E27FC236}">
                  <a16:creationId xmlns:a16="http://schemas.microsoft.com/office/drawing/2014/main" id="{0A70A1A7-FB12-871E-B423-4C4619818D6C}"/>
                </a:ext>
              </a:extLst>
            </p:cNvPr>
            <p:cNvSpPr/>
            <p:nvPr/>
          </p:nvSpPr>
          <p:spPr>
            <a:xfrm>
              <a:off x="2068432" y="472763"/>
              <a:ext cx="4016856" cy="1096665"/>
            </a:xfrm>
            <a:custGeom>
              <a:avLst/>
              <a:gdLst/>
              <a:ahLst/>
              <a:cxnLst/>
              <a:rect l="l" t="t" r="r" b="b"/>
              <a:pathLst>
                <a:path w="4016856" h="1096665">
                  <a:moveTo>
                    <a:pt x="0" y="0"/>
                  </a:moveTo>
                  <a:lnTo>
                    <a:pt x="4016856" y="0"/>
                  </a:lnTo>
                  <a:lnTo>
                    <a:pt x="4016856" y="1096666"/>
                  </a:lnTo>
                  <a:lnTo>
                    <a:pt x="0" y="1096666"/>
                  </a:lnTo>
                  <a:lnTo>
                    <a:pt x="0" y="0"/>
                  </a:lnTo>
                  <a:close/>
                </a:path>
              </a:pathLst>
            </a:custGeom>
            <a:blipFill>
              <a:blip r:embed="rId5"/>
              <a:stretch>
                <a:fillRect/>
              </a:stretch>
            </a:blipFill>
          </p:spPr>
        </p:sp>
        <p:sp>
          <p:nvSpPr>
            <p:cNvPr id="31" name="Freeform 16">
              <a:extLst>
                <a:ext uri="{FF2B5EF4-FFF2-40B4-BE49-F238E27FC236}">
                  <a16:creationId xmlns:a16="http://schemas.microsoft.com/office/drawing/2014/main" id="{F3B01684-474E-D02E-433C-722BE1EF4D9E}"/>
                </a:ext>
              </a:extLst>
            </p:cNvPr>
            <p:cNvSpPr/>
            <p:nvPr/>
          </p:nvSpPr>
          <p:spPr>
            <a:xfrm>
              <a:off x="0" y="0"/>
              <a:ext cx="1629051" cy="1629051"/>
            </a:xfrm>
            <a:custGeom>
              <a:avLst/>
              <a:gdLst/>
              <a:ahLst/>
              <a:cxnLst/>
              <a:rect l="l" t="t" r="r" b="b"/>
              <a:pathLst>
                <a:path w="1629051" h="1629051">
                  <a:moveTo>
                    <a:pt x="0" y="0"/>
                  </a:moveTo>
                  <a:lnTo>
                    <a:pt x="1629051" y="0"/>
                  </a:lnTo>
                  <a:lnTo>
                    <a:pt x="1629051" y="1629051"/>
                  </a:lnTo>
                  <a:lnTo>
                    <a:pt x="0" y="1629051"/>
                  </a:lnTo>
                  <a:lnTo>
                    <a:pt x="0" y="0"/>
                  </a:lnTo>
                  <a:close/>
                </a:path>
              </a:pathLst>
            </a:custGeom>
            <a:blipFill>
              <a:blip r:embed="rId6"/>
              <a:stretch>
                <a:fillRect/>
              </a:stretch>
            </a:blipFill>
          </p:spPr>
        </p:sp>
        <p:sp>
          <p:nvSpPr>
            <p:cNvPr id="32" name="Freeform 17">
              <a:extLst>
                <a:ext uri="{FF2B5EF4-FFF2-40B4-BE49-F238E27FC236}">
                  <a16:creationId xmlns:a16="http://schemas.microsoft.com/office/drawing/2014/main" id="{D839FA41-8ED2-A367-D7C7-B48A443550F1}"/>
                </a:ext>
              </a:extLst>
            </p:cNvPr>
            <p:cNvSpPr/>
            <p:nvPr/>
          </p:nvSpPr>
          <p:spPr>
            <a:xfrm>
              <a:off x="6399188" y="0"/>
              <a:ext cx="1438995" cy="1629051"/>
            </a:xfrm>
            <a:custGeom>
              <a:avLst/>
              <a:gdLst/>
              <a:ahLst/>
              <a:cxnLst/>
              <a:rect l="l" t="t" r="r" b="b"/>
              <a:pathLst>
                <a:path w="1438995" h="1629051">
                  <a:moveTo>
                    <a:pt x="0" y="0"/>
                  </a:moveTo>
                  <a:lnTo>
                    <a:pt x="1438995" y="0"/>
                  </a:lnTo>
                  <a:lnTo>
                    <a:pt x="1438995" y="1629051"/>
                  </a:lnTo>
                  <a:lnTo>
                    <a:pt x="0" y="1629051"/>
                  </a:lnTo>
                  <a:lnTo>
                    <a:pt x="0" y="0"/>
                  </a:lnTo>
                  <a:close/>
                </a:path>
              </a:pathLst>
            </a:custGeom>
            <a:blipFill>
              <a:blip r:embed="rId4"/>
              <a:stretch>
                <a:fillRect/>
              </a:stretch>
            </a:blipFill>
          </p:spPr>
        </p:sp>
      </p:grpSp>
    </p:spTree>
    <p:extLst>
      <p:ext uri="{BB962C8B-B14F-4D97-AF65-F5344CB8AC3E}">
        <p14:creationId xmlns:p14="http://schemas.microsoft.com/office/powerpoint/2010/main" val="864952768"/>
      </p:ext>
    </p:extLst>
  </p:cSld>
  <p:clrMapOvr>
    <a:masterClrMapping/>
  </p:clrMapOvr>
</p:sld>
</file>

<file path=ppt/theme/theme1.xml><?xml version="1.0" encoding="utf-8"?>
<a:theme xmlns:a="http://schemas.openxmlformats.org/drawingml/2006/main" name="Custom">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blue" id="{B7766132-0BEF-488D-A912-030F67546E61}" vid="{BA5C9740-20D6-4D43-B119-6735B27C8B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92209EB-3212-4116-B574-D1F56C7C49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791575F-4C21-47C4-8D13-EB9BE66B536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342D3C2F-55A5-48C0-9D5A-95C7FF0389D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4127</TotalTime>
  <Words>2521</Words>
  <Application>Microsoft Office PowerPoint</Application>
  <PresentationFormat>Widescreen</PresentationFormat>
  <Paragraphs>278</Paragraphs>
  <Slides>21</Slides>
  <Notes>1</Notes>
  <HiddenSlides>0</HiddenSlides>
  <MMClips>1</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Arial</vt:lpstr>
      <vt:lpstr>Calibri</vt:lpstr>
      <vt:lpstr>Canva Sans</vt:lpstr>
      <vt:lpstr>Canva Sans Bold</vt:lpstr>
      <vt:lpstr>Gill Sans MT</vt:lpstr>
      <vt:lpstr>Inter</vt:lpstr>
      <vt:lpstr>Inter Bold</vt:lpstr>
      <vt:lpstr>League Spartan</vt:lpstr>
      <vt:lpstr>Wingdings 2</vt:lpstr>
      <vt:lpstr>Custom</vt:lpstr>
      <vt:lpstr>Design presentation: Autonomous Disaster-Response Multirotor UAS</vt:lpstr>
      <vt:lpstr>Motivation &amp; objectives</vt:lpstr>
      <vt:lpstr>UAS DESIGN WORKFLOW</vt:lpstr>
      <vt:lpstr>Mechanical system</vt:lpstr>
      <vt:lpstr>Conceptual design</vt:lpstr>
      <vt:lpstr>Mechanical design</vt:lpstr>
      <vt:lpstr>Mechanical design</vt:lpstr>
      <vt:lpstr>Computational Analysis</vt:lpstr>
      <vt:lpstr>Computational Analysis</vt:lpstr>
      <vt:lpstr>Computational Analysis</vt:lpstr>
      <vt:lpstr>Center of gravity &amp; stability</vt:lpstr>
      <vt:lpstr>Center of gravity &amp; stability</vt:lpstr>
      <vt:lpstr>Electronics &amp; Communication Systems</vt:lpstr>
      <vt:lpstr>PowerPoint Presentation</vt:lpstr>
      <vt:lpstr>PowerPoint Presentation</vt:lpstr>
      <vt:lpstr>PowerPoint Presentation</vt:lpstr>
      <vt:lpstr>Autonomous Systems</vt:lpstr>
      <vt:lpstr>Autonomous mission methodology</vt:lpstr>
      <vt:lpstr>Bill of materials</vt:lpstr>
      <vt:lpstr>Final uas specifications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123me0441 (SREIJAN SINHA)</dc:creator>
  <cp:lastModifiedBy>123me0441 (SREIJAN SINHA)</cp:lastModifiedBy>
  <cp:revision>80</cp:revision>
  <dcterms:created xsi:type="dcterms:W3CDTF">2025-02-27T13:29:12Z</dcterms:created>
  <dcterms:modified xsi:type="dcterms:W3CDTF">2025-06-08T15:21:17Z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